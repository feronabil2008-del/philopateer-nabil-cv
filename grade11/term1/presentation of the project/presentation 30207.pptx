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29LT Riwaya Informal" panose="020B0604020202020204" charset="-78"/>
      <p:regular r:id="rId16"/>
    </p:embeddedFont>
    <p:embeddedFont>
      <p:font typeface="Amiri Bold" panose="020B0604020202020204" charset="-78"/>
      <p:regular r:id="rId17"/>
    </p:embeddedFont>
    <p:embeddedFont>
      <p:font typeface="Anton" pitchFamily="2" charset="0"/>
      <p:regular r:id="rId18"/>
    </p:embeddedFont>
    <p:embeddedFont>
      <p:font typeface="Anton Italics" panose="020B0604020202020204" charset="0"/>
      <p:regular r:id="rId19"/>
    </p:embeddedFont>
    <p:embeddedFont>
      <p:font typeface="Helios" panose="020B0604020202020204" charset="0"/>
      <p:regular r:id="rId20"/>
    </p:embeddedFont>
    <p:embeddedFont>
      <p:font typeface="Helios Bold" panose="020B0604020202020204" charset="0"/>
      <p:regular r:id="rId21"/>
    </p:embeddedFont>
    <p:embeddedFont>
      <p:font typeface="Helios Italics" panose="020B0604020202020204" charset="0"/>
      <p:regular r:id="rId22"/>
    </p:embeddedFont>
    <p:embeddedFont>
      <p:font typeface="Open Sans" panose="020B0606030504020204" pitchFamily="3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3" d="100"/>
          <a:sy n="33" d="100"/>
        </p:scale>
        <p:origin x="1536" y="3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oleObject" Target="../embeddings/oleObject2.bin"/><Relationship Id="rId5" Type="http://schemas.openxmlformats.org/officeDocument/2006/relationships/image" Target="../media/image17.png"/><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8.svg"/><Relationship Id="rId7" Type="http://schemas.openxmlformats.org/officeDocument/2006/relationships/image" Target="../media/image30.jpe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29.jpeg"/><Relationship Id="rId5" Type="http://schemas.openxmlformats.org/officeDocument/2006/relationships/image" Target="../media/image7.sv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516870" y="5866"/>
            <a:ext cx="4594247" cy="4594247"/>
          </a:xfrm>
          <a:custGeom>
            <a:avLst/>
            <a:gdLst/>
            <a:ahLst/>
            <a:cxnLst/>
            <a:rect l="l" t="t" r="r" b="b"/>
            <a:pathLst>
              <a:path w="4594247" h="4594247">
                <a:moveTo>
                  <a:pt x="0" y="0"/>
                </a:moveTo>
                <a:lnTo>
                  <a:pt x="4594247" y="0"/>
                </a:lnTo>
                <a:lnTo>
                  <a:pt x="4594247" y="4594247"/>
                </a:lnTo>
                <a:lnTo>
                  <a:pt x="0" y="459424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859672" y="2555683"/>
            <a:ext cx="18180310" cy="3509214"/>
          </a:xfrm>
          <a:prstGeom prst="rect">
            <a:avLst/>
          </a:prstGeom>
        </p:spPr>
        <p:txBody>
          <a:bodyPr lIns="0" tIns="0" rIns="0" bIns="0" rtlCol="0" anchor="t">
            <a:spAutoFit/>
          </a:bodyPr>
          <a:lstStyle/>
          <a:p>
            <a:pPr algn="l">
              <a:lnSpc>
                <a:spcPts val="28794"/>
              </a:lnSpc>
            </a:pPr>
            <a:r>
              <a:rPr lang="en-US" sz="20567" i="1">
                <a:solidFill>
                  <a:srgbClr val="00ADB5"/>
                </a:solidFill>
                <a:latin typeface="Anton Italics"/>
                <a:ea typeface="Anton Italics"/>
                <a:cs typeface="Anton Italics"/>
                <a:sym typeface="Anton Italics"/>
              </a:rPr>
              <a:t>TECHNO-METER</a:t>
            </a:r>
          </a:p>
        </p:txBody>
      </p:sp>
      <p:sp>
        <p:nvSpPr>
          <p:cNvPr id="4" name="TextBox 4"/>
          <p:cNvSpPr txBox="1"/>
          <p:nvPr/>
        </p:nvSpPr>
        <p:spPr>
          <a:xfrm>
            <a:off x="1213302" y="8706020"/>
            <a:ext cx="15162150" cy="1075984"/>
          </a:xfrm>
          <a:prstGeom prst="rect">
            <a:avLst/>
          </a:prstGeom>
        </p:spPr>
        <p:txBody>
          <a:bodyPr lIns="0" tIns="0" rIns="0" bIns="0" rtlCol="0" anchor="t">
            <a:spAutoFit/>
          </a:bodyPr>
          <a:lstStyle/>
          <a:p>
            <a:pPr algn="ctr">
              <a:lnSpc>
                <a:spcPts val="4854"/>
              </a:lnSpc>
            </a:pPr>
            <a:r>
              <a:rPr lang="en-US" sz="3763" b="1" spc="-206">
                <a:solidFill>
                  <a:srgbClr val="FFFFFF"/>
                </a:solidFill>
                <a:latin typeface="Amiri Bold"/>
                <a:ea typeface="Amiri Bold"/>
                <a:cs typeface="Amiri Bold"/>
                <a:sym typeface="Amiri Bold"/>
              </a:rPr>
              <a:t>G</a:t>
            </a:r>
            <a:r>
              <a:rPr lang="en-US" sz="3763" b="1" u="none" strike="noStrike" spc="-206">
                <a:solidFill>
                  <a:srgbClr val="FFFFFF"/>
                </a:solidFill>
                <a:latin typeface="Amiri Bold"/>
                <a:ea typeface="Amiri Bold"/>
                <a:cs typeface="Amiri Bold"/>
                <a:sym typeface="Amiri Bold"/>
              </a:rPr>
              <a:t>roup number : 30207      New Cairo STEM School</a:t>
            </a:r>
          </a:p>
          <a:p>
            <a:pPr algn="ctr">
              <a:lnSpc>
                <a:spcPts val="3822"/>
              </a:lnSpc>
            </a:pPr>
            <a:endParaRPr lang="en-US" sz="3763" b="1" u="none" strike="noStrike" spc="-206">
              <a:solidFill>
                <a:srgbClr val="FFFFFF"/>
              </a:solidFill>
              <a:latin typeface="Amiri Bold"/>
              <a:ea typeface="Amiri Bold"/>
              <a:cs typeface="Amiri Bold"/>
              <a:sym typeface="Amiri Bold"/>
            </a:endParaRPr>
          </a:p>
        </p:txBody>
      </p:sp>
      <p:sp>
        <p:nvSpPr>
          <p:cNvPr id="5" name="Freeform 5"/>
          <p:cNvSpPr/>
          <p:nvPr/>
        </p:nvSpPr>
        <p:spPr>
          <a:xfrm>
            <a:off x="-1083821" y="220435"/>
            <a:ext cx="4594247" cy="4594247"/>
          </a:xfrm>
          <a:custGeom>
            <a:avLst/>
            <a:gdLst/>
            <a:ahLst/>
            <a:cxnLst/>
            <a:rect l="l" t="t" r="r" b="b"/>
            <a:pathLst>
              <a:path w="4594247" h="4594247">
                <a:moveTo>
                  <a:pt x="0" y="0"/>
                </a:moveTo>
                <a:lnTo>
                  <a:pt x="4594247" y="0"/>
                </a:lnTo>
                <a:lnTo>
                  <a:pt x="4594247" y="4594247"/>
                </a:lnTo>
                <a:lnTo>
                  <a:pt x="0" y="459424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rot="-10800000">
            <a:off x="13424041" y="5692753"/>
            <a:ext cx="4594247" cy="4594247"/>
          </a:xfrm>
          <a:custGeom>
            <a:avLst/>
            <a:gdLst/>
            <a:ahLst/>
            <a:cxnLst/>
            <a:rect l="l" t="t" r="r" b="b"/>
            <a:pathLst>
              <a:path w="4594247" h="4594247">
                <a:moveTo>
                  <a:pt x="0" y="0"/>
                </a:moveTo>
                <a:lnTo>
                  <a:pt x="4594247" y="0"/>
                </a:lnTo>
                <a:lnTo>
                  <a:pt x="4594247" y="4594247"/>
                </a:lnTo>
                <a:lnTo>
                  <a:pt x="0" y="459424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rot="-10800000">
            <a:off x="15024732" y="5506759"/>
            <a:ext cx="4594247" cy="4594247"/>
          </a:xfrm>
          <a:custGeom>
            <a:avLst/>
            <a:gdLst/>
            <a:ahLst/>
            <a:cxnLst/>
            <a:rect l="l" t="t" r="r" b="b"/>
            <a:pathLst>
              <a:path w="4594247" h="4594247">
                <a:moveTo>
                  <a:pt x="0" y="0"/>
                </a:moveTo>
                <a:lnTo>
                  <a:pt x="4594247" y="0"/>
                </a:lnTo>
                <a:lnTo>
                  <a:pt x="4594247" y="4594247"/>
                </a:lnTo>
                <a:lnTo>
                  <a:pt x="0" y="459424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a:off x="15634362" y="3122833"/>
            <a:ext cx="2383926" cy="2383926"/>
          </a:xfrm>
          <a:custGeom>
            <a:avLst/>
            <a:gdLst/>
            <a:ahLst/>
            <a:cxnLst/>
            <a:rect l="l" t="t" r="r" b="b"/>
            <a:pathLst>
              <a:path w="2383926" h="2383926">
                <a:moveTo>
                  <a:pt x="0" y="0"/>
                </a:moveTo>
                <a:lnTo>
                  <a:pt x="2383926" y="0"/>
                </a:lnTo>
                <a:lnTo>
                  <a:pt x="2383926" y="2383926"/>
                </a:lnTo>
                <a:lnTo>
                  <a:pt x="0" y="2383926"/>
                </a:lnTo>
                <a:lnTo>
                  <a:pt x="0" y="0"/>
                </a:lnTo>
                <a:close/>
              </a:path>
            </a:pathLst>
          </a:custGeom>
          <a:blipFill>
            <a:blip r:embed="rId4"/>
            <a:stretch>
              <a:fillRect/>
            </a:stretch>
          </a:blipFill>
        </p:spPr>
        <p:txBody>
          <a:bodyPr/>
          <a:lstStyle/>
          <a:p>
            <a:endParaRPr lang="en-US"/>
          </a:p>
        </p:txBody>
      </p:sp>
      <p:sp>
        <p:nvSpPr>
          <p:cNvPr id="9" name="TextBox 9"/>
          <p:cNvSpPr txBox="1"/>
          <p:nvPr/>
        </p:nvSpPr>
        <p:spPr>
          <a:xfrm>
            <a:off x="4906907" y="6739924"/>
            <a:ext cx="8065766" cy="1488933"/>
          </a:xfrm>
          <a:prstGeom prst="rect">
            <a:avLst/>
          </a:prstGeom>
        </p:spPr>
        <p:txBody>
          <a:bodyPr lIns="0" tIns="0" rIns="0" bIns="0" rtlCol="0" anchor="t">
            <a:spAutoFit/>
          </a:bodyPr>
          <a:lstStyle/>
          <a:p>
            <a:pPr algn="ctr">
              <a:lnSpc>
                <a:spcPts val="4032"/>
              </a:lnSpc>
            </a:pPr>
            <a:r>
              <a:rPr lang="en-US" sz="2880" spc="368">
                <a:solidFill>
                  <a:srgbClr val="FFFFFF"/>
                </a:solidFill>
                <a:latin typeface="29LT Riwaya Informal"/>
                <a:ea typeface="29LT Riwaya Informal"/>
                <a:cs typeface="29LT Riwaya Informal"/>
                <a:sym typeface="29LT Riwaya Informal"/>
              </a:rPr>
              <a:t>TURNING WASTE INTO WISDOM FOR PHYSICS LABS</a:t>
            </a:r>
          </a:p>
          <a:p>
            <a:pPr algn="ctr">
              <a:lnSpc>
                <a:spcPts val="4032"/>
              </a:lnSpc>
            </a:pPr>
            <a:endParaRPr lang="en-US" sz="2880" spc="368">
              <a:solidFill>
                <a:srgbClr val="FFFFFF"/>
              </a:solidFill>
              <a:latin typeface="29LT Riwaya Informal"/>
              <a:ea typeface="29LT Riwaya Informal"/>
              <a:cs typeface="29LT Riwaya Informal"/>
              <a:sym typeface="29LT Riwaya Informal"/>
            </a:endParaRPr>
          </a:p>
        </p:txBody>
      </p:sp>
      <p:sp>
        <p:nvSpPr>
          <p:cNvPr id="10" name="TextBox 10"/>
          <p:cNvSpPr txBox="1"/>
          <p:nvPr/>
        </p:nvSpPr>
        <p:spPr>
          <a:xfrm>
            <a:off x="12319860" y="1019175"/>
            <a:ext cx="847412" cy="221513"/>
          </a:xfrm>
          <a:prstGeom prst="rect">
            <a:avLst/>
          </a:prstGeom>
        </p:spPr>
        <p:txBody>
          <a:bodyPr lIns="0" tIns="0" rIns="0" bIns="0" rtlCol="0" anchor="t">
            <a:spAutoFit/>
          </a:bodyPr>
          <a:lstStyle/>
          <a:p>
            <a:pPr marL="0" lvl="1" indent="0" algn="ctr">
              <a:lnSpc>
                <a:spcPts val="1874"/>
              </a:lnSpc>
              <a:spcBef>
                <a:spcPct val="0"/>
              </a:spcBef>
            </a:pPr>
            <a:r>
              <a:rPr lang="en-US" sz="1453" spc="-79">
                <a:solidFill>
                  <a:srgbClr val="FFFFFF"/>
                </a:solidFill>
                <a:latin typeface="Helios"/>
                <a:ea typeface="Helios"/>
                <a:cs typeface="Helios"/>
                <a:sym typeface="Helios"/>
              </a:rPr>
              <a:t>HOME</a:t>
            </a:r>
          </a:p>
        </p:txBody>
      </p:sp>
      <p:sp>
        <p:nvSpPr>
          <p:cNvPr id="11" name="TextBox 11"/>
          <p:cNvSpPr txBox="1"/>
          <p:nvPr/>
        </p:nvSpPr>
        <p:spPr>
          <a:xfrm>
            <a:off x="13424041" y="1019175"/>
            <a:ext cx="847412" cy="221513"/>
          </a:xfrm>
          <a:prstGeom prst="rect">
            <a:avLst/>
          </a:prstGeom>
        </p:spPr>
        <p:txBody>
          <a:bodyPr lIns="0" tIns="0" rIns="0" bIns="0" rtlCol="0" anchor="t">
            <a:spAutoFit/>
          </a:bodyPr>
          <a:lstStyle/>
          <a:p>
            <a:pPr marL="0" lvl="1" indent="0" algn="ctr">
              <a:lnSpc>
                <a:spcPts val="1874"/>
              </a:lnSpc>
              <a:spcBef>
                <a:spcPct val="0"/>
              </a:spcBef>
            </a:pPr>
            <a:r>
              <a:rPr lang="en-US" sz="1453" spc="-79">
                <a:solidFill>
                  <a:srgbClr val="FFFFFF"/>
                </a:solidFill>
                <a:latin typeface="Helios"/>
                <a:ea typeface="Helios"/>
                <a:cs typeface="Helios"/>
                <a:sym typeface="Helios"/>
              </a:rPr>
              <a:t>SERVICE</a:t>
            </a:r>
          </a:p>
        </p:txBody>
      </p:sp>
      <p:sp>
        <p:nvSpPr>
          <p:cNvPr id="12" name="TextBox 12"/>
          <p:cNvSpPr txBox="1"/>
          <p:nvPr/>
        </p:nvSpPr>
        <p:spPr>
          <a:xfrm>
            <a:off x="14528628" y="1019175"/>
            <a:ext cx="1105735" cy="221513"/>
          </a:xfrm>
          <a:prstGeom prst="rect">
            <a:avLst/>
          </a:prstGeom>
        </p:spPr>
        <p:txBody>
          <a:bodyPr lIns="0" tIns="0" rIns="0" bIns="0" rtlCol="0" anchor="t">
            <a:spAutoFit/>
          </a:bodyPr>
          <a:lstStyle/>
          <a:p>
            <a:pPr marL="0" lvl="1" indent="0" algn="ctr">
              <a:lnSpc>
                <a:spcPts val="1874"/>
              </a:lnSpc>
              <a:spcBef>
                <a:spcPct val="0"/>
              </a:spcBef>
            </a:pPr>
            <a:r>
              <a:rPr lang="en-US" sz="1453" spc="-79">
                <a:solidFill>
                  <a:srgbClr val="FFFFFF"/>
                </a:solidFill>
                <a:latin typeface="Helios"/>
                <a:ea typeface="Helios"/>
                <a:cs typeface="Helios"/>
                <a:sym typeface="Helios"/>
              </a:rPr>
              <a:t>ABOUT US</a:t>
            </a:r>
          </a:p>
        </p:txBody>
      </p:sp>
      <p:sp>
        <p:nvSpPr>
          <p:cNvPr id="13" name="TextBox 13"/>
          <p:cNvSpPr txBox="1"/>
          <p:nvPr/>
        </p:nvSpPr>
        <p:spPr>
          <a:xfrm>
            <a:off x="15923945" y="1019175"/>
            <a:ext cx="1335355" cy="221513"/>
          </a:xfrm>
          <a:prstGeom prst="rect">
            <a:avLst/>
          </a:prstGeom>
        </p:spPr>
        <p:txBody>
          <a:bodyPr lIns="0" tIns="0" rIns="0" bIns="0" rtlCol="0" anchor="t">
            <a:spAutoFit/>
          </a:bodyPr>
          <a:lstStyle/>
          <a:p>
            <a:pPr marL="0" lvl="1" indent="0" algn="ctr">
              <a:lnSpc>
                <a:spcPts val="1874"/>
              </a:lnSpc>
              <a:spcBef>
                <a:spcPct val="0"/>
              </a:spcBef>
            </a:pPr>
            <a:r>
              <a:rPr lang="en-US" sz="1453" spc="-79">
                <a:solidFill>
                  <a:srgbClr val="FFFFFF"/>
                </a:solidFill>
                <a:latin typeface="Helios"/>
                <a:ea typeface="Helios"/>
                <a:cs typeface="Helios"/>
                <a:sym typeface="Helios"/>
              </a:rPr>
              <a:t>CONTACT US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121965" y="0"/>
            <a:ext cx="8166035" cy="10287000"/>
            <a:chOff x="0" y="0"/>
            <a:chExt cx="8165833" cy="10286746"/>
          </a:xfrm>
        </p:grpSpPr>
        <p:sp>
          <p:nvSpPr>
            <p:cNvPr id="3" name="Freeform 3"/>
            <p:cNvSpPr/>
            <p:nvPr/>
          </p:nvSpPr>
          <p:spPr>
            <a:xfrm>
              <a:off x="-106" y="-127"/>
              <a:ext cx="8165939" cy="10286873"/>
            </a:xfrm>
            <a:custGeom>
              <a:avLst/>
              <a:gdLst/>
              <a:ahLst/>
              <a:cxnLst/>
              <a:rect l="l" t="t" r="r" b="b"/>
              <a:pathLst>
                <a:path w="8165939" h="10286873">
                  <a:moveTo>
                    <a:pt x="8165939" y="10251440"/>
                  </a:moveTo>
                  <a:cubicBezTo>
                    <a:pt x="8165939" y="10284587"/>
                    <a:pt x="8155814" y="10286873"/>
                    <a:pt x="8129415" y="10286873"/>
                  </a:cubicBezTo>
                  <a:cubicBezTo>
                    <a:pt x="5420007" y="10286238"/>
                    <a:pt x="2710720" y="10286238"/>
                    <a:pt x="1311" y="10286238"/>
                  </a:cubicBezTo>
                  <a:cubicBezTo>
                    <a:pt x="-2688" y="10272395"/>
                    <a:pt x="3481" y="10259822"/>
                    <a:pt x="6254" y="10246995"/>
                  </a:cubicBezTo>
                  <a:cubicBezTo>
                    <a:pt x="125349" y="9685401"/>
                    <a:pt x="244564" y="9123934"/>
                    <a:pt x="364020" y="8562467"/>
                  </a:cubicBezTo>
                  <a:cubicBezTo>
                    <a:pt x="534345" y="7761986"/>
                    <a:pt x="705032" y="6961632"/>
                    <a:pt x="875236" y="6161151"/>
                  </a:cubicBezTo>
                  <a:cubicBezTo>
                    <a:pt x="1085460" y="5172583"/>
                    <a:pt x="1295202" y="4184015"/>
                    <a:pt x="1505306" y="3195574"/>
                  </a:cubicBezTo>
                  <a:cubicBezTo>
                    <a:pt x="1718785" y="2191385"/>
                    <a:pt x="1932384" y="1187323"/>
                    <a:pt x="2146465" y="183261"/>
                  </a:cubicBezTo>
                  <a:cubicBezTo>
                    <a:pt x="2159484" y="122174"/>
                    <a:pt x="2167801" y="59690"/>
                    <a:pt x="2188896" y="635"/>
                  </a:cubicBezTo>
                  <a:cubicBezTo>
                    <a:pt x="4169150" y="635"/>
                    <a:pt x="6149403" y="635"/>
                    <a:pt x="8129656" y="0"/>
                  </a:cubicBezTo>
                  <a:cubicBezTo>
                    <a:pt x="8156538" y="0"/>
                    <a:pt x="8165698" y="3429"/>
                    <a:pt x="8165698" y="35814"/>
                  </a:cubicBezTo>
                  <a:cubicBezTo>
                    <a:pt x="8164975" y="3441065"/>
                    <a:pt x="8164975" y="6846316"/>
                    <a:pt x="8165939" y="10251440"/>
                  </a:cubicBezTo>
                  <a:close/>
                </a:path>
              </a:pathLst>
            </a:custGeom>
            <a:blipFill>
              <a:blip r:embed="rId2"/>
              <a:stretch>
                <a:fillRect l="-12987" t="-1" r="-12988" b="-1"/>
              </a:stretch>
            </a:blipFill>
          </p:spPr>
          <p:txBody>
            <a:bodyPr/>
            <a:lstStyle/>
            <a:p>
              <a:endParaRPr lang="en-US"/>
            </a:p>
          </p:txBody>
        </p:sp>
      </p:grpSp>
      <p:sp>
        <p:nvSpPr>
          <p:cNvPr id="4" name="Freeform 4"/>
          <p:cNvSpPr/>
          <p:nvPr/>
        </p:nvSpPr>
        <p:spPr>
          <a:xfrm rot="-950962">
            <a:off x="8967602" y="-560237"/>
            <a:ext cx="4594247" cy="4594247"/>
          </a:xfrm>
          <a:custGeom>
            <a:avLst/>
            <a:gdLst/>
            <a:ahLst/>
            <a:cxnLst/>
            <a:rect l="l" t="t" r="r" b="b"/>
            <a:pathLst>
              <a:path w="4594247" h="4594247">
                <a:moveTo>
                  <a:pt x="0" y="0"/>
                </a:moveTo>
                <a:lnTo>
                  <a:pt x="4594247" y="0"/>
                </a:lnTo>
                <a:lnTo>
                  <a:pt x="4594247" y="4594248"/>
                </a:lnTo>
                <a:lnTo>
                  <a:pt x="0" y="459424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rot="-950962">
            <a:off x="8822626" y="-705213"/>
            <a:ext cx="3360891" cy="3360891"/>
          </a:xfrm>
          <a:custGeom>
            <a:avLst/>
            <a:gdLst/>
            <a:ahLst/>
            <a:cxnLst/>
            <a:rect l="l" t="t" r="r" b="b"/>
            <a:pathLst>
              <a:path w="3360891" h="3360891">
                <a:moveTo>
                  <a:pt x="0" y="0"/>
                </a:moveTo>
                <a:lnTo>
                  <a:pt x="3360891" y="0"/>
                </a:lnTo>
                <a:lnTo>
                  <a:pt x="3360891" y="3360891"/>
                </a:lnTo>
                <a:lnTo>
                  <a:pt x="0" y="33608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9938400">
            <a:off x="16337080" y="7305667"/>
            <a:ext cx="3360891" cy="3360891"/>
          </a:xfrm>
          <a:custGeom>
            <a:avLst/>
            <a:gdLst/>
            <a:ahLst/>
            <a:cxnLst/>
            <a:rect l="l" t="t" r="r" b="b"/>
            <a:pathLst>
              <a:path w="3360891" h="3360891">
                <a:moveTo>
                  <a:pt x="0" y="0"/>
                </a:moveTo>
                <a:lnTo>
                  <a:pt x="3360891" y="0"/>
                </a:lnTo>
                <a:lnTo>
                  <a:pt x="3360891" y="3360891"/>
                </a:lnTo>
                <a:lnTo>
                  <a:pt x="0" y="33608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rot="9938400">
            <a:off x="15068142" y="8606554"/>
            <a:ext cx="3360891" cy="3360891"/>
          </a:xfrm>
          <a:custGeom>
            <a:avLst/>
            <a:gdLst/>
            <a:ahLst/>
            <a:cxnLst/>
            <a:rect l="l" t="t" r="r" b="b"/>
            <a:pathLst>
              <a:path w="3360891" h="3360891">
                <a:moveTo>
                  <a:pt x="0" y="0"/>
                </a:moveTo>
                <a:lnTo>
                  <a:pt x="3360891" y="0"/>
                </a:lnTo>
                <a:lnTo>
                  <a:pt x="3360891" y="3360892"/>
                </a:lnTo>
                <a:lnTo>
                  <a:pt x="0" y="3360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366859" y="277444"/>
            <a:ext cx="6412882" cy="1543050"/>
          </a:xfrm>
          <a:prstGeom prst="rect">
            <a:avLst/>
          </a:prstGeom>
        </p:spPr>
        <p:txBody>
          <a:bodyPr lIns="0" tIns="0" rIns="0" bIns="0" rtlCol="0" anchor="t">
            <a:spAutoFit/>
          </a:bodyPr>
          <a:lstStyle/>
          <a:p>
            <a:pPr algn="l">
              <a:lnSpc>
                <a:spcPts val="12599"/>
              </a:lnSpc>
            </a:pPr>
            <a:r>
              <a:rPr lang="en-US" sz="9000" i="1">
                <a:solidFill>
                  <a:srgbClr val="00ADB5"/>
                </a:solidFill>
                <a:latin typeface="Anton Italics"/>
                <a:ea typeface="Anton Italics"/>
                <a:cs typeface="Anton Italics"/>
                <a:sym typeface="Anton Italics"/>
              </a:rPr>
              <a:t>INTRODUCTION</a:t>
            </a:r>
          </a:p>
        </p:txBody>
      </p:sp>
      <p:sp>
        <p:nvSpPr>
          <p:cNvPr id="9" name="TextBox 9"/>
          <p:cNvSpPr txBox="1"/>
          <p:nvPr/>
        </p:nvSpPr>
        <p:spPr>
          <a:xfrm>
            <a:off x="150254" y="2063688"/>
            <a:ext cx="11275804" cy="7385489"/>
          </a:xfrm>
          <a:prstGeom prst="rect">
            <a:avLst/>
          </a:prstGeom>
        </p:spPr>
        <p:txBody>
          <a:bodyPr lIns="0" tIns="0" rIns="0" bIns="0" rtlCol="0" anchor="t">
            <a:spAutoFit/>
          </a:bodyPr>
          <a:lstStyle/>
          <a:p>
            <a:pPr algn="just">
              <a:lnSpc>
                <a:spcPts val="4214"/>
              </a:lnSpc>
              <a:spcBef>
                <a:spcPct val="0"/>
              </a:spcBef>
            </a:pPr>
            <a:r>
              <a:rPr lang="en-US" sz="3267" spc="-179">
                <a:solidFill>
                  <a:srgbClr val="FFFFFF"/>
                </a:solidFill>
                <a:latin typeface="Open Sans"/>
                <a:ea typeface="Open Sans"/>
                <a:cs typeface="Open Sans"/>
                <a:sym typeface="Open Sans"/>
              </a:rPr>
              <a:t>P</a:t>
            </a:r>
            <a:r>
              <a:rPr lang="en-US" sz="3267" u="none" strike="noStrike" spc="-179">
                <a:solidFill>
                  <a:srgbClr val="FFFFFF"/>
                </a:solidFill>
                <a:latin typeface="Open Sans"/>
                <a:ea typeface="Open Sans"/>
                <a:cs typeface="Open Sans"/>
                <a:sym typeface="Open Sans"/>
              </a:rPr>
              <a:t>roblem Statement :</a:t>
            </a:r>
          </a:p>
          <a:p>
            <a:pPr algn="just">
              <a:lnSpc>
                <a:spcPts val="4214"/>
              </a:lnSpc>
              <a:spcBef>
                <a:spcPct val="0"/>
              </a:spcBef>
            </a:pPr>
            <a:endParaRPr lang="en-US" sz="3267" u="none" strike="noStrike" spc="-179">
              <a:solidFill>
                <a:srgbClr val="FFFFFF"/>
              </a:solidFill>
              <a:latin typeface="Open Sans"/>
              <a:ea typeface="Open Sans"/>
              <a:cs typeface="Open Sans"/>
              <a:sym typeface="Open Sans"/>
            </a:endParaRPr>
          </a:p>
          <a:p>
            <a:pPr marL="705381" lvl="1" indent="-352690" algn="just">
              <a:lnSpc>
                <a:spcPts val="4214"/>
              </a:lnSpc>
              <a:spcBef>
                <a:spcPct val="0"/>
              </a:spcBef>
              <a:buFont typeface="Arial"/>
              <a:buChar char="•"/>
            </a:pPr>
            <a:r>
              <a:rPr lang="en-US" sz="3267" u="none" strike="noStrike" spc="-179">
                <a:solidFill>
                  <a:srgbClr val="FFFFFF"/>
                </a:solidFill>
                <a:latin typeface="Open Sans"/>
                <a:ea typeface="Open Sans"/>
                <a:cs typeface="Open Sans"/>
                <a:sym typeface="Open Sans"/>
              </a:rPr>
              <a:t>Inefficient E-waste recycling in Egypt</a:t>
            </a:r>
          </a:p>
          <a:p>
            <a:pPr marL="705381" lvl="1" indent="-352690" algn="just">
              <a:lnSpc>
                <a:spcPts val="4214"/>
              </a:lnSpc>
              <a:spcBef>
                <a:spcPct val="0"/>
              </a:spcBef>
              <a:buFont typeface="Arial"/>
              <a:buChar char="•"/>
            </a:pPr>
            <a:r>
              <a:rPr lang="en-US" sz="3267" u="none" strike="noStrike" spc="-179">
                <a:solidFill>
                  <a:srgbClr val="FFFFFF"/>
                </a:solidFill>
                <a:latin typeface="Open Sans"/>
                <a:ea typeface="Open Sans"/>
                <a:cs typeface="Open Sans"/>
                <a:sym typeface="Open Sans"/>
              </a:rPr>
              <a:t>Heavy metal pollution in air and Nile water</a:t>
            </a:r>
          </a:p>
          <a:p>
            <a:pPr marL="705381" lvl="1" indent="-352690" algn="just">
              <a:lnSpc>
                <a:spcPts val="4214"/>
              </a:lnSpc>
              <a:spcBef>
                <a:spcPct val="0"/>
              </a:spcBef>
              <a:buFont typeface="Arial"/>
              <a:buChar char="•"/>
            </a:pPr>
            <a:r>
              <a:rPr lang="en-US" sz="3267" u="none" strike="noStrike" spc="-179">
                <a:solidFill>
                  <a:srgbClr val="FFFFFF"/>
                </a:solidFill>
                <a:latin typeface="Open Sans"/>
                <a:ea typeface="Open Sans"/>
                <a:cs typeface="Open Sans"/>
                <a:sym typeface="Open Sans"/>
              </a:rPr>
              <a:t>Lack of affordable motion-measurement tools in school labs</a:t>
            </a:r>
          </a:p>
          <a:p>
            <a:pPr marL="705381" lvl="1" indent="-352690" algn="just">
              <a:lnSpc>
                <a:spcPts val="4214"/>
              </a:lnSpc>
              <a:spcBef>
                <a:spcPct val="0"/>
              </a:spcBef>
              <a:buFont typeface="Arial"/>
              <a:buChar char="•"/>
            </a:pPr>
            <a:r>
              <a:rPr lang="en-US" sz="3267" u="none" strike="noStrike" spc="-179">
                <a:solidFill>
                  <a:srgbClr val="FFFFFF"/>
                </a:solidFill>
                <a:latin typeface="Open Sans"/>
                <a:ea typeface="Open Sans"/>
                <a:cs typeface="Open Sans"/>
                <a:sym typeface="Open Sans"/>
              </a:rPr>
              <a:t>Discarded devices labeled as “waste” despite high value</a:t>
            </a:r>
          </a:p>
          <a:p>
            <a:pPr algn="just">
              <a:lnSpc>
                <a:spcPts val="4214"/>
              </a:lnSpc>
              <a:spcBef>
                <a:spcPct val="0"/>
              </a:spcBef>
            </a:pPr>
            <a:endParaRPr lang="en-US" sz="3267" u="none" strike="noStrike" spc="-179">
              <a:solidFill>
                <a:srgbClr val="FFFFFF"/>
              </a:solidFill>
              <a:latin typeface="Open Sans"/>
              <a:ea typeface="Open Sans"/>
              <a:cs typeface="Open Sans"/>
              <a:sym typeface="Open Sans"/>
            </a:endParaRPr>
          </a:p>
          <a:p>
            <a:pPr algn="just">
              <a:lnSpc>
                <a:spcPts val="4214"/>
              </a:lnSpc>
              <a:spcBef>
                <a:spcPct val="0"/>
              </a:spcBef>
            </a:pPr>
            <a:r>
              <a:rPr lang="en-US" sz="3267" u="none" strike="noStrike" spc="-179">
                <a:solidFill>
                  <a:srgbClr val="FFFFFF"/>
                </a:solidFill>
                <a:latin typeface="Open Sans"/>
                <a:ea typeface="Open Sans"/>
                <a:cs typeface="Open Sans"/>
                <a:sym typeface="Open Sans"/>
              </a:rPr>
              <a:t>Research Background :</a:t>
            </a:r>
          </a:p>
          <a:p>
            <a:pPr algn="just">
              <a:lnSpc>
                <a:spcPts val="4214"/>
              </a:lnSpc>
              <a:spcBef>
                <a:spcPct val="0"/>
              </a:spcBef>
            </a:pPr>
            <a:endParaRPr lang="en-US" sz="3267" u="none" strike="noStrike" spc="-179">
              <a:solidFill>
                <a:srgbClr val="FFFFFF"/>
              </a:solidFill>
              <a:latin typeface="Open Sans"/>
              <a:ea typeface="Open Sans"/>
              <a:cs typeface="Open Sans"/>
              <a:sym typeface="Open Sans"/>
            </a:endParaRPr>
          </a:p>
          <a:p>
            <a:pPr marL="705381" lvl="1" indent="-352690" algn="just">
              <a:lnSpc>
                <a:spcPts val="4214"/>
              </a:lnSpc>
              <a:spcBef>
                <a:spcPct val="0"/>
              </a:spcBef>
              <a:buFont typeface="Arial"/>
              <a:buChar char="•"/>
            </a:pPr>
            <a:r>
              <a:rPr lang="en-US" sz="3267" u="none" strike="noStrike" spc="-179">
                <a:solidFill>
                  <a:srgbClr val="FFFFFF"/>
                </a:solidFill>
                <a:latin typeface="Open Sans"/>
                <a:ea typeface="Open Sans"/>
                <a:cs typeface="Open Sans"/>
                <a:sym typeface="Open Sans"/>
              </a:rPr>
              <a:t>PCB recycling: effective but complex and costly</a:t>
            </a:r>
          </a:p>
          <a:p>
            <a:pPr marL="705381" lvl="1" indent="-352690" algn="just">
              <a:lnSpc>
                <a:spcPts val="4214"/>
              </a:lnSpc>
              <a:spcBef>
                <a:spcPct val="0"/>
              </a:spcBef>
              <a:buFont typeface="Arial"/>
              <a:buChar char="•"/>
            </a:pPr>
            <a:r>
              <a:rPr lang="en-US" sz="3267" u="none" strike="noStrike" spc="-179">
                <a:solidFill>
                  <a:srgbClr val="FFFFFF"/>
                </a:solidFill>
                <a:latin typeface="Open Sans"/>
                <a:ea typeface="Open Sans"/>
                <a:cs typeface="Open Sans"/>
                <a:sym typeface="Open Sans"/>
              </a:rPr>
              <a:t>Ultrasonic sensors: accurate distance measurement</a:t>
            </a:r>
          </a:p>
          <a:p>
            <a:pPr marL="705381" lvl="1" indent="-352690" algn="just">
              <a:lnSpc>
                <a:spcPts val="4214"/>
              </a:lnSpc>
              <a:spcBef>
                <a:spcPct val="0"/>
              </a:spcBef>
              <a:buFont typeface="Arial"/>
              <a:buChar char="•"/>
            </a:pPr>
            <a:r>
              <a:rPr lang="en-US" sz="3267" u="none" strike="noStrike" spc="-179">
                <a:solidFill>
                  <a:srgbClr val="FFFFFF"/>
                </a:solidFill>
                <a:latin typeface="Open Sans"/>
                <a:ea typeface="Open Sans"/>
                <a:cs typeface="Open Sans"/>
                <a:sym typeface="Open Sans"/>
              </a:rPr>
              <a:t>Previous solutions lack educational accessibility</a:t>
            </a:r>
          </a:p>
          <a:p>
            <a:pPr algn="just">
              <a:lnSpc>
                <a:spcPts val="4214"/>
              </a:lnSpc>
              <a:spcBef>
                <a:spcPct val="0"/>
              </a:spcBef>
            </a:pPr>
            <a:endParaRPr lang="en-US" sz="3267" u="none" strike="noStrike" spc="-179">
              <a:solidFill>
                <a:srgbClr val="FFFFFF"/>
              </a:solidFill>
              <a:latin typeface="Open Sans"/>
              <a:ea typeface="Open Sans"/>
              <a:cs typeface="Open Sans"/>
              <a:sym typeface="Open Sans"/>
            </a:endParaRPr>
          </a:p>
          <a:p>
            <a:pPr marL="0" lvl="1" indent="0" algn="just">
              <a:lnSpc>
                <a:spcPts val="3569"/>
              </a:lnSpc>
              <a:spcBef>
                <a:spcPct val="0"/>
              </a:spcBef>
            </a:pPr>
            <a:endParaRPr lang="en-US" sz="3267" u="none" strike="noStrike" spc="-179">
              <a:solidFill>
                <a:srgbClr val="FFFFFF"/>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9556987" y="0"/>
            <a:ext cx="8731013" cy="10287000"/>
            <a:chOff x="0" y="0"/>
            <a:chExt cx="8730798" cy="10286746"/>
          </a:xfrm>
        </p:grpSpPr>
        <p:sp>
          <p:nvSpPr>
            <p:cNvPr id="3" name="Freeform 3"/>
            <p:cNvSpPr/>
            <p:nvPr/>
          </p:nvSpPr>
          <p:spPr>
            <a:xfrm>
              <a:off x="-34" y="-127"/>
              <a:ext cx="8730831" cy="10286873"/>
            </a:xfrm>
            <a:custGeom>
              <a:avLst/>
              <a:gdLst/>
              <a:ahLst/>
              <a:cxnLst/>
              <a:rect l="l" t="t" r="r" b="b"/>
              <a:pathLst>
                <a:path w="8730831" h="10286873">
                  <a:moveTo>
                    <a:pt x="8730831" y="10251440"/>
                  </a:moveTo>
                  <a:cubicBezTo>
                    <a:pt x="8730831" y="10284587"/>
                    <a:pt x="8720005" y="10286873"/>
                    <a:pt x="8691780" y="10286873"/>
                  </a:cubicBezTo>
                  <a:cubicBezTo>
                    <a:pt x="5794918" y="10286238"/>
                    <a:pt x="2898185" y="10286238"/>
                    <a:pt x="1323" y="10286238"/>
                  </a:cubicBezTo>
                  <a:cubicBezTo>
                    <a:pt x="-2760" y="10272395"/>
                    <a:pt x="3643" y="10259822"/>
                    <a:pt x="6607" y="10246995"/>
                  </a:cubicBezTo>
                  <a:cubicBezTo>
                    <a:pt x="133942" y="9685401"/>
                    <a:pt x="261405" y="9123934"/>
                    <a:pt x="389126" y="8562467"/>
                  </a:cubicBezTo>
                  <a:cubicBezTo>
                    <a:pt x="571235" y="7761986"/>
                    <a:pt x="753731" y="6961632"/>
                    <a:pt x="935711" y="6161151"/>
                  </a:cubicBezTo>
                  <a:cubicBezTo>
                    <a:pt x="1160480" y="5172583"/>
                    <a:pt x="1384733" y="4184015"/>
                    <a:pt x="1609373" y="3195574"/>
                  </a:cubicBezTo>
                  <a:cubicBezTo>
                    <a:pt x="1837622" y="2191385"/>
                    <a:pt x="2065999" y="1187323"/>
                    <a:pt x="2294892" y="183261"/>
                  </a:cubicBezTo>
                  <a:cubicBezTo>
                    <a:pt x="2308811" y="122174"/>
                    <a:pt x="2317704" y="59690"/>
                    <a:pt x="2340258" y="635"/>
                  </a:cubicBezTo>
                  <a:cubicBezTo>
                    <a:pt x="4457519" y="635"/>
                    <a:pt x="6574778" y="635"/>
                    <a:pt x="8692038" y="0"/>
                  </a:cubicBezTo>
                  <a:cubicBezTo>
                    <a:pt x="8720779" y="0"/>
                    <a:pt x="8730573" y="3429"/>
                    <a:pt x="8730573" y="35814"/>
                  </a:cubicBezTo>
                  <a:cubicBezTo>
                    <a:pt x="8729800" y="3441065"/>
                    <a:pt x="8729800" y="6846316"/>
                    <a:pt x="8730831" y="10251440"/>
                  </a:cubicBezTo>
                  <a:close/>
                </a:path>
              </a:pathLst>
            </a:custGeom>
            <a:blipFill>
              <a:blip r:embed="rId2"/>
              <a:stretch>
                <a:fillRect l="-28550" t="-1" r="-28549" b="-1"/>
              </a:stretch>
            </a:blipFill>
          </p:spPr>
          <p:txBody>
            <a:bodyPr/>
            <a:lstStyle/>
            <a:p>
              <a:endParaRPr lang="en-US"/>
            </a:p>
          </p:txBody>
        </p:sp>
      </p:grpSp>
      <p:sp>
        <p:nvSpPr>
          <p:cNvPr id="4" name="Freeform 4"/>
          <p:cNvSpPr/>
          <p:nvPr/>
        </p:nvSpPr>
        <p:spPr>
          <a:xfrm rot="-950962">
            <a:off x="8649965" y="-958994"/>
            <a:ext cx="4594247" cy="4594247"/>
          </a:xfrm>
          <a:custGeom>
            <a:avLst/>
            <a:gdLst/>
            <a:ahLst/>
            <a:cxnLst/>
            <a:rect l="l" t="t" r="r" b="b"/>
            <a:pathLst>
              <a:path w="4594247" h="4594247">
                <a:moveTo>
                  <a:pt x="0" y="0"/>
                </a:moveTo>
                <a:lnTo>
                  <a:pt x="4594247" y="0"/>
                </a:lnTo>
                <a:lnTo>
                  <a:pt x="4594247" y="4594247"/>
                </a:lnTo>
                <a:lnTo>
                  <a:pt x="0" y="459424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rot="-950962">
            <a:off x="8504989" y="-651746"/>
            <a:ext cx="3360891" cy="3360891"/>
          </a:xfrm>
          <a:custGeom>
            <a:avLst/>
            <a:gdLst/>
            <a:ahLst/>
            <a:cxnLst/>
            <a:rect l="l" t="t" r="r" b="b"/>
            <a:pathLst>
              <a:path w="3360891" h="3360891">
                <a:moveTo>
                  <a:pt x="0" y="0"/>
                </a:moveTo>
                <a:lnTo>
                  <a:pt x="3360891" y="0"/>
                </a:lnTo>
                <a:lnTo>
                  <a:pt x="3360891" y="3360892"/>
                </a:lnTo>
                <a:lnTo>
                  <a:pt x="0" y="3360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9938400">
            <a:off x="16337080" y="7305667"/>
            <a:ext cx="3360891" cy="3360891"/>
          </a:xfrm>
          <a:custGeom>
            <a:avLst/>
            <a:gdLst/>
            <a:ahLst/>
            <a:cxnLst/>
            <a:rect l="l" t="t" r="r" b="b"/>
            <a:pathLst>
              <a:path w="3360891" h="3360891">
                <a:moveTo>
                  <a:pt x="0" y="0"/>
                </a:moveTo>
                <a:lnTo>
                  <a:pt x="3360891" y="0"/>
                </a:lnTo>
                <a:lnTo>
                  <a:pt x="3360891" y="3360891"/>
                </a:lnTo>
                <a:lnTo>
                  <a:pt x="0" y="33608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rot="9938400">
            <a:off x="15068142" y="8606554"/>
            <a:ext cx="3360891" cy="3360891"/>
          </a:xfrm>
          <a:custGeom>
            <a:avLst/>
            <a:gdLst/>
            <a:ahLst/>
            <a:cxnLst/>
            <a:rect l="l" t="t" r="r" b="b"/>
            <a:pathLst>
              <a:path w="3360891" h="3360891">
                <a:moveTo>
                  <a:pt x="0" y="0"/>
                </a:moveTo>
                <a:lnTo>
                  <a:pt x="3360891" y="0"/>
                </a:lnTo>
                <a:lnTo>
                  <a:pt x="3360891" y="3360892"/>
                </a:lnTo>
                <a:lnTo>
                  <a:pt x="0" y="3360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150254" y="517086"/>
            <a:ext cx="8612535" cy="821044"/>
          </a:xfrm>
          <a:prstGeom prst="rect">
            <a:avLst/>
          </a:prstGeom>
        </p:spPr>
        <p:txBody>
          <a:bodyPr lIns="0" tIns="0" rIns="0" bIns="0" rtlCol="0" anchor="t">
            <a:spAutoFit/>
          </a:bodyPr>
          <a:lstStyle/>
          <a:p>
            <a:pPr algn="l">
              <a:lnSpc>
                <a:spcPts val="6720"/>
              </a:lnSpc>
            </a:pPr>
            <a:r>
              <a:rPr lang="en-US" sz="4800" i="1">
                <a:solidFill>
                  <a:srgbClr val="00ADB5"/>
                </a:solidFill>
                <a:latin typeface="Anton Italics"/>
                <a:ea typeface="Anton Italics"/>
                <a:cs typeface="Anton Italics"/>
                <a:sym typeface="Anton Italics"/>
              </a:rPr>
              <a:t>DESIGN REQUIREMENTS &amp; CONSTRAINTS</a:t>
            </a:r>
          </a:p>
        </p:txBody>
      </p:sp>
      <p:sp>
        <p:nvSpPr>
          <p:cNvPr id="9" name="TextBox 9"/>
          <p:cNvSpPr txBox="1"/>
          <p:nvPr/>
        </p:nvSpPr>
        <p:spPr>
          <a:xfrm>
            <a:off x="0" y="2466411"/>
            <a:ext cx="11275804" cy="4210235"/>
          </a:xfrm>
          <a:prstGeom prst="rect">
            <a:avLst/>
          </a:prstGeom>
        </p:spPr>
        <p:txBody>
          <a:bodyPr lIns="0" tIns="0" rIns="0" bIns="0" rtlCol="0" anchor="t">
            <a:spAutoFit/>
          </a:bodyPr>
          <a:lstStyle/>
          <a:p>
            <a:pPr marL="834918" lvl="1" indent="-417459" algn="just">
              <a:lnSpc>
                <a:spcPts val="4988"/>
              </a:lnSpc>
              <a:spcBef>
                <a:spcPct val="0"/>
              </a:spcBef>
              <a:buFont typeface="Arial"/>
              <a:buChar char="•"/>
            </a:pPr>
            <a:r>
              <a:rPr lang="en-US" sz="3867" spc="-212">
                <a:solidFill>
                  <a:srgbClr val="FFFFFF"/>
                </a:solidFill>
                <a:latin typeface="Open Sans"/>
                <a:ea typeface="Open Sans"/>
                <a:cs typeface="Open Sans"/>
                <a:sym typeface="Open Sans"/>
              </a:rPr>
              <a:t>Bu</a:t>
            </a:r>
            <a:r>
              <a:rPr lang="en-US" sz="3867" u="none" strike="noStrike" spc="-212">
                <a:solidFill>
                  <a:srgbClr val="FFFFFF"/>
                </a:solidFill>
                <a:latin typeface="Open Sans"/>
                <a:ea typeface="Open Sans"/>
                <a:cs typeface="Open Sans"/>
                <a:sym typeface="Open Sans"/>
              </a:rPr>
              <a:t>ilt mainly from discarded devices</a:t>
            </a:r>
          </a:p>
          <a:p>
            <a:pPr marL="834918" lvl="1" indent="-417459" algn="just">
              <a:lnSpc>
                <a:spcPts val="4988"/>
              </a:lnSpc>
              <a:spcBef>
                <a:spcPct val="0"/>
              </a:spcBef>
              <a:buFont typeface="Arial"/>
              <a:buChar char="•"/>
            </a:pPr>
            <a:r>
              <a:rPr lang="en-US" sz="3867" u="none" strike="noStrike" spc="-212">
                <a:solidFill>
                  <a:srgbClr val="FFFFFF"/>
                </a:solidFill>
                <a:latin typeface="Open Sans"/>
                <a:ea typeface="Open Sans"/>
                <a:cs typeface="Open Sans"/>
                <a:sym typeface="Open Sans"/>
              </a:rPr>
              <a:t>Multi-functional or multi-lab usage</a:t>
            </a:r>
          </a:p>
          <a:p>
            <a:pPr marL="834918" lvl="1" indent="-417459" algn="just">
              <a:lnSpc>
                <a:spcPts val="4988"/>
              </a:lnSpc>
              <a:spcBef>
                <a:spcPct val="0"/>
              </a:spcBef>
              <a:buFont typeface="Arial"/>
              <a:buChar char="•"/>
            </a:pPr>
            <a:r>
              <a:rPr lang="en-US" sz="3867" u="none" strike="noStrike" spc="-212">
                <a:solidFill>
                  <a:srgbClr val="FFFFFF"/>
                </a:solidFill>
                <a:latin typeface="Open Sans"/>
                <a:ea typeface="Open Sans"/>
                <a:cs typeface="Open Sans"/>
                <a:sym typeface="Open Sans"/>
              </a:rPr>
              <a:t>No hazardous or radioactive materials</a:t>
            </a:r>
          </a:p>
          <a:p>
            <a:pPr marL="834918" lvl="1" indent="-417459" algn="just">
              <a:lnSpc>
                <a:spcPts val="4988"/>
              </a:lnSpc>
              <a:spcBef>
                <a:spcPct val="0"/>
              </a:spcBef>
              <a:buFont typeface="Arial"/>
              <a:buChar char="•"/>
            </a:pPr>
            <a:r>
              <a:rPr lang="en-US" sz="3867" u="none" strike="noStrike" spc="-212">
                <a:solidFill>
                  <a:srgbClr val="FFFFFF"/>
                </a:solidFill>
                <a:latin typeface="Open Sans"/>
                <a:ea typeface="Open Sans"/>
                <a:cs typeface="Open Sans"/>
                <a:sym typeface="Open Sans"/>
              </a:rPr>
              <a:t>Safe for students</a:t>
            </a:r>
          </a:p>
          <a:p>
            <a:pPr marL="834918" lvl="1" indent="-417459" algn="just">
              <a:lnSpc>
                <a:spcPts val="4988"/>
              </a:lnSpc>
              <a:spcBef>
                <a:spcPct val="0"/>
              </a:spcBef>
              <a:buFont typeface="Arial"/>
              <a:buChar char="•"/>
            </a:pPr>
            <a:r>
              <a:rPr lang="en-US" sz="3867" u="none" strike="noStrike" spc="-212">
                <a:solidFill>
                  <a:srgbClr val="FFFFFF"/>
                </a:solidFill>
                <a:latin typeface="Open Sans"/>
                <a:ea typeface="Open Sans"/>
                <a:cs typeface="Open Sans"/>
                <a:sym typeface="Open Sans"/>
              </a:rPr>
              <a:t>Error percentage ≤ ±5%</a:t>
            </a:r>
          </a:p>
          <a:p>
            <a:pPr marL="834918" lvl="1" indent="-417459" algn="just">
              <a:lnSpc>
                <a:spcPts val="4988"/>
              </a:lnSpc>
              <a:buFont typeface="Arial"/>
              <a:buChar char="•"/>
            </a:pPr>
            <a:r>
              <a:rPr lang="en-US" sz="3867" u="none" strike="noStrike" spc="-212">
                <a:solidFill>
                  <a:srgbClr val="FFFFFF"/>
                </a:solidFill>
                <a:latin typeface="Open Sans"/>
                <a:ea typeface="Open Sans"/>
                <a:cs typeface="Open Sans"/>
                <a:sym typeface="Open Sans"/>
              </a:rPr>
              <a:t>Improve scientific &amp; technological environment</a:t>
            </a:r>
          </a:p>
          <a:p>
            <a:pPr marL="0" lvl="1" indent="0" algn="just">
              <a:lnSpc>
                <a:spcPts val="3569"/>
              </a:lnSpc>
              <a:spcBef>
                <a:spcPct val="0"/>
              </a:spcBef>
            </a:pPr>
            <a:endParaRPr lang="en-US" sz="3867" u="none" strike="noStrike" spc="-212">
              <a:solidFill>
                <a:srgbClr val="FFFFFF"/>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5153007" y="3422655"/>
            <a:ext cx="4106648" cy="3305225"/>
            <a:chOff x="0" y="0"/>
            <a:chExt cx="1081586" cy="870512"/>
          </a:xfrm>
        </p:grpSpPr>
        <p:sp>
          <p:nvSpPr>
            <p:cNvPr id="3" name="Freeform 3"/>
            <p:cNvSpPr/>
            <p:nvPr/>
          </p:nvSpPr>
          <p:spPr>
            <a:xfrm>
              <a:off x="0" y="0"/>
              <a:ext cx="1081586" cy="870512"/>
            </a:xfrm>
            <a:custGeom>
              <a:avLst/>
              <a:gdLst/>
              <a:ahLst/>
              <a:cxnLst/>
              <a:rect l="l" t="t" r="r" b="b"/>
              <a:pathLst>
                <a:path w="1081586" h="870512">
                  <a:moveTo>
                    <a:pt x="203200" y="0"/>
                  </a:moveTo>
                  <a:lnTo>
                    <a:pt x="1081586" y="0"/>
                  </a:lnTo>
                  <a:lnTo>
                    <a:pt x="878386" y="870512"/>
                  </a:lnTo>
                  <a:lnTo>
                    <a:pt x="0" y="870512"/>
                  </a:lnTo>
                  <a:lnTo>
                    <a:pt x="203200" y="0"/>
                  </a:lnTo>
                  <a:close/>
                </a:path>
              </a:pathLst>
            </a:custGeom>
            <a:gradFill rotWithShape="1">
              <a:gsLst>
                <a:gs pos="0">
                  <a:srgbClr val="000000">
                    <a:alpha val="0"/>
                  </a:srgbClr>
                </a:gs>
                <a:gs pos="100000">
                  <a:srgbClr val="000000">
                    <a:alpha val="100000"/>
                  </a:srgbClr>
                </a:gs>
              </a:gsLst>
              <a:lin ang="5400000"/>
            </a:gradFill>
          </p:spPr>
          <p:txBody>
            <a:bodyPr/>
            <a:lstStyle/>
            <a:p>
              <a:endParaRPr lang="en-US"/>
            </a:p>
          </p:txBody>
        </p:sp>
        <p:sp>
          <p:nvSpPr>
            <p:cNvPr id="4" name="TextBox 4"/>
            <p:cNvSpPr txBox="1"/>
            <p:nvPr/>
          </p:nvSpPr>
          <p:spPr>
            <a:xfrm>
              <a:off x="101600" y="-9525"/>
              <a:ext cx="878386" cy="880037"/>
            </a:xfrm>
            <a:prstGeom prst="rect">
              <a:avLst/>
            </a:prstGeom>
          </p:spPr>
          <p:txBody>
            <a:bodyPr lIns="50800" tIns="50800" rIns="50800" bIns="50800" rtlCol="0" anchor="ctr"/>
            <a:lstStyle/>
            <a:p>
              <a:pPr algn="ctr">
                <a:lnSpc>
                  <a:spcPts val="1874"/>
                </a:lnSpc>
              </a:pPr>
              <a:endParaRPr/>
            </a:p>
          </p:txBody>
        </p:sp>
      </p:grpSp>
      <p:sp>
        <p:nvSpPr>
          <p:cNvPr id="5" name="Freeform 5"/>
          <p:cNvSpPr/>
          <p:nvPr/>
        </p:nvSpPr>
        <p:spPr>
          <a:xfrm rot="-4578575">
            <a:off x="-1917332" y="-996295"/>
            <a:ext cx="5892065" cy="1992589"/>
          </a:xfrm>
          <a:custGeom>
            <a:avLst/>
            <a:gdLst/>
            <a:ahLst/>
            <a:cxnLst/>
            <a:rect l="l" t="t" r="r" b="b"/>
            <a:pathLst>
              <a:path w="5892065" h="1992589">
                <a:moveTo>
                  <a:pt x="0" y="0"/>
                </a:moveTo>
                <a:lnTo>
                  <a:pt x="5892064" y="0"/>
                </a:lnTo>
                <a:lnTo>
                  <a:pt x="5892064" y="1992590"/>
                </a:lnTo>
                <a:lnTo>
                  <a:pt x="0" y="199259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rot="-4578575" flipH="1" flipV="1">
            <a:off x="14820421" y="8446166"/>
            <a:ext cx="5892065" cy="1992589"/>
          </a:xfrm>
          <a:custGeom>
            <a:avLst/>
            <a:gdLst/>
            <a:ahLst/>
            <a:cxnLst/>
            <a:rect l="l" t="t" r="r" b="b"/>
            <a:pathLst>
              <a:path w="5892065" h="1992589">
                <a:moveTo>
                  <a:pt x="5892064" y="1992589"/>
                </a:moveTo>
                <a:lnTo>
                  <a:pt x="0" y="1992589"/>
                </a:lnTo>
                <a:lnTo>
                  <a:pt x="0" y="0"/>
                </a:lnTo>
                <a:lnTo>
                  <a:pt x="5892064" y="0"/>
                </a:lnTo>
                <a:lnTo>
                  <a:pt x="5892064" y="1992589"/>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1761064" y="1700186"/>
            <a:ext cx="3422940" cy="2519664"/>
          </a:xfrm>
          <a:custGeom>
            <a:avLst/>
            <a:gdLst/>
            <a:ahLst/>
            <a:cxnLst/>
            <a:rect l="l" t="t" r="r" b="b"/>
            <a:pathLst>
              <a:path w="3422940" h="2519664">
                <a:moveTo>
                  <a:pt x="0" y="0"/>
                </a:moveTo>
                <a:lnTo>
                  <a:pt x="3422940" y="0"/>
                </a:lnTo>
                <a:lnTo>
                  <a:pt x="3422940" y="2519664"/>
                </a:lnTo>
                <a:lnTo>
                  <a:pt x="0" y="2519664"/>
                </a:lnTo>
                <a:lnTo>
                  <a:pt x="0" y="0"/>
                </a:lnTo>
                <a:close/>
              </a:path>
            </a:pathLst>
          </a:custGeom>
          <a:blipFill>
            <a:blip r:embed="rId4"/>
            <a:stretch>
              <a:fillRect/>
            </a:stretch>
          </a:blipFill>
        </p:spPr>
        <p:txBody>
          <a:bodyPr/>
          <a:lstStyle/>
          <a:p>
            <a:endParaRPr lang="en-US"/>
          </a:p>
        </p:txBody>
      </p:sp>
      <p:sp>
        <p:nvSpPr>
          <p:cNvPr id="8" name="Freeform 8"/>
          <p:cNvSpPr/>
          <p:nvPr/>
        </p:nvSpPr>
        <p:spPr>
          <a:xfrm rot="126675">
            <a:off x="7740498" y="1830445"/>
            <a:ext cx="3416465" cy="2395428"/>
          </a:xfrm>
          <a:custGeom>
            <a:avLst/>
            <a:gdLst/>
            <a:ahLst/>
            <a:cxnLst/>
            <a:rect l="l" t="t" r="r" b="b"/>
            <a:pathLst>
              <a:path w="3416465" h="2395428">
                <a:moveTo>
                  <a:pt x="0" y="0"/>
                </a:moveTo>
                <a:lnTo>
                  <a:pt x="3416465" y="0"/>
                </a:lnTo>
                <a:lnTo>
                  <a:pt x="3416465" y="2395428"/>
                </a:lnTo>
                <a:lnTo>
                  <a:pt x="0" y="2395428"/>
                </a:lnTo>
                <a:lnTo>
                  <a:pt x="0" y="0"/>
                </a:lnTo>
                <a:close/>
              </a:path>
            </a:pathLst>
          </a:custGeom>
          <a:blipFill>
            <a:blip r:embed="rId5"/>
            <a:stretch>
              <a:fillRect t="-9184" r="-3385"/>
            </a:stretch>
          </a:blipFill>
        </p:spPr>
        <p:txBody>
          <a:bodyPr/>
          <a:lstStyle/>
          <a:p>
            <a:endParaRPr lang="en-US"/>
          </a:p>
        </p:txBody>
      </p:sp>
      <p:sp>
        <p:nvSpPr>
          <p:cNvPr id="9" name="Freeform 9"/>
          <p:cNvSpPr/>
          <p:nvPr/>
        </p:nvSpPr>
        <p:spPr>
          <a:xfrm>
            <a:off x="1761064" y="5712848"/>
            <a:ext cx="3337215" cy="2527347"/>
          </a:xfrm>
          <a:custGeom>
            <a:avLst/>
            <a:gdLst/>
            <a:ahLst/>
            <a:cxnLst/>
            <a:rect l="l" t="t" r="r" b="b"/>
            <a:pathLst>
              <a:path w="3337215" h="2527347">
                <a:moveTo>
                  <a:pt x="0" y="0"/>
                </a:moveTo>
                <a:lnTo>
                  <a:pt x="3337215" y="0"/>
                </a:lnTo>
                <a:lnTo>
                  <a:pt x="3337215" y="2527347"/>
                </a:lnTo>
                <a:lnTo>
                  <a:pt x="0" y="2527347"/>
                </a:lnTo>
                <a:lnTo>
                  <a:pt x="0" y="0"/>
                </a:lnTo>
                <a:close/>
              </a:path>
            </a:pathLst>
          </a:custGeom>
          <a:blipFill>
            <a:blip r:embed="rId6"/>
            <a:stretch>
              <a:fillRect l="-13189" t="-2533" r="-2568" b="-13209"/>
            </a:stretch>
          </a:blipFill>
        </p:spPr>
        <p:txBody>
          <a:bodyPr/>
          <a:lstStyle/>
          <a:p>
            <a:endParaRPr lang="en-US"/>
          </a:p>
        </p:txBody>
      </p:sp>
      <p:sp>
        <p:nvSpPr>
          <p:cNvPr id="10" name="Freeform 10"/>
          <p:cNvSpPr/>
          <p:nvPr/>
        </p:nvSpPr>
        <p:spPr>
          <a:xfrm>
            <a:off x="7697534" y="5684687"/>
            <a:ext cx="3406401" cy="2527347"/>
          </a:xfrm>
          <a:custGeom>
            <a:avLst/>
            <a:gdLst/>
            <a:ahLst/>
            <a:cxnLst/>
            <a:rect l="l" t="t" r="r" b="b"/>
            <a:pathLst>
              <a:path w="3406401" h="2527347">
                <a:moveTo>
                  <a:pt x="0" y="0"/>
                </a:moveTo>
                <a:lnTo>
                  <a:pt x="3406401" y="0"/>
                </a:lnTo>
                <a:lnTo>
                  <a:pt x="3406401" y="2527347"/>
                </a:lnTo>
                <a:lnTo>
                  <a:pt x="0" y="2527347"/>
                </a:lnTo>
                <a:lnTo>
                  <a:pt x="0" y="0"/>
                </a:lnTo>
                <a:close/>
              </a:path>
            </a:pathLst>
          </a:custGeom>
          <a:blipFill>
            <a:blip r:embed="rId7"/>
            <a:stretch>
              <a:fillRect t="-14668" r="-70502" b="-12210"/>
            </a:stretch>
          </a:blipFill>
        </p:spPr>
        <p:txBody>
          <a:bodyPr/>
          <a:lstStyle/>
          <a:p>
            <a:endParaRPr lang="en-US"/>
          </a:p>
        </p:txBody>
      </p:sp>
      <p:sp>
        <p:nvSpPr>
          <p:cNvPr id="11" name="Freeform 11"/>
          <p:cNvSpPr/>
          <p:nvPr/>
        </p:nvSpPr>
        <p:spPr>
          <a:xfrm>
            <a:off x="12866364" y="4123718"/>
            <a:ext cx="2824540" cy="2349122"/>
          </a:xfrm>
          <a:custGeom>
            <a:avLst/>
            <a:gdLst/>
            <a:ahLst/>
            <a:cxnLst/>
            <a:rect l="l" t="t" r="r" b="b"/>
            <a:pathLst>
              <a:path w="2824540" h="2349122">
                <a:moveTo>
                  <a:pt x="0" y="0"/>
                </a:moveTo>
                <a:lnTo>
                  <a:pt x="2824540" y="0"/>
                </a:lnTo>
                <a:lnTo>
                  <a:pt x="2824540" y="2349122"/>
                </a:lnTo>
                <a:lnTo>
                  <a:pt x="0" y="2349122"/>
                </a:lnTo>
                <a:lnTo>
                  <a:pt x="0" y="0"/>
                </a:lnTo>
                <a:close/>
              </a:path>
            </a:pathLst>
          </a:custGeom>
          <a:blipFill>
            <a:blip r:embed="rId8"/>
            <a:stretch>
              <a:fillRect/>
            </a:stretch>
          </a:blipFill>
        </p:spPr>
        <p:txBody>
          <a:bodyPr/>
          <a:lstStyle/>
          <a:p>
            <a:endParaRPr lang="en-US"/>
          </a:p>
        </p:txBody>
      </p:sp>
      <p:sp>
        <p:nvSpPr>
          <p:cNvPr id="12" name="TextBox 12"/>
          <p:cNvSpPr txBox="1"/>
          <p:nvPr/>
        </p:nvSpPr>
        <p:spPr>
          <a:xfrm>
            <a:off x="5184004" y="7339134"/>
            <a:ext cx="1846713" cy="661984"/>
          </a:xfrm>
          <a:prstGeom prst="rect">
            <a:avLst/>
          </a:prstGeom>
        </p:spPr>
        <p:txBody>
          <a:bodyPr lIns="0" tIns="0" rIns="0" bIns="0" rtlCol="0" anchor="t">
            <a:spAutoFit/>
          </a:bodyPr>
          <a:lstStyle/>
          <a:p>
            <a:pPr algn="l">
              <a:lnSpc>
                <a:spcPts val="2687"/>
              </a:lnSpc>
            </a:pPr>
            <a:r>
              <a:rPr lang="en-US" sz="2083" i="1" spc="-114">
                <a:solidFill>
                  <a:srgbClr val="FFFFFF"/>
                </a:solidFill>
                <a:latin typeface="Helios Italics"/>
                <a:ea typeface="Helios Italics"/>
                <a:cs typeface="Helios Italics"/>
                <a:sym typeface="Helios Italics"/>
              </a:rPr>
              <a:t>ULTRA-SONIC SENSOR</a:t>
            </a:r>
          </a:p>
        </p:txBody>
      </p:sp>
      <p:sp>
        <p:nvSpPr>
          <p:cNvPr id="13" name="TextBox 13"/>
          <p:cNvSpPr txBox="1"/>
          <p:nvPr/>
        </p:nvSpPr>
        <p:spPr>
          <a:xfrm>
            <a:off x="11385634" y="3122622"/>
            <a:ext cx="1846713" cy="328609"/>
          </a:xfrm>
          <a:prstGeom prst="rect">
            <a:avLst/>
          </a:prstGeom>
        </p:spPr>
        <p:txBody>
          <a:bodyPr lIns="0" tIns="0" rIns="0" bIns="0" rtlCol="0" anchor="t">
            <a:spAutoFit/>
          </a:bodyPr>
          <a:lstStyle/>
          <a:p>
            <a:pPr algn="l">
              <a:lnSpc>
                <a:spcPts val="2687"/>
              </a:lnSpc>
            </a:pPr>
            <a:r>
              <a:rPr lang="en-US" sz="2083" i="1" spc="-114">
                <a:solidFill>
                  <a:srgbClr val="FFFFFF"/>
                </a:solidFill>
                <a:latin typeface="Helios Italics"/>
                <a:ea typeface="Helios Italics"/>
                <a:cs typeface="Helios Italics"/>
                <a:sym typeface="Helios Italics"/>
              </a:rPr>
              <a:t>ESP-32 CAM</a:t>
            </a:r>
          </a:p>
        </p:txBody>
      </p:sp>
      <p:sp>
        <p:nvSpPr>
          <p:cNvPr id="14" name="TextBox 14"/>
          <p:cNvSpPr txBox="1"/>
          <p:nvPr/>
        </p:nvSpPr>
        <p:spPr>
          <a:xfrm>
            <a:off x="11372650" y="7206682"/>
            <a:ext cx="1846713" cy="661984"/>
          </a:xfrm>
          <a:prstGeom prst="rect">
            <a:avLst/>
          </a:prstGeom>
        </p:spPr>
        <p:txBody>
          <a:bodyPr lIns="0" tIns="0" rIns="0" bIns="0" rtlCol="0" anchor="t">
            <a:spAutoFit/>
          </a:bodyPr>
          <a:lstStyle/>
          <a:p>
            <a:pPr algn="l">
              <a:lnSpc>
                <a:spcPts val="2687"/>
              </a:lnSpc>
            </a:pPr>
            <a:r>
              <a:rPr lang="en-US" sz="2083" i="1" spc="-114">
                <a:solidFill>
                  <a:srgbClr val="FFFFFF"/>
                </a:solidFill>
                <a:latin typeface="Helios Italics"/>
                <a:ea typeface="Helios Italics"/>
                <a:cs typeface="Helios Italics"/>
                <a:sym typeface="Helios Italics"/>
              </a:rPr>
              <a:t>DISCARDED WOOD </a:t>
            </a:r>
          </a:p>
        </p:txBody>
      </p:sp>
      <p:sp>
        <p:nvSpPr>
          <p:cNvPr id="15" name="TextBox 15"/>
          <p:cNvSpPr txBox="1"/>
          <p:nvPr/>
        </p:nvSpPr>
        <p:spPr>
          <a:xfrm>
            <a:off x="5439752" y="3132147"/>
            <a:ext cx="1846713" cy="319084"/>
          </a:xfrm>
          <a:prstGeom prst="rect">
            <a:avLst/>
          </a:prstGeom>
        </p:spPr>
        <p:txBody>
          <a:bodyPr lIns="0" tIns="0" rIns="0" bIns="0" rtlCol="0" anchor="t">
            <a:spAutoFit/>
          </a:bodyPr>
          <a:lstStyle/>
          <a:p>
            <a:pPr algn="l">
              <a:lnSpc>
                <a:spcPts val="2687"/>
              </a:lnSpc>
            </a:pPr>
            <a:r>
              <a:rPr lang="en-US" sz="2083" b="1" spc="-114">
                <a:solidFill>
                  <a:srgbClr val="FFFFFF"/>
                </a:solidFill>
                <a:latin typeface="Amiri Bold"/>
                <a:ea typeface="Amiri Bold"/>
                <a:cs typeface="Amiri Bold"/>
                <a:sym typeface="Amiri Bold"/>
              </a:rPr>
              <a:t>OLD TOY CAR</a:t>
            </a:r>
          </a:p>
        </p:txBody>
      </p:sp>
      <p:sp>
        <p:nvSpPr>
          <p:cNvPr id="16" name="TextBox 16"/>
          <p:cNvSpPr txBox="1"/>
          <p:nvPr/>
        </p:nvSpPr>
        <p:spPr>
          <a:xfrm>
            <a:off x="7104556" y="-104500"/>
            <a:ext cx="2007850" cy="1543050"/>
          </a:xfrm>
          <a:prstGeom prst="rect">
            <a:avLst/>
          </a:prstGeom>
        </p:spPr>
        <p:txBody>
          <a:bodyPr lIns="0" tIns="0" rIns="0" bIns="0" rtlCol="0" anchor="t">
            <a:spAutoFit/>
          </a:bodyPr>
          <a:lstStyle/>
          <a:p>
            <a:pPr algn="l">
              <a:lnSpc>
                <a:spcPts val="12599"/>
              </a:lnSpc>
            </a:pPr>
            <a:r>
              <a:rPr lang="en-US" sz="9000" i="1">
                <a:solidFill>
                  <a:srgbClr val="FFFFFF"/>
                </a:solidFill>
                <a:latin typeface="Anton Italics"/>
                <a:ea typeface="Anton Italics"/>
                <a:cs typeface="Anton Italics"/>
                <a:sym typeface="Anton Italics"/>
              </a:rPr>
              <a:t>OUR</a:t>
            </a:r>
          </a:p>
        </p:txBody>
      </p:sp>
      <p:sp>
        <p:nvSpPr>
          <p:cNvPr id="17" name="TextBox 17"/>
          <p:cNvSpPr txBox="1"/>
          <p:nvPr/>
        </p:nvSpPr>
        <p:spPr>
          <a:xfrm>
            <a:off x="8672726" y="-104500"/>
            <a:ext cx="4862420" cy="1543050"/>
          </a:xfrm>
          <a:prstGeom prst="rect">
            <a:avLst/>
          </a:prstGeom>
        </p:spPr>
        <p:txBody>
          <a:bodyPr lIns="0" tIns="0" rIns="0" bIns="0" rtlCol="0" anchor="t">
            <a:spAutoFit/>
          </a:bodyPr>
          <a:lstStyle/>
          <a:p>
            <a:pPr algn="r">
              <a:lnSpc>
                <a:spcPts val="12599"/>
              </a:lnSpc>
            </a:pPr>
            <a:r>
              <a:rPr lang="en-US" sz="9000" i="1">
                <a:solidFill>
                  <a:srgbClr val="00ADB5"/>
                </a:solidFill>
                <a:latin typeface="Anton Italics"/>
                <a:ea typeface="Anton Italics"/>
                <a:cs typeface="Anton Italics"/>
                <a:sym typeface="Anton Italics"/>
              </a:rPr>
              <a:t>MATERIALS</a:t>
            </a:r>
          </a:p>
        </p:txBody>
      </p:sp>
      <p:sp>
        <p:nvSpPr>
          <p:cNvPr id="18" name="TextBox 18"/>
          <p:cNvSpPr txBox="1"/>
          <p:nvPr/>
        </p:nvSpPr>
        <p:spPr>
          <a:xfrm>
            <a:off x="5439752" y="6114169"/>
            <a:ext cx="946352" cy="862352"/>
          </a:xfrm>
          <a:prstGeom prst="rect">
            <a:avLst/>
          </a:prstGeom>
        </p:spPr>
        <p:txBody>
          <a:bodyPr lIns="0" tIns="0" rIns="0" bIns="0" rtlCol="0" anchor="t">
            <a:spAutoFit/>
          </a:bodyPr>
          <a:lstStyle/>
          <a:p>
            <a:pPr algn="l">
              <a:lnSpc>
                <a:spcPts val="7068"/>
              </a:lnSpc>
            </a:pPr>
            <a:r>
              <a:rPr lang="en-US" sz="5049" i="1">
                <a:solidFill>
                  <a:srgbClr val="FFFFFF"/>
                </a:solidFill>
                <a:latin typeface="Anton Italics"/>
                <a:ea typeface="Anton Italics"/>
                <a:cs typeface="Anton Italics"/>
                <a:sym typeface="Anton Italics"/>
              </a:rPr>
              <a:t>02</a:t>
            </a:r>
          </a:p>
        </p:txBody>
      </p:sp>
      <p:sp>
        <p:nvSpPr>
          <p:cNvPr id="19" name="TextBox 19"/>
          <p:cNvSpPr txBox="1"/>
          <p:nvPr/>
        </p:nvSpPr>
        <p:spPr>
          <a:xfrm>
            <a:off x="5416756" y="2165807"/>
            <a:ext cx="946352" cy="862352"/>
          </a:xfrm>
          <a:prstGeom prst="rect">
            <a:avLst/>
          </a:prstGeom>
        </p:spPr>
        <p:txBody>
          <a:bodyPr lIns="0" tIns="0" rIns="0" bIns="0" rtlCol="0" anchor="t">
            <a:spAutoFit/>
          </a:bodyPr>
          <a:lstStyle/>
          <a:p>
            <a:pPr algn="l">
              <a:lnSpc>
                <a:spcPts val="7068"/>
              </a:lnSpc>
            </a:pPr>
            <a:r>
              <a:rPr lang="en-US" sz="5049" i="1">
                <a:solidFill>
                  <a:srgbClr val="FFFFFF"/>
                </a:solidFill>
                <a:latin typeface="Anton Italics"/>
                <a:ea typeface="Anton Italics"/>
                <a:cs typeface="Anton Italics"/>
                <a:sym typeface="Anton Italics"/>
              </a:rPr>
              <a:t>01</a:t>
            </a:r>
          </a:p>
        </p:txBody>
      </p:sp>
      <p:sp>
        <p:nvSpPr>
          <p:cNvPr id="20" name="TextBox 20"/>
          <p:cNvSpPr txBox="1"/>
          <p:nvPr/>
        </p:nvSpPr>
        <p:spPr>
          <a:xfrm>
            <a:off x="11349654" y="2097666"/>
            <a:ext cx="946352" cy="862352"/>
          </a:xfrm>
          <a:prstGeom prst="rect">
            <a:avLst/>
          </a:prstGeom>
        </p:spPr>
        <p:txBody>
          <a:bodyPr lIns="0" tIns="0" rIns="0" bIns="0" rtlCol="0" anchor="t">
            <a:spAutoFit/>
          </a:bodyPr>
          <a:lstStyle/>
          <a:p>
            <a:pPr algn="l">
              <a:lnSpc>
                <a:spcPts val="7068"/>
              </a:lnSpc>
            </a:pPr>
            <a:r>
              <a:rPr lang="en-US" sz="5049" i="1">
                <a:solidFill>
                  <a:srgbClr val="FFFFFF"/>
                </a:solidFill>
                <a:latin typeface="Anton Italics"/>
                <a:ea typeface="Anton Italics"/>
                <a:cs typeface="Anton Italics"/>
                <a:sym typeface="Anton Italics"/>
              </a:rPr>
              <a:t>03</a:t>
            </a:r>
          </a:p>
        </p:txBody>
      </p:sp>
      <p:sp>
        <p:nvSpPr>
          <p:cNvPr id="21" name="TextBox 21"/>
          <p:cNvSpPr txBox="1"/>
          <p:nvPr/>
        </p:nvSpPr>
        <p:spPr>
          <a:xfrm>
            <a:off x="11577112" y="6249080"/>
            <a:ext cx="946352" cy="862352"/>
          </a:xfrm>
          <a:prstGeom prst="rect">
            <a:avLst/>
          </a:prstGeom>
        </p:spPr>
        <p:txBody>
          <a:bodyPr lIns="0" tIns="0" rIns="0" bIns="0" rtlCol="0" anchor="t">
            <a:spAutoFit/>
          </a:bodyPr>
          <a:lstStyle/>
          <a:p>
            <a:pPr algn="l">
              <a:lnSpc>
                <a:spcPts val="7068"/>
              </a:lnSpc>
            </a:pPr>
            <a:r>
              <a:rPr lang="en-US" sz="5049" i="1">
                <a:solidFill>
                  <a:srgbClr val="FFFFFF"/>
                </a:solidFill>
                <a:latin typeface="Anton Italics"/>
                <a:ea typeface="Anton Italics"/>
                <a:cs typeface="Anton Italics"/>
                <a:sym typeface="Anton Italics"/>
              </a:rPr>
              <a:t>04</a:t>
            </a:r>
          </a:p>
        </p:txBody>
      </p:sp>
      <p:sp>
        <p:nvSpPr>
          <p:cNvPr id="22" name="TextBox 22"/>
          <p:cNvSpPr txBox="1"/>
          <p:nvPr/>
        </p:nvSpPr>
        <p:spPr>
          <a:xfrm>
            <a:off x="15919740" y="5510858"/>
            <a:ext cx="1846713" cy="328609"/>
          </a:xfrm>
          <a:prstGeom prst="rect">
            <a:avLst/>
          </a:prstGeom>
        </p:spPr>
        <p:txBody>
          <a:bodyPr lIns="0" tIns="0" rIns="0" bIns="0" rtlCol="0" anchor="t">
            <a:spAutoFit/>
          </a:bodyPr>
          <a:lstStyle/>
          <a:p>
            <a:pPr algn="l">
              <a:lnSpc>
                <a:spcPts val="2687"/>
              </a:lnSpc>
            </a:pPr>
            <a:r>
              <a:rPr lang="en-US" sz="2083" i="1" spc="-114">
                <a:solidFill>
                  <a:srgbClr val="FFFFFF"/>
                </a:solidFill>
                <a:latin typeface="Helios Italics"/>
                <a:ea typeface="Helios Italics"/>
                <a:cs typeface="Helios Italics"/>
                <a:sym typeface="Helios Italics"/>
              </a:rPr>
              <a:t>JUMPER WIRES</a:t>
            </a:r>
          </a:p>
        </p:txBody>
      </p:sp>
      <p:sp>
        <p:nvSpPr>
          <p:cNvPr id="23" name="TextBox 23"/>
          <p:cNvSpPr txBox="1"/>
          <p:nvPr/>
        </p:nvSpPr>
        <p:spPr>
          <a:xfrm>
            <a:off x="16259979" y="4435927"/>
            <a:ext cx="946352" cy="862352"/>
          </a:xfrm>
          <a:prstGeom prst="rect">
            <a:avLst/>
          </a:prstGeom>
        </p:spPr>
        <p:txBody>
          <a:bodyPr lIns="0" tIns="0" rIns="0" bIns="0" rtlCol="0" anchor="t">
            <a:spAutoFit/>
          </a:bodyPr>
          <a:lstStyle/>
          <a:p>
            <a:pPr algn="l">
              <a:lnSpc>
                <a:spcPts val="7068"/>
              </a:lnSpc>
            </a:pPr>
            <a:r>
              <a:rPr lang="en-US" sz="5049" i="1">
                <a:solidFill>
                  <a:srgbClr val="FFFFFF"/>
                </a:solidFill>
                <a:latin typeface="Anton Italics"/>
                <a:ea typeface="Anton Italics"/>
                <a:cs typeface="Anton Italics"/>
                <a:sym typeface="Anton Italics"/>
              </a:rPr>
              <a:t>05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ADB5"/>
        </a:solidFill>
        <a:effectLst/>
      </p:bgPr>
    </p:bg>
    <p:spTree>
      <p:nvGrpSpPr>
        <p:cNvPr id="1" name=""/>
        <p:cNvGrpSpPr/>
        <p:nvPr/>
      </p:nvGrpSpPr>
      <p:grpSpPr>
        <a:xfrm>
          <a:off x="0" y="0"/>
          <a:ext cx="0" cy="0"/>
          <a:chOff x="0" y="0"/>
          <a:chExt cx="0" cy="0"/>
        </a:xfrm>
      </p:grpSpPr>
      <p:grpSp>
        <p:nvGrpSpPr>
          <p:cNvPr id="2" name="Group 2"/>
          <p:cNvGrpSpPr/>
          <p:nvPr/>
        </p:nvGrpSpPr>
        <p:grpSpPr>
          <a:xfrm>
            <a:off x="9144000" y="-2300353"/>
            <a:ext cx="12952518" cy="15701189"/>
            <a:chOff x="0" y="0"/>
            <a:chExt cx="745777" cy="904040"/>
          </a:xfrm>
        </p:grpSpPr>
        <p:sp>
          <p:nvSpPr>
            <p:cNvPr id="3" name="Freeform 3"/>
            <p:cNvSpPr/>
            <p:nvPr/>
          </p:nvSpPr>
          <p:spPr>
            <a:xfrm>
              <a:off x="0" y="0"/>
              <a:ext cx="745777" cy="904040"/>
            </a:xfrm>
            <a:custGeom>
              <a:avLst/>
              <a:gdLst/>
              <a:ahLst/>
              <a:cxnLst/>
              <a:rect l="l" t="t" r="r" b="b"/>
              <a:pathLst>
                <a:path w="745777" h="904040">
                  <a:moveTo>
                    <a:pt x="203200" y="0"/>
                  </a:moveTo>
                  <a:lnTo>
                    <a:pt x="745777" y="0"/>
                  </a:lnTo>
                  <a:lnTo>
                    <a:pt x="542577" y="904040"/>
                  </a:lnTo>
                  <a:lnTo>
                    <a:pt x="0" y="904040"/>
                  </a:lnTo>
                  <a:lnTo>
                    <a:pt x="203200" y="0"/>
                  </a:lnTo>
                  <a:close/>
                </a:path>
              </a:pathLst>
            </a:custGeom>
            <a:solidFill>
              <a:srgbClr val="000000"/>
            </a:solidFill>
          </p:spPr>
          <p:txBody>
            <a:bodyPr/>
            <a:lstStyle/>
            <a:p>
              <a:endParaRPr lang="en-US"/>
            </a:p>
          </p:txBody>
        </p:sp>
        <p:sp>
          <p:nvSpPr>
            <p:cNvPr id="4" name="TextBox 4"/>
            <p:cNvSpPr txBox="1"/>
            <p:nvPr/>
          </p:nvSpPr>
          <p:spPr>
            <a:xfrm>
              <a:off x="101600" y="-9525"/>
              <a:ext cx="542577" cy="913565"/>
            </a:xfrm>
            <a:prstGeom prst="rect">
              <a:avLst/>
            </a:prstGeom>
          </p:spPr>
          <p:txBody>
            <a:bodyPr lIns="50800" tIns="50800" rIns="50800" bIns="50800" rtlCol="0" anchor="ctr"/>
            <a:lstStyle/>
            <a:p>
              <a:pPr algn="ctr">
                <a:lnSpc>
                  <a:spcPts val="1874"/>
                </a:lnSpc>
              </a:pPr>
              <a:endParaRPr/>
            </a:p>
          </p:txBody>
        </p:sp>
      </p:grpSp>
      <p:sp>
        <p:nvSpPr>
          <p:cNvPr id="5" name="Freeform 5"/>
          <p:cNvSpPr/>
          <p:nvPr/>
        </p:nvSpPr>
        <p:spPr>
          <a:xfrm rot="-4578575">
            <a:off x="7183349" y="1724649"/>
            <a:ext cx="5892065" cy="1992589"/>
          </a:xfrm>
          <a:custGeom>
            <a:avLst/>
            <a:gdLst/>
            <a:ahLst/>
            <a:cxnLst/>
            <a:rect l="l" t="t" r="r" b="b"/>
            <a:pathLst>
              <a:path w="5892065" h="1992589">
                <a:moveTo>
                  <a:pt x="0" y="0"/>
                </a:moveTo>
                <a:lnTo>
                  <a:pt x="5892065" y="0"/>
                </a:lnTo>
                <a:lnTo>
                  <a:pt x="5892065" y="1992589"/>
                </a:lnTo>
                <a:lnTo>
                  <a:pt x="0" y="19925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rot="-4578575" flipH="1">
            <a:off x="14522050" y="-1373481"/>
            <a:ext cx="5892065" cy="1992589"/>
          </a:xfrm>
          <a:custGeom>
            <a:avLst/>
            <a:gdLst/>
            <a:ahLst/>
            <a:cxnLst/>
            <a:rect l="l" t="t" r="r" b="b"/>
            <a:pathLst>
              <a:path w="5892065" h="1992589">
                <a:moveTo>
                  <a:pt x="5892065" y="0"/>
                </a:moveTo>
                <a:lnTo>
                  <a:pt x="0" y="0"/>
                </a:lnTo>
                <a:lnTo>
                  <a:pt x="0" y="1992589"/>
                </a:lnTo>
                <a:lnTo>
                  <a:pt x="5892065" y="1992589"/>
                </a:lnTo>
                <a:lnTo>
                  <a:pt x="5892065"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7" name="Group 7"/>
          <p:cNvGrpSpPr/>
          <p:nvPr/>
        </p:nvGrpSpPr>
        <p:grpSpPr>
          <a:xfrm>
            <a:off x="11995840" y="1202134"/>
            <a:ext cx="4943585" cy="4348108"/>
            <a:chOff x="0" y="0"/>
            <a:chExt cx="1244088" cy="1094232"/>
          </a:xfrm>
        </p:grpSpPr>
        <p:sp>
          <p:nvSpPr>
            <p:cNvPr id="8" name="Freeform 8"/>
            <p:cNvSpPr/>
            <p:nvPr/>
          </p:nvSpPr>
          <p:spPr>
            <a:xfrm>
              <a:off x="0" y="0"/>
              <a:ext cx="1244088" cy="1094232"/>
            </a:xfrm>
            <a:custGeom>
              <a:avLst/>
              <a:gdLst/>
              <a:ahLst/>
              <a:cxnLst/>
              <a:rect l="l" t="t" r="r" b="b"/>
              <a:pathLst>
                <a:path w="1244088" h="1094232">
                  <a:moveTo>
                    <a:pt x="36019" y="0"/>
                  </a:moveTo>
                  <a:lnTo>
                    <a:pt x="1208069" y="0"/>
                  </a:lnTo>
                  <a:cubicBezTo>
                    <a:pt x="1227962" y="0"/>
                    <a:pt x="1244088" y="16126"/>
                    <a:pt x="1244088" y="36019"/>
                  </a:cubicBezTo>
                  <a:lnTo>
                    <a:pt x="1244088" y="1058213"/>
                  </a:lnTo>
                  <a:cubicBezTo>
                    <a:pt x="1244088" y="1078106"/>
                    <a:pt x="1227962" y="1094232"/>
                    <a:pt x="1208069" y="1094232"/>
                  </a:cubicBezTo>
                  <a:lnTo>
                    <a:pt x="36019" y="1094232"/>
                  </a:lnTo>
                  <a:cubicBezTo>
                    <a:pt x="26466" y="1094232"/>
                    <a:pt x="17305" y="1090437"/>
                    <a:pt x="10550" y="1083682"/>
                  </a:cubicBezTo>
                  <a:cubicBezTo>
                    <a:pt x="3795" y="1076927"/>
                    <a:pt x="0" y="1067766"/>
                    <a:pt x="0" y="1058213"/>
                  </a:cubicBezTo>
                  <a:lnTo>
                    <a:pt x="0" y="36019"/>
                  </a:lnTo>
                  <a:cubicBezTo>
                    <a:pt x="0" y="16126"/>
                    <a:pt x="16126" y="0"/>
                    <a:pt x="36019" y="0"/>
                  </a:cubicBezTo>
                  <a:close/>
                </a:path>
              </a:pathLst>
            </a:custGeom>
            <a:blipFill>
              <a:blip r:embed="rId4"/>
              <a:stretch>
                <a:fillRect l="-8636" r="-8636"/>
              </a:stretch>
            </a:blipFill>
          </p:spPr>
          <p:txBody>
            <a:bodyPr/>
            <a:lstStyle/>
            <a:p>
              <a:endParaRPr lang="en-US"/>
            </a:p>
          </p:txBody>
        </p:sp>
      </p:grpSp>
      <p:grpSp>
        <p:nvGrpSpPr>
          <p:cNvPr id="9" name="Group 9"/>
          <p:cNvGrpSpPr/>
          <p:nvPr/>
        </p:nvGrpSpPr>
        <p:grpSpPr>
          <a:xfrm>
            <a:off x="11794624" y="5940166"/>
            <a:ext cx="5144801" cy="3890739"/>
            <a:chOff x="0" y="0"/>
            <a:chExt cx="1497804" cy="1132710"/>
          </a:xfrm>
        </p:grpSpPr>
        <p:sp>
          <p:nvSpPr>
            <p:cNvPr id="10" name="Freeform 10"/>
            <p:cNvSpPr/>
            <p:nvPr/>
          </p:nvSpPr>
          <p:spPr>
            <a:xfrm>
              <a:off x="0" y="0"/>
              <a:ext cx="1497804" cy="1132710"/>
            </a:xfrm>
            <a:custGeom>
              <a:avLst/>
              <a:gdLst/>
              <a:ahLst/>
              <a:cxnLst/>
              <a:rect l="l" t="t" r="r" b="b"/>
              <a:pathLst>
                <a:path w="1497804" h="1132710">
                  <a:moveTo>
                    <a:pt x="34611" y="0"/>
                  </a:moveTo>
                  <a:lnTo>
                    <a:pt x="1463194" y="0"/>
                  </a:lnTo>
                  <a:cubicBezTo>
                    <a:pt x="1482309" y="0"/>
                    <a:pt x="1497804" y="15496"/>
                    <a:pt x="1497804" y="34611"/>
                  </a:cubicBezTo>
                  <a:lnTo>
                    <a:pt x="1497804" y="1098099"/>
                  </a:lnTo>
                  <a:cubicBezTo>
                    <a:pt x="1497804" y="1117214"/>
                    <a:pt x="1482309" y="1132710"/>
                    <a:pt x="1463194" y="1132710"/>
                  </a:cubicBezTo>
                  <a:lnTo>
                    <a:pt x="34611" y="1132710"/>
                  </a:lnTo>
                  <a:cubicBezTo>
                    <a:pt x="25431" y="1132710"/>
                    <a:pt x="16628" y="1129063"/>
                    <a:pt x="10137" y="1122572"/>
                  </a:cubicBezTo>
                  <a:cubicBezTo>
                    <a:pt x="3646" y="1116082"/>
                    <a:pt x="0" y="1107278"/>
                    <a:pt x="0" y="1098099"/>
                  </a:cubicBezTo>
                  <a:lnTo>
                    <a:pt x="0" y="34611"/>
                  </a:lnTo>
                  <a:cubicBezTo>
                    <a:pt x="0" y="15496"/>
                    <a:pt x="15496" y="0"/>
                    <a:pt x="34611" y="0"/>
                  </a:cubicBezTo>
                  <a:close/>
                </a:path>
              </a:pathLst>
            </a:custGeom>
            <a:blipFill>
              <a:blip r:embed="rId5"/>
              <a:stretch>
                <a:fillRect l="-5751" t="-7070" b="-7070"/>
              </a:stretch>
            </a:blipFill>
          </p:spPr>
          <p:txBody>
            <a:bodyPr/>
            <a:lstStyle/>
            <a:p>
              <a:endParaRPr lang="en-US"/>
            </a:p>
          </p:txBody>
        </p:sp>
      </p:grpSp>
      <p:sp>
        <p:nvSpPr>
          <p:cNvPr id="11" name="TextBox 11"/>
          <p:cNvSpPr txBox="1"/>
          <p:nvPr/>
        </p:nvSpPr>
        <p:spPr>
          <a:xfrm>
            <a:off x="276380" y="42556"/>
            <a:ext cx="16241153" cy="986144"/>
          </a:xfrm>
          <a:prstGeom prst="rect">
            <a:avLst/>
          </a:prstGeom>
        </p:spPr>
        <p:txBody>
          <a:bodyPr lIns="0" tIns="0" rIns="0" bIns="0" rtlCol="0" anchor="t">
            <a:spAutoFit/>
          </a:bodyPr>
          <a:lstStyle/>
          <a:p>
            <a:pPr algn="l">
              <a:lnSpc>
                <a:spcPts val="8120"/>
              </a:lnSpc>
            </a:pPr>
            <a:r>
              <a:rPr lang="en-US" sz="5800" i="1">
                <a:solidFill>
                  <a:srgbClr val="FFFFFF"/>
                </a:solidFill>
                <a:latin typeface="Anton Italics"/>
                <a:ea typeface="Anton Italics"/>
                <a:cs typeface="Anton Italics"/>
                <a:sym typeface="Anton Italics"/>
              </a:rPr>
              <a:t>METHODOLOGY (CONSTRUCTION STEPS) </a:t>
            </a:r>
          </a:p>
        </p:txBody>
      </p:sp>
      <p:sp>
        <p:nvSpPr>
          <p:cNvPr id="12" name="TextBox 12"/>
          <p:cNvSpPr txBox="1"/>
          <p:nvPr/>
        </p:nvSpPr>
        <p:spPr>
          <a:xfrm>
            <a:off x="-226548" y="1555084"/>
            <a:ext cx="12021172" cy="4385082"/>
          </a:xfrm>
          <a:prstGeom prst="rect">
            <a:avLst/>
          </a:prstGeom>
        </p:spPr>
        <p:txBody>
          <a:bodyPr lIns="0" tIns="0" rIns="0" bIns="0" rtlCol="0" anchor="t">
            <a:spAutoFit/>
          </a:bodyPr>
          <a:lstStyle/>
          <a:p>
            <a:pPr marL="831922" lvl="1" indent="-415961" algn="l">
              <a:lnSpc>
                <a:spcPts val="4970"/>
              </a:lnSpc>
              <a:buFont typeface="Arial"/>
              <a:buChar char="•"/>
            </a:pPr>
            <a:r>
              <a:rPr lang="en-US" sz="3853" spc="-211">
                <a:solidFill>
                  <a:srgbClr val="000000"/>
                </a:solidFill>
                <a:latin typeface="Open Sans"/>
                <a:ea typeface="Open Sans"/>
                <a:cs typeface="Open Sans"/>
                <a:sym typeface="Open Sans"/>
              </a:rPr>
              <a:t>EXTRACT MICROCONTROLLER FROM DISCARDED CAMERA</a:t>
            </a:r>
          </a:p>
          <a:p>
            <a:pPr marL="831922" lvl="1" indent="-415961" algn="l">
              <a:lnSpc>
                <a:spcPts val="4970"/>
              </a:lnSpc>
              <a:buFont typeface="Arial"/>
              <a:buChar char="•"/>
            </a:pPr>
            <a:r>
              <a:rPr lang="en-US" sz="3853" spc="-211">
                <a:solidFill>
                  <a:srgbClr val="000000"/>
                </a:solidFill>
                <a:latin typeface="Open Sans"/>
                <a:ea typeface="Open Sans"/>
                <a:cs typeface="Open Sans"/>
                <a:sym typeface="Open Sans"/>
              </a:rPr>
              <a:t>CALIBRATE ULTRASONIC SENSOR</a:t>
            </a:r>
          </a:p>
          <a:p>
            <a:pPr marL="831922" lvl="1" indent="-415961" algn="l">
              <a:lnSpc>
                <a:spcPts val="4970"/>
              </a:lnSpc>
              <a:buFont typeface="Arial"/>
              <a:buChar char="•"/>
            </a:pPr>
            <a:r>
              <a:rPr lang="en-US" sz="3853" spc="-211">
                <a:solidFill>
                  <a:srgbClr val="000000"/>
                </a:solidFill>
                <a:latin typeface="Open Sans"/>
                <a:ea typeface="Open Sans"/>
                <a:cs typeface="Open Sans"/>
                <a:sym typeface="Open Sans"/>
              </a:rPr>
              <a:t>CONNECT COMPONENTS USING OLD WIRES</a:t>
            </a:r>
          </a:p>
          <a:p>
            <a:pPr marL="831922" lvl="1" indent="-415961" algn="l">
              <a:lnSpc>
                <a:spcPts val="4970"/>
              </a:lnSpc>
              <a:buFont typeface="Arial"/>
              <a:buChar char="•"/>
            </a:pPr>
            <a:r>
              <a:rPr lang="en-US" sz="3853" spc="-211">
                <a:solidFill>
                  <a:srgbClr val="000000"/>
                </a:solidFill>
                <a:latin typeface="Open Sans"/>
                <a:ea typeface="Open Sans"/>
                <a:cs typeface="Open Sans"/>
                <a:sym typeface="Open Sans"/>
              </a:rPr>
              <a:t>PROGRAM ESP32-CAM</a:t>
            </a:r>
          </a:p>
          <a:p>
            <a:pPr marL="831922" lvl="1" indent="-415961" algn="l">
              <a:lnSpc>
                <a:spcPts val="4970"/>
              </a:lnSpc>
              <a:buFont typeface="Arial"/>
              <a:buChar char="•"/>
            </a:pPr>
            <a:r>
              <a:rPr lang="en-US" sz="3853" spc="-211">
                <a:solidFill>
                  <a:srgbClr val="000000"/>
                </a:solidFill>
                <a:latin typeface="Open Sans"/>
                <a:ea typeface="Open Sans"/>
                <a:cs typeface="Open Sans"/>
                <a:sym typeface="Open Sans"/>
              </a:rPr>
              <a:t>DEVELOP IOT WEBSITE (HTML, CSS, JAVA)</a:t>
            </a:r>
          </a:p>
          <a:p>
            <a:pPr marL="831922" lvl="1" indent="-415961" algn="l">
              <a:lnSpc>
                <a:spcPts val="4970"/>
              </a:lnSpc>
              <a:buFont typeface="Arial"/>
              <a:buChar char="•"/>
            </a:pPr>
            <a:r>
              <a:rPr lang="en-US" sz="3853" spc="-211">
                <a:solidFill>
                  <a:srgbClr val="000000"/>
                </a:solidFill>
                <a:latin typeface="Open Sans"/>
                <a:ea typeface="Open Sans"/>
                <a:cs typeface="Open Sans"/>
                <a:sym typeface="Open Sans"/>
              </a:rPr>
              <a:t>ASSEMBLE SYSTEM ON TOY CAR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185434" y="0"/>
            <a:ext cx="8102566" cy="10287000"/>
            <a:chOff x="0" y="0"/>
            <a:chExt cx="8102366" cy="10286746"/>
          </a:xfrm>
        </p:grpSpPr>
        <p:sp>
          <p:nvSpPr>
            <p:cNvPr id="3" name="Freeform 3"/>
            <p:cNvSpPr/>
            <p:nvPr/>
          </p:nvSpPr>
          <p:spPr>
            <a:xfrm>
              <a:off x="-114" y="-127"/>
              <a:ext cx="8102480" cy="10286873"/>
            </a:xfrm>
            <a:custGeom>
              <a:avLst/>
              <a:gdLst/>
              <a:ahLst/>
              <a:cxnLst/>
              <a:rect l="l" t="t" r="r" b="b"/>
              <a:pathLst>
                <a:path w="8102480" h="10286873">
                  <a:moveTo>
                    <a:pt x="8102480" y="10251440"/>
                  </a:moveTo>
                  <a:cubicBezTo>
                    <a:pt x="8102480" y="10284587"/>
                    <a:pt x="8092432" y="10286873"/>
                    <a:pt x="8066239" y="10286873"/>
                  </a:cubicBezTo>
                  <a:cubicBezTo>
                    <a:pt x="5377890" y="10286238"/>
                    <a:pt x="2689660" y="10286238"/>
                    <a:pt x="1310" y="10286238"/>
                  </a:cubicBezTo>
                  <a:cubicBezTo>
                    <a:pt x="-2680" y="10272395"/>
                    <a:pt x="3463" y="10259822"/>
                    <a:pt x="6214" y="10246995"/>
                  </a:cubicBezTo>
                  <a:cubicBezTo>
                    <a:pt x="124383" y="9685401"/>
                    <a:pt x="242672" y="9123934"/>
                    <a:pt x="361200" y="8562467"/>
                  </a:cubicBezTo>
                  <a:cubicBezTo>
                    <a:pt x="530201" y="7761986"/>
                    <a:pt x="699561" y="6961632"/>
                    <a:pt x="868443" y="6161151"/>
                  </a:cubicBezTo>
                  <a:cubicBezTo>
                    <a:pt x="1077033" y="5172583"/>
                    <a:pt x="1285144" y="4184015"/>
                    <a:pt x="1493615" y="3195574"/>
                  </a:cubicBezTo>
                  <a:cubicBezTo>
                    <a:pt x="1705435" y="2191385"/>
                    <a:pt x="1917374" y="1187323"/>
                    <a:pt x="2129791" y="183261"/>
                  </a:cubicBezTo>
                  <a:cubicBezTo>
                    <a:pt x="2142709" y="122174"/>
                    <a:pt x="2150961" y="59690"/>
                    <a:pt x="2171892" y="635"/>
                  </a:cubicBezTo>
                  <a:cubicBezTo>
                    <a:pt x="4136755" y="635"/>
                    <a:pt x="6101617" y="635"/>
                    <a:pt x="8066479" y="0"/>
                  </a:cubicBezTo>
                  <a:cubicBezTo>
                    <a:pt x="8093151" y="0"/>
                    <a:pt x="8102240" y="3429"/>
                    <a:pt x="8102240" y="35814"/>
                  </a:cubicBezTo>
                  <a:cubicBezTo>
                    <a:pt x="8101523" y="3441065"/>
                    <a:pt x="8101523" y="6846316"/>
                    <a:pt x="8102480" y="10251440"/>
                  </a:cubicBezTo>
                  <a:close/>
                </a:path>
              </a:pathLst>
            </a:custGeom>
            <a:blipFill>
              <a:blip r:embed="rId2"/>
              <a:stretch>
                <a:fillRect l="-34641" t="-1" r="-34641" b="-1"/>
              </a:stretch>
            </a:blipFill>
          </p:spPr>
          <p:txBody>
            <a:bodyPr/>
            <a:lstStyle/>
            <a:p>
              <a:endParaRPr lang="en-US"/>
            </a:p>
          </p:txBody>
        </p:sp>
      </p:grpSp>
      <p:sp>
        <p:nvSpPr>
          <p:cNvPr id="4" name="Freeform 4"/>
          <p:cNvSpPr/>
          <p:nvPr/>
        </p:nvSpPr>
        <p:spPr>
          <a:xfrm rot="-950962">
            <a:off x="9102434" y="-958994"/>
            <a:ext cx="4594247" cy="4594247"/>
          </a:xfrm>
          <a:custGeom>
            <a:avLst/>
            <a:gdLst/>
            <a:ahLst/>
            <a:cxnLst/>
            <a:rect l="l" t="t" r="r" b="b"/>
            <a:pathLst>
              <a:path w="4594247" h="4594247">
                <a:moveTo>
                  <a:pt x="0" y="0"/>
                </a:moveTo>
                <a:lnTo>
                  <a:pt x="4594247" y="0"/>
                </a:lnTo>
                <a:lnTo>
                  <a:pt x="4594247" y="4594247"/>
                </a:lnTo>
                <a:lnTo>
                  <a:pt x="0" y="459424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rot="-950962">
            <a:off x="8958085" y="-705213"/>
            <a:ext cx="3360891" cy="3360891"/>
          </a:xfrm>
          <a:custGeom>
            <a:avLst/>
            <a:gdLst/>
            <a:ahLst/>
            <a:cxnLst/>
            <a:rect l="l" t="t" r="r" b="b"/>
            <a:pathLst>
              <a:path w="3360891" h="3360891">
                <a:moveTo>
                  <a:pt x="0" y="0"/>
                </a:moveTo>
                <a:lnTo>
                  <a:pt x="3360891" y="0"/>
                </a:lnTo>
                <a:lnTo>
                  <a:pt x="3360891" y="3360891"/>
                </a:lnTo>
                <a:lnTo>
                  <a:pt x="0" y="33608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9938400">
            <a:off x="16337080" y="7305667"/>
            <a:ext cx="3360891" cy="3360891"/>
          </a:xfrm>
          <a:custGeom>
            <a:avLst/>
            <a:gdLst/>
            <a:ahLst/>
            <a:cxnLst/>
            <a:rect l="l" t="t" r="r" b="b"/>
            <a:pathLst>
              <a:path w="3360891" h="3360891">
                <a:moveTo>
                  <a:pt x="0" y="0"/>
                </a:moveTo>
                <a:lnTo>
                  <a:pt x="3360891" y="0"/>
                </a:lnTo>
                <a:lnTo>
                  <a:pt x="3360891" y="3360891"/>
                </a:lnTo>
                <a:lnTo>
                  <a:pt x="0" y="33608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rot="9938400">
            <a:off x="15068142" y="8606554"/>
            <a:ext cx="3360891" cy="3360891"/>
          </a:xfrm>
          <a:custGeom>
            <a:avLst/>
            <a:gdLst/>
            <a:ahLst/>
            <a:cxnLst/>
            <a:rect l="l" t="t" r="r" b="b"/>
            <a:pathLst>
              <a:path w="3360891" h="3360891">
                <a:moveTo>
                  <a:pt x="0" y="0"/>
                </a:moveTo>
                <a:lnTo>
                  <a:pt x="3360891" y="0"/>
                </a:lnTo>
                <a:lnTo>
                  <a:pt x="3360891" y="3360892"/>
                </a:lnTo>
                <a:lnTo>
                  <a:pt x="0" y="3360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150254" y="517086"/>
            <a:ext cx="6249448" cy="821044"/>
          </a:xfrm>
          <a:prstGeom prst="rect">
            <a:avLst/>
          </a:prstGeom>
        </p:spPr>
        <p:txBody>
          <a:bodyPr lIns="0" tIns="0" rIns="0" bIns="0" rtlCol="0" anchor="t">
            <a:spAutoFit/>
          </a:bodyPr>
          <a:lstStyle/>
          <a:p>
            <a:pPr algn="l">
              <a:lnSpc>
                <a:spcPts val="6720"/>
              </a:lnSpc>
            </a:pPr>
            <a:r>
              <a:rPr lang="en-US" sz="4800" i="1">
                <a:solidFill>
                  <a:srgbClr val="00ADB5"/>
                </a:solidFill>
                <a:latin typeface="Anton Italics"/>
                <a:ea typeface="Anton Italics"/>
                <a:cs typeface="Anton Italics"/>
                <a:sym typeface="Anton Italics"/>
              </a:rPr>
              <a:t> TEST PLAN &amp; SAFETY</a:t>
            </a:r>
          </a:p>
        </p:txBody>
      </p:sp>
      <p:sp>
        <p:nvSpPr>
          <p:cNvPr id="9" name="TextBox 9"/>
          <p:cNvSpPr txBox="1"/>
          <p:nvPr/>
        </p:nvSpPr>
        <p:spPr>
          <a:xfrm>
            <a:off x="-328715" y="1673493"/>
            <a:ext cx="11275804" cy="5467535"/>
          </a:xfrm>
          <a:prstGeom prst="rect">
            <a:avLst/>
          </a:prstGeom>
        </p:spPr>
        <p:txBody>
          <a:bodyPr lIns="0" tIns="0" rIns="0" bIns="0" rtlCol="0" anchor="t">
            <a:spAutoFit/>
          </a:bodyPr>
          <a:lstStyle/>
          <a:p>
            <a:pPr algn="just">
              <a:lnSpc>
                <a:spcPts val="4988"/>
              </a:lnSpc>
            </a:pPr>
            <a:endParaRPr/>
          </a:p>
          <a:p>
            <a:pPr marL="834918" lvl="1" indent="-417459" algn="just">
              <a:lnSpc>
                <a:spcPts val="4988"/>
              </a:lnSpc>
              <a:buFont typeface="Arial"/>
              <a:buChar char="•"/>
            </a:pPr>
            <a:r>
              <a:rPr lang="en-US" sz="3867" spc="-212">
                <a:solidFill>
                  <a:srgbClr val="FFFFFF"/>
                </a:solidFill>
                <a:latin typeface="Open Sans"/>
                <a:ea typeface="Open Sans"/>
                <a:cs typeface="Open Sans"/>
                <a:sym typeface="Open Sans"/>
              </a:rPr>
              <a:t>Safety precautions:</a:t>
            </a:r>
          </a:p>
          <a:p>
            <a:pPr algn="just">
              <a:lnSpc>
                <a:spcPts val="4988"/>
              </a:lnSpc>
            </a:pPr>
            <a:r>
              <a:rPr lang="en-US" sz="3867" spc="-212">
                <a:solidFill>
                  <a:srgbClr val="FFFFFF"/>
                </a:solidFill>
                <a:latin typeface="Open Sans"/>
                <a:ea typeface="Open Sans"/>
                <a:cs typeface="Open Sans"/>
                <a:sym typeface="Open Sans"/>
              </a:rPr>
              <a:t>         -  Gloves</a:t>
            </a:r>
          </a:p>
          <a:p>
            <a:pPr algn="just">
              <a:lnSpc>
                <a:spcPts val="4988"/>
              </a:lnSpc>
              <a:spcBef>
                <a:spcPct val="0"/>
              </a:spcBef>
            </a:pPr>
            <a:r>
              <a:rPr lang="en-US" sz="3867" spc="-212">
                <a:solidFill>
                  <a:srgbClr val="FFFFFF"/>
                </a:solidFill>
                <a:latin typeface="Open Sans"/>
                <a:ea typeface="Open Sans"/>
                <a:cs typeface="Open Sans"/>
                <a:sym typeface="Open Sans"/>
              </a:rPr>
              <a:t>         - Lab coats</a:t>
            </a:r>
          </a:p>
          <a:p>
            <a:pPr marL="834918" lvl="1" indent="-417459" algn="just">
              <a:lnSpc>
                <a:spcPts val="4988"/>
              </a:lnSpc>
              <a:spcBef>
                <a:spcPct val="0"/>
              </a:spcBef>
              <a:buFont typeface="Arial"/>
              <a:buChar char="•"/>
            </a:pPr>
            <a:r>
              <a:rPr lang="en-US" sz="3867" u="none" strike="noStrike" spc="-212">
                <a:solidFill>
                  <a:srgbClr val="FFFFFF"/>
                </a:solidFill>
                <a:latin typeface="Open Sans"/>
                <a:ea typeface="Open Sans"/>
                <a:cs typeface="Open Sans"/>
                <a:sym typeface="Open Sans"/>
              </a:rPr>
              <a:t>Calibration under lab conditions</a:t>
            </a:r>
          </a:p>
          <a:p>
            <a:pPr marL="834918" lvl="1" indent="-417459" algn="just">
              <a:lnSpc>
                <a:spcPts val="4988"/>
              </a:lnSpc>
              <a:buFont typeface="Arial"/>
              <a:buChar char="•"/>
            </a:pPr>
            <a:r>
              <a:rPr lang="en-US" sz="3867" u="none" strike="noStrike" spc="-212">
                <a:solidFill>
                  <a:srgbClr val="FFFFFF"/>
                </a:solidFill>
                <a:latin typeface="Open Sans"/>
                <a:ea typeface="Open Sans"/>
                <a:cs typeface="Open Sans"/>
                <a:sym typeface="Open Sans"/>
              </a:rPr>
              <a:t>Manual vs sensor measurements</a:t>
            </a:r>
          </a:p>
          <a:p>
            <a:pPr marL="834918" lvl="1" indent="-417459" algn="just">
              <a:lnSpc>
                <a:spcPts val="4988"/>
              </a:lnSpc>
              <a:buFont typeface="Arial"/>
              <a:buChar char="•"/>
            </a:pPr>
            <a:r>
              <a:rPr lang="en-US" sz="3867" u="none" strike="noStrike" spc="-212">
                <a:solidFill>
                  <a:srgbClr val="FFFFFF"/>
                </a:solidFill>
                <a:latin typeface="Open Sans"/>
                <a:ea typeface="Open Sans"/>
                <a:cs typeface="Open Sans"/>
                <a:sym typeface="Open Sans"/>
              </a:rPr>
              <a:t>Controlled environment</a:t>
            </a:r>
          </a:p>
          <a:p>
            <a:pPr marL="834918" lvl="1" indent="-417459" algn="just">
              <a:lnSpc>
                <a:spcPts val="4988"/>
              </a:lnSpc>
              <a:buFont typeface="Arial"/>
              <a:buChar char="•"/>
            </a:pPr>
            <a:r>
              <a:rPr lang="en-US" sz="3867" u="none" strike="noStrike" spc="-212">
                <a:solidFill>
                  <a:srgbClr val="FFFFFF"/>
                </a:solidFill>
                <a:latin typeface="Open Sans"/>
                <a:ea typeface="Open Sans"/>
                <a:cs typeface="Open Sans"/>
                <a:sym typeface="Open Sans"/>
              </a:rPr>
              <a:t>Taking the results from the website to be analyzed </a:t>
            </a:r>
          </a:p>
          <a:p>
            <a:pPr marL="0" lvl="1" indent="0" algn="just">
              <a:lnSpc>
                <a:spcPts val="3569"/>
              </a:lnSpc>
              <a:spcBef>
                <a:spcPct val="0"/>
              </a:spcBef>
            </a:pPr>
            <a:endParaRPr lang="en-US" sz="3867" u="none" strike="noStrike" spc="-212">
              <a:solidFill>
                <a:srgbClr val="FFFFFF"/>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ADB5"/>
        </a:solidFill>
        <a:effectLst/>
      </p:bgPr>
    </p:bg>
    <p:spTree>
      <p:nvGrpSpPr>
        <p:cNvPr id="1" name=""/>
        <p:cNvGrpSpPr/>
        <p:nvPr/>
      </p:nvGrpSpPr>
      <p:grpSpPr>
        <a:xfrm>
          <a:off x="0" y="0"/>
          <a:ext cx="0" cy="0"/>
          <a:chOff x="0" y="0"/>
          <a:chExt cx="0" cy="0"/>
        </a:xfrm>
      </p:grpSpPr>
      <p:sp>
        <p:nvSpPr>
          <p:cNvPr id="2" name="TextBox 2"/>
          <p:cNvSpPr txBox="1"/>
          <p:nvPr/>
        </p:nvSpPr>
        <p:spPr>
          <a:xfrm>
            <a:off x="132159" y="-75983"/>
            <a:ext cx="13035113" cy="1543050"/>
          </a:xfrm>
          <a:prstGeom prst="rect">
            <a:avLst/>
          </a:prstGeom>
        </p:spPr>
        <p:txBody>
          <a:bodyPr lIns="0" tIns="0" rIns="0" bIns="0" rtlCol="0" anchor="t">
            <a:spAutoFit/>
          </a:bodyPr>
          <a:lstStyle/>
          <a:p>
            <a:pPr algn="l">
              <a:lnSpc>
                <a:spcPts val="12599"/>
              </a:lnSpc>
            </a:pPr>
            <a:r>
              <a:rPr lang="en-US" sz="9000" i="1">
                <a:solidFill>
                  <a:srgbClr val="000000"/>
                </a:solidFill>
                <a:latin typeface="Anton Italics"/>
                <a:ea typeface="Anton Italics"/>
                <a:cs typeface="Anton Italics"/>
                <a:sym typeface="Anton Italics"/>
              </a:rPr>
              <a:t>OUR RESULTS </a:t>
            </a:r>
          </a:p>
        </p:txBody>
      </p:sp>
      <p:grpSp>
        <p:nvGrpSpPr>
          <p:cNvPr id="3" name="Group 3"/>
          <p:cNvGrpSpPr/>
          <p:nvPr/>
        </p:nvGrpSpPr>
        <p:grpSpPr>
          <a:xfrm>
            <a:off x="9144000" y="-1652328"/>
            <a:ext cx="11942270" cy="13591656"/>
            <a:chOff x="0" y="0"/>
            <a:chExt cx="794332" cy="904040"/>
          </a:xfrm>
        </p:grpSpPr>
        <p:sp>
          <p:nvSpPr>
            <p:cNvPr id="4" name="Freeform 4"/>
            <p:cNvSpPr/>
            <p:nvPr/>
          </p:nvSpPr>
          <p:spPr>
            <a:xfrm>
              <a:off x="0" y="0"/>
              <a:ext cx="794332" cy="904040"/>
            </a:xfrm>
            <a:custGeom>
              <a:avLst/>
              <a:gdLst/>
              <a:ahLst/>
              <a:cxnLst/>
              <a:rect l="l" t="t" r="r" b="b"/>
              <a:pathLst>
                <a:path w="794332" h="904040">
                  <a:moveTo>
                    <a:pt x="203200" y="0"/>
                  </a:moveTo>
                  <a:lnTo>
                    <a:pt x="794332" y="0"/>
                  </a:lnTo>
                  <a:lnTo>
                    <a:pt x="591132" y="904040"/>
                  </a:lnTo>
                  <a:lnTo>
                    <a:pt x="0" y="904040"/>
                  </a:lnTo>
                  <a:lnTo>
                    <a:pt x="203200" y="0"/>
                  </a:lnTo>
                  <a:close/>
                </a:path>
              </a:pathLst>
            </a:custGeom>
            <a:solidFill>
              <a:srgbClr val="000000"/>
            </a:solidFill>
          </p:spPr>
          <p:txBody>
            <a:bodyPr/>
            <a:lstStyle/>
            <a:p>
              <a:endParaRPr lang="en-US"/>
            </a:p>
          </p:txBody>
        </p:sp>
        <p:sp>
          <p:nvSpPr>
            <p:cNvPr id="5" name="TextBox 5"/>
            <p:cNvSpPr txBox="1"/>
            <p:nvPr/>
          </p:nvSpPr>
          <p:spPr>
            <a:xfrm>
              <a:off x="101600" y="-9525"/>
              <a:ext cx="591132" cy="913565"/>
            </a:xfrm>
            <a:prstGeom prst="rect">
              <a:avLst/>
            </a:prstGeom>
          </p:spPr>
          <p:txBody>
            <a:bodyPr lIns="50800" tIns="50800" rIns="50800" bIns="50800" rtlCol="0" anchor="ctr"/>
            <a:lstStyle/>
            <a:p>
              <a:pPr algn="ctr">
                <a:lnSpc>
                  <a:spcPts val="1874"/>
                </a:lnSpc>
              </a:pPr>
              <a:r>
                <a:rPr lang="en-US" sz="1453" b="1" spc="-79" dirty="0">
                  <a:solidFill>
                    <a:srgbClr val="000000"/>
                  </a:solidFill>
                  <a:latin typeface="Helios Bold"/>
                  <a:ea typeface="Helios Bold"/>
                  <a:cs typeface="Helios Bold"/>
                  <a:sym typeface="Helios Bold"/>
                </a:rPr>
                <a:t>TABLE 2: TEST PLAN READINGS</a:t>
              </a:r>
            </a:p>
            <a:p>
              <a:pPr algn="ctr">
                <a:lnSpc>
                  <a:spcPts val="1874"/>
                </a:lnSpc>
              </a:pPr>
              <a:endParaRPr lang="en-US" sz="1453" b="1" spc="-79" dirty="0">
                <a:solidFill>
                  <a:srgbClr val="000000"/>
                </a:solidFill>
                <a:latin typeface="Helios Bold"/>
                <a:ea typeface="Helios Bold"/>
                <a:cs typeface="Helios Bold"/>
                <a:sym typeface="Helios Bold"/>
              </a:endParaRPr>
            </a:p>
          </p:txBody>
        </p:sp>
      </p:grpSp>
      <p:sp>
        <p:nvSpPr>
          <p:cNvPr id="6" name="Freeform 6"/>
          <p:cNvSpPr/>
          <p:nvPr/>
        </p:nvSpPr>
        <p:spPr>
          <a:xfrm rot="-913391">
            <a:off x="10002056" y="-1440785"/>
            <a:ext cx="3072503" cy="3072503"/>
          </a:xfrm>
          <a:custGeom>
            <a:avLst/>
            <a:gdLst/>
            <a:ahLst/>
            <a:cxnLst/>
            <a:rect l="l" t="t" r="r" b="b"/>
            <a:pathLst>
              <a:path w="3072503" h="3072503">
                <a:moveTo>
                  <a:pt x="0" y="0"/>
                </a:moveTo>
                <a:lnTo>
                  <a:pt x="3072503" y="0"/>
                </a:lnTo>
                <a:lnTo>
                  <a:pt x="3072503" y="3072503"/>
                </a:lnTo>
                <a:lnTo>
                  <a:pt x="0" y="307250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rot="-913391">
            <a:off x="8981755" y="-507551"/>
            <a:ext cx="3072503" cy="3072503"/>
          </a:xfrm>
          <a:custGeom>
            <a:avLst/>
            <a:gdLst/>
            <a:ahLst/>
            <a:cxnLst/>
            <a:rect l="l" t="t" r="r" b="b"/>
            <a:pathLst>
              <a:path w="3072503" h="3072503">
                <a:moveTo>
                  <a:pt x="0" y="0"/>
                </a:moveTo>
                <a:lnTo>
                  <a:pt x="3072502" y="0"/>
                </a:lnTo>
                <a:lnTo>
                  <a:pt x="3072502" y="3072502"/>
                </a:lnTo>
                <a:lnTo>
                  <a:pt x="0" y="30725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aphicFrame>
        <p:nvGraphicFramePr>
          <p:cNvPr id="8" name="Object 8"/>
          <p:cNvGraphicFramePr/>
          <p:nvPr>
            <p:extLst>
              <p:ext uri="{D42A27DB-BD31-4B8C-83A1-F6EECF244321}">
                <p14:modId xmlns:p14="http://schemas.microsoft.com/office/powerpoint/2010/main" val="3427099718"/>
              </p:ext>
            </p:extLst>
          </p:nvPr>
        </p:nvGraphicFramePr>
        <p:xfrm>
          <a:off x="10579610" y="1981200"/>
          <a:ext cx="15937990" cy="4552596"/>
        </p:xfrm>
        <a:graphic>
          <a:graphicData uri="http://schemas.openxmlformats.org/presentationml/2006/ole">
            <mc:AlternateContent xmlns:mc="http://schemas.openxmlformats.org/markup-compatibility/2006">
              <mc:Choice xmlns:v="urn:schemas-microsoft-com:vml" Requires="v">
                <p:oleObj name="Worksheet" r:id="rId4" imgW="18097500" imgH="5524500" progId="Excel.Sheet.12">
                  <p:embed/>
                </p:oleObj>
              </mc:Choice>
              <mc:Fallback>
                <p:oleObj name="Worksheet" r:id="rId4" imgW="18097500" imgH="5524500" progId="Excel.Sheet.12">
                  <p:embed/>
                  <p:pic>
                    <p:nvPicPr>
                      <p:cNvPr id="0" name=""/>
                      <p:cNvPicPr/>
                      <p:nvPr/>
                    </p:nvPicPr>
                    <p:blipFill>
                      <a:blip r:embed="rId5"/>
                      <a:stretch>
                        <a:fillRect/>
                      </a:stretch>
                    </p:blipFill>
                    <p:spPr>
                      <a:xfrm>
                        <a:off x="10579610" y="1981200"/>
                        <a:ext cx="15937990" cy="4552596"/>
                      </a:xfrm>
                      <a:prstGeom prst="rect">
                        <a:avLst/>
                      </a:prstGeom>
                    </p:spPr>
                  </p:pic>
                </p:oleObj>
              </mc:Fallback>
            </mc:AlternateContent>
          </a:graphicData>
        </a:graphic>
      </p:graphicFrame>
      <p:graphicFrame>
        <p:nvGraphicFramePr>
          <p:cNvPr id="9" name="Object 9"/>
          <p:cNvGraphicFramePr/>
          <p:nvPr>
            <p:extLst>
              <p:ext uri="{D42A27DB-BD31-4B8C-83A1-F6EECF244321}">
                <p14:modId xmlns:p14="http://schemas.microsoft.com/office/powerpoint/2010/main" val="4005787436"/>
              </p:ext>
            </p:extLst>
          </p:nvPr>
        </p:nvGraphicFramePr>
        <p:xfrm>
          <a:off x="9652574" y="5928621"/>
          <a:ext cx="14767170" cy="4358380"/>
        </p:xfrm>
        <a:graphic>
          <a:graphicData uri="http://schemas.openxmlformats.org/presentationml/2006/ole">
            <mc:AlternateContent xmlns:mc="http://schemas.openxmlformats.org/markup-compatibility/2006">
              <mc:Choice xmlns:v="urn:schemas-microsoft-com:vml" Requires="v">
                <p:oleObj name="Worksheet" r:id="rId6" imgW="16675100" imgH="6159500" progId="Excel.Sheet.12">
                  <p:embed/>
                </p:oleObj>
              </mc:Choice>
              <mc:Fallback>
                <p:oleObj name="Worksheet" r:id="rId6" imgW="16675100" imgH="6159500" progId="Excel.Sheet.12">
                  <p:embed/>
                  <p:pic>
                    <p:nvPicPr>
                      <p:cNvPr id="0" name=""/>
                      <p:cNvPicPr/>
                      <p:nvPr/>
                    </p:nvPicPr>
                    <p:blipFill>
                      <a:blip r:embed="rId7"/>
                      <a:stretch>
                        <a:fillRect/>
                      </a:stretch>
                    </p:blipFill>
                    <p:spPr>
                      <a:xfrm>
                        <a:off x="9652574" y="5928621"/>
                        <a:ext cx="14767170" cy="4358380"/>
                      </a:xfrm>
                      <a:prstGeom prst="rect">
                        <a:avLst/>
                      </a:prstGeom>
                    </p:spPr>
                  </p:pic>
                </p:oleObj>
              </mc:Fallback>
            </mc:AlternateContent>
          </a:graphicData>
        </a:graphic>
      </p:graphicFrame>
      <p:sp>
        <p:nvSpPr>
          <p:cNvPr id="10" name="TextBox 10"/>
          <p:cNvSpPr txBox="1"/>
          <p:nvPr/>
        </p:nvSpPr>
        <p:spPr>
          <a:xfrm>
            <a:off x="132159" y="1645274"/>
            <a:ext cx="5703861" cy="605176"/>
          </a:xfrm>
          <a:prstGeom prst="rect">
            <a:avLst/>
          </a:prstGeom>
        </p:spPr>
        <p:txBody>
          <a:bodyPr lIns="0" tIns="0" rIns="0" bIns="0" rtlCol="0" anchor="t">
            <a:spAutoFit/>
          </a:bodyPr>
          <a:lstStyle/>
          <a:p>
            <a:pPr algn="l">
              <a:lnSpc>
                <a:spcPts val="4968"/>
              </a:lnSpc>
            </a:pPr>
            <a:r>
              <a:rPr lang="en-US" sz="3549">
                <a:solidFill>
                  <a:srgbClr val="FFFFFF"/>
                </a:solidFill>
                <a:latin typeface="Anton"/>
                <a:ea typeface="Anton"/>
                <a:cs typeface="Anton"/>
                <a:sym typeface="Anton"/>
              </a:rPr>
              <a:t>NEGATIVE RESULTS</a:t>
            </a:r>
          </a:p>
        </p:txBody>
      </p:sp>
      <p:sp>
        <p:nvSpPr>
          <p:cNvPr id="11" name="TextBox 11"/>
          <p:cNvSpPr txBox="1"/>
          <p:nvPr/>
        </p:nvSpPr>
        <p:spPr>
          <a:xfrm>
            <a:off x="132159" y="2221876"/>
            <a:ext cx="8458078" cy="3888596"/>
          </a:xfrm>
          <a:prstGeom prst="rect">
            <a:avLst/>
          </a:prstGeom>
        </p:spPr>
        <p:txBody>
          <a:bodyPr lIns="0" tIns="0" rIns="0" bIns="0" rtlCol="0" anchor="t">
            <a:spAutoFit/>
          </a:bodyPr>
          <a:lstStyle/>
          <a:p>
            <a:pPr marL="535995" lvl="1" indent="-267998" algn="just">
              <a:lnSpc>
                <a:spcPts val="3202"/>
              </a:lnSpc>
              <a:buFont typeface="Arial"/>
              <a:buChar char="•"/>
            </a:pPr>
            <a:r>
              <a:rPr lang="en-US" sz="2482" spc="-136">
                <a:solidFill>
                  <a:srgbClr val="000000"/>
                </a:solidFill>
                <a:latin typeface="Helios"/>
                <a:ea typeface="Helios"/>
                <a:cs typeface="Helios"/>
                <a:sym typeface="Helios"/>
              </a:rPr>
              <a:t>Initial</a:t>
            </a:r>
            <a:r>
              <a:rPr lang="en-US" sz="2482" u="none" strike="noStrike" spc="-136">
                <a:solidFill>
                  <a:srgbClr val="000000"/>
                </a:solidFill>
                <a:latin typeface="Helios"/>
                <a:ea typeface="Helios"/>
                <a:cs typeface="Helios"/>
                <a:sym typeface="Helios"/>
              </a:rPr>
              <a:t> experiments used a Hall effect sensor to measure distance</a:t>
            </a:r>
          </a:p>
          <a:p>
            <a:pPr marL="535995" lvl="1" indent="-267998" algn="just">
              <a:lnSpc>
                <a:spcPts val="3202"/>
              </a:lnSpc>
              <a:buFont typeface="Arial"/>
              <a:buChar char="•"/>
            </a:pPr>
            <a:r>
              <a:rPr lang="en-US" sz="2482" u="none" strike="noStrike" spc="-136">
                <a:solidFill>
                  <a:srgbClr val="000000"/>
                </a:solidFill>
                <a:latin typeface="Helios"/>
                <a:ea typeface="Helios"/>
                <a:cs typeface="Helios"/>
                <a:sym typeface="Helios"/>
              </a:rPr>
              <a:t>The sensor showed inconsistent readings and skipped pulses</a:t>
            </a:r>
          </a:p>
          <a:p>
            <a:pPr marL="535995" lvl="1" indent="-267998" algn="just">
              <a:lnSpc>
                <a:spcPts val="3202"/>
              </a:lnSpc>
              <a:buFont typeface="Arial"/>
              <a:buChar char="•"/>
            </a:pPr>
            <a:r>
              <a:rPr lang="en-US" sz="2482" u="none" strike="noStrike" spc="-136">
                <a:solidFill>
                  <a:srgbClr val="000000"/>
                </a:solidFill>
                <a:latin typeface="Helios"/>
                <a:ea typeface="Helios"/>
                <a:cs typeface="Helios"/>
                <a:sym typeface="Helios"/>
              </a:rPr>
              <a:t>Average measured distance was ≈ 0.70 m instead of 1.00 m</a:t>
            </a:r>
          </a:p>
          <a:p>
            <a:pPr marL="535995" lvl="1" indent="-267998" algn="just">
              <a:lnSpc>
                <a:spcPts val="3202"/>
              </a:lnSpc>
              <a:buFont typeface="Arial"/>
              <a:buChar char="•"/>
            </a:pPr>
            <a:r>
              <a:rPr lang="en-US" sz="2482" u="none" strike="noStrike" spc="-136">
                <a:solidFill>
                  <a:srgbClr val="000000"/>
                </a:solidFill>
                <a:latin typeface="Helios"/>
                <a:ea typeface="Helios"/>
                <a:cs typeface="Helios"/>
                <a:sym typeface="Helios"/>
              </a:rPr>
              <a:t>Error percentage reached ~30%, exceeding acceptable limits</a:t>
            </a:r>
          </a:p>
          <a:p>
            <a:pPr marL="535995" lvl="1" indent="-267998" algn="just">
              <a:lnSpc>
                <a:spcPts val="3202"/>
              </a:lnSpc>
              <a:buFont typeface="Arial"/>
              <a:buChar char="•"/>
            </a:pPr>
            <a:r>
              <a:rPr lang="en-US" sz="2482" u="none" strike="noStrike" spc="-136">
                <a:solidFill>
                  <a:srgbClr val="000000"/>
                </a:solidFill>
                <a:latin typeface="Helios"/>
                <a:ea typeface="Helios"/>
                <a:cs typeface="Helios"/>
                <a:sym typeface="Helios"/>
              </a:rPr>
              <a:t>Causes of error:</a:t>
            </a:r>
          </a:p>
          <a:p>
            <a:pPr marL="535995" lvl="1" indent="-267998" algn="just">
              <a:lnSpc>
                <a:spcPts val="3202"/>
              </a:lnSpc>
              <a:buFont typeface="Arial"/>
              <a:buChar char="•"/>
            </a:pPr>
            <a:r>
              <a:rPr lang="en-US" sz="2482" u="none" strike="noStrike" spc="-136">
                <a:solidFill>
                  <a:srgbClr val="000000"/>
                </a:solidFill>
                <a:latin typeface="Helios"/>
                <a:ea typeface="Helios"/>
                <a:cs typeface="Helios"/>
                <a:sym typeface="Helios"/>
              </a:rPr>
              <a:t>Incompatibility with ESP32-CAM</a:t>
            </a:r>
          </a:p>
          <a:p>
            <a:pPr marL="535995" lvl="1" indent="-267998" algn="just">
              <a:lnSpc>
                <a:spcPts val="3202"/>
              </a:lnSpc>
              <a:buFont typeface="Arial"/>
              <a:buChar char="•"/>
            </a:pPr>
            <a:r>
              <a:rPr lang="en-US" sz="2482" u="none" strike="noStrike" spc="-136">
                <a:solidFill>
                  <a:srgbClr val="000000"/>
                </a:solidFill>
                <a:latin typeface="Helios"/>
                <a:ea typeface="Helios"/>
                <a:cs typeface="Helios"/>
                <a:sym typeface="Helios"/>
              </a:rPr>
              <a:t>Magnet size affected pulse detection</a:t>
            </a:r>
          </a:p>
          <a:p>
            <a:pPr marL="535995" lvl="1" indent="-267998" algn="just">
              <a:lnSpc>
                <a:spcPts val="3202"/>
              </a:lnSpc>
              <a:buFont typeface="Arial"/>
              <a:buChar char="•"/>
            </a:pPr>
            <a:r>
              <a:rPr lang="en-US" sz="2482" u="none" strike="noStrike" spc="-136">
                <a:solidFill>
                  <a:srgbClr val="000000"/>
                </a:solidFill>
                <a:latin typeface="Helios"/>
                <a:ea typeface="Helios"/>
                <a:cs typeface="Helios"/>
                <a:sym typeface="Helios"/>
              </a:rPr>
              <a:t>Mechanical instability of the rotating wheel</a:t>
            </a:r>
          </a:p>
          <a:p>
            <a:pPr algn="just">
              <a:lnSpc>
                <a:spcPts val="2572"/>
              </a:lnSpc>
            </a:pPr>
            <a:endParaRPr lang="en-US" sz="2482" u="none" strike="noStrike" spc="-136">
              <a:solidFill>
                <a:srgbClr val="000000"/>
              </a:solidFill>
              <a:latin typeface="Helios"/>
              <a:ea typeface="Helios"/>
              <a:cs typeface="Helios"/>
              <a:sym typeface="Helios"/>
            </a:endParaRPr>
          </a:p>
        </p:txBody>
      </p:sp>
      <p:sp>
        <p:nvSpPr>
          <p:cNvPr id="12" name="TextBox 12"/>
          <p:cNvSpPr txBox="1"/>
          <p:nvPr/>
        </p:nvSpPr>
        <p:spPr>
          <a:xfrm>
            <a:off x="132159" y="5928620"/>
            <a:ext cx="10518006" cy="605176"/>
          </a:xfrm>
          <a:prstGeom prst="rect">
            <a:avLst/>
          </a:prstGeom>
        </p:spPr>
        <p:txBody>
          <a:bodyPr lIns="0" tIns="0" rIns="0" bIns="0" rtlCol="0" anchor="t">
            <a:spAutoFit/>
          </a:bodyPr>
          <a:lstStyle/>
          <a:p>
            <a:pPr algn="l">
              <a:lnSpc>
                <a:spcPts val="4968"/>
              </a:lnSpc>
            </a:pPr>
            <a:r>
              <a:rPr lang="en-US" sz="3549">
                <a:solidFill>
                  <a:srgbClr val="FFFFFF"/>
                </a:solidFill>
                <a:latin typeface="Anton"/>
                <a:ea typeface="Anton"/>
                <a:cs typeface="Anton"/>
                <a:sym typeface="Anton"/>
              </a:rPr>
              <a:t>OPTIMIZED RESULTS &amp; SYSTEM PERFORMANCE</a:t>
            </a:r>
          </a:p>
        </p:txBody>
      </p:sp>
      <p:sp>
        <p:nvSpPr>
          <p:cNvPr id="13" name="TextBox 13"/>
          <p:cNvSpPr txBox="1"/>
          <p:nvPr/>
        </p:nvSpPr>
        <p:spPr>
          <a:xfrm>
            <a:off x="132159" y="6752872"/>
            <a:ext cx="6953392" cy="3663128"/>
          </a:xfrm>
          <a:prstGeom prst="rect">
            <a:avLst/>
          </a:prstGeom>
        </p:spPr>
        <p:txBody>
          <a:bodyPr lIns="0" tIns="0" rIns="0" bIns="0" rtlCol="0" anchor="t">
            <a:spAutoFit/>
          </a:bodyPr>
          <a:lstStyle/>
          <a:p>
            <a:pPr marL="518160" lvl="1" indent="-259080" algn="just">
              <a:lnSpc>
                <a:spcPts val="3096"/>
              </a:lnSpc>
              <a:buFont typeface="Arial"/>
              <a:buChar char="•"/>
            </a:pPr>
            <a:r>
              <a:rPr lang="en-US" sz="2400" spc="-132">
                <a:solidFill>
                  <a:srgbClr val="000000"/>
                </a:solidFill>
                <a:latin typeface="Helios"/>
                <a:ea typeface="Helios"/>
                <a:cs typeface="Helios"/>
                <a:sym typeface="Helios"/>
              </a:rPr>
              <a:t>H</a:t>
            </a:r>
            <a:r>
              <a:rPr lang="en-US" sz="2400" u="none" strike="noStrike" spc="-132">
                <a:solidFill>
                  <a:srgbClr val="000000"/>
                </a:solidFill>
                <a:latin typeface="Helios"/>
                <a:ea typeface="Helios"/>
                <a:cs typeface="Helios"/>
                <a:sym typeface="Helios"/>
              </a:rPr>
              <a:t>all effect sensor replaced with an ultrasonic sensor</a:t>
            </a:r>
          </a:p>
          <a:p>
            <a:pPr marL="518160" lvl="1" indent="-259080" algn="just">
              <a:lnSpc>
                <a:spcPts val="3096"/>
              </a:lnSpc>
              <a:buFont typeface="Arial"/>
              <a:buChar char="•"/>
            </a:pPr>
            <a:r>
              <a:rPr lang="en-US" sz="2400" u="none" strike="noStrike" spc="-132">
                <a:solidFill>
                  <a:srgbClr val="000000"/>
                </a:solidFill>
                <a:latin typeface="Helios"/>
                <a:ea typeface="Helios"/>
                <a:cs typeface="Helios"/>
                <a:sym typeface="Helios"/>
              </a:rPr>
              <a:t>Distance measured using Time-of-Flight (TOF) principle</a:t>
            </a:r>
          </a:p>
          <a:p>
            <a:pPr marL="518160" lvl="1" indent="-259080" algn="just">
              <a:lnSpc>
                <a:spcPts val="3096"/>
              </a:lnSpc>
              <a:buFont typeface="Arial"/>
              <a:buChar char="•"/>
            </a:pPr>
            <a:r>
              <a:rPr lang="en-US" sz="2400" u="none" strike="noStrike" spc="-132">
                <a:solidFill>
                  <a:srgbClr val="000000"/>
                </a:solidFill>
                <a:latin typeface="Helios"/>
                <a:ea typeface="Helios"/>
                <a:cs typeface="Helios"/>
                <a:sym typeface="Helios"/>
              </a:rPr>
              <a:t>Manual distance average: 1.00 ± 0.02 m</a:t>
            </a:r>
          </a:p>
          <a:p>
            <a:pPr marL="518160" lvl="1" indent="-259080" algn="just">
              <a:lnSpc>
                <a:spcPts val="3096"/>
              </a:lnSpc>
              <a:buFont typeface="Arial"/>
              <a:buChar char="•"/>
            </a:pPr>
            <a:r>
              <a:rPr lang="en-US" sz="2400" u="none" strike="noStrike" spc="-132">
                <a:solidFill>
                  <a:srgbClr val="000000"/>
                </a:solidFill>
                <a:latin typeface="Helios"/>
                <a:ea typeface="Helios"/>
                <a:cs typeface="Helios"/>
                <a:sym typeface="Helios"/>
              </a:rPr>
              <a:t>Sensor distance average: 0.98 ± 0.02 m</a:t>
            </a:r>
          </a:p>
          <a:p>
            <a:pPr marL="518160" lvl="1" indent="-259080" algn="just">
              <a:lnSpc>
                <a:spcPts val="3096"/>
              </a:lnSpc>
              <a:buFont typeface="Arial"/>
              <a:buChar char="•"/>
            </a:pPr>
            <a:r>
              <a:rPr lang="en-US" sz="2400" u="none" strike="noStrike" spc="-132">
                <a:solidFill>
                  <a:srgbClr val="000000"/>
                </a:solidFill>
                <a:latin typeface="Helios"/>
                <a:ea typeface="Helios"/>
                <a:cs typeface="Helios"/>
                <a:sym typeface="Helios"/>
              </a:rPr>
              <a:t>Final error percentage reduced to ≈ ±2%</a:t>
            </a:r>
          </a:p>
          <a:p>
            <a:pPr marL="518160" lvl="1" indent="-259080" algn="just">
              <a:lnSpc>
                <a:spcPts val="3096"/>
              </a:lnSpc>
              <a:buFont typeface="Arial"/>
              <a:buChar char="•"/>
            </a:pPr>
            <a:r>
              <a:rPr lang="en-US" sz="2400" u="none" strike="noStrike" spc="-132">
                <a:solidFill>
                  <a:srgbClr val="000000"/>
                </a:solidFill>
                <a:latin typeface="Helios"/>
                <a:ea typeface="Helios"/>
                <a:cs typeface="Helios"/>
                <a:sym typeface="Helios"/>
              </a:rPr>
              <a:t>Speed and acceleration calculated accurately</a:t>
            </a:r>
          </a:p>
          <a:p>
            <a:pPr marL="518160" lvl="1" indent="-259080" algn="just">
              <a:lnSpc>
                <a:spcPts val="3096"/>
              </a:lnSpc>
              <a:buFont typeface="Arial"/>
              <a:buChar char="•"/>
            </a:pPr>
            <a:r>
              <a:rPr lang="en-US" sz="2400" u="none" strike="noStrike" spc="-132">
                <a:solidFill>
                  <a:srgbClr val="000000"/>
                </a:solidFill>
                <a:latin typeface="Helios"/>
                <a:ea typeface="Helios"/>
                <a:cs typeface="Helios"/>
                <a:sym typeface="Helios"/>
              </a:rPr>
              <a:t>Stable graphs suitable for physics lab experiments</a:t>
            </a:r>
          </a:p>
          <a:p>
            <a:pPr algn="just">
              <a:lnSpc>
                <a:spcPts val="2106"/>
              </a:lnSpc>
            </a:pPr>
            <a:endParaRPr lang="en-US" sz="2400" u="none" strike="noStrike" spc="-132">
              <a:solidFill>
                <a:srgbClr val="000000"/>
              </a:solidFill>
              <a:latin typeface="Helios"/>
              <a:ea typeface="Helios"/>
              <a:cs typeface="Helios"/>
              <a:sym typeface="Helios"/>
            </a:endParaRPr>
          </a:p>
          <a:p>
            <a:pPr algn="just">
              <a:lnSpc>
                <a:spcPts val="2106"/>
              </a:lnSpc>
            </a:pPr>
            <a:endParaRPr lang="en-US" sz="2400" u="none" strike="noStrike" spc="-132">
              <a:solidFill>
                <a:srgbClr val="000000"/>
              </a:solidFill>
              <a:latin typeface="Helios"/>
              <a:ea typeface="Helios"/>
              <a:cs typeface="Helios"/>
              <a:sym typeface="Helios"/>
            </a:endParaRPr>
          </a:p>
        </p:txBody>
      </p:sp>
      <p:sp>
        <p:nvSpPr>
          <p:cNvPr id="16" name="TextBox 15">
            <a:extLst>
              <a:ext uri="{FF2B5EF4-FFF2-40B4-BE49-F238E27FC236}">
                <a16:creationId xmlns:a16="http://schemas.microsoft.com/office/drawing/2014/main" id="{5E163187-BBFC-9968-1A97-8BD0575D9D42}"/>
              </a:ext>
            </a:extLst>
          </p:cNvPr>
          <p:cNvSpPr txBox="1"/>
          <p:nvPr/>
        </p:nvSpPr>
        <p:spPr>
          <a:xfrm>
            <a:off x="11752850" y="2453390"/>
            <a:ext cx="5768624" cy="461665"/>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Table 1: Distance readings</a:t>
            </a:r>
          </a:p>
        </p:txBody>
      </p:sp>
      <p:sp>
        <p:nvSpPr>
          <p:cNvPr id="19" name="TextBox 18">
            <a:extLst>
              <a:ext uri="{FF2B5EF4-FFF2-40B4-BE49-F238E27FC236}">
                <a16:creationId xmlns:a16="http://schemas.microsoft.com/office/drawing/2014/main" id="{062E6607-CC6E-19E9-02C1-E28EF0B18A64}"/>
              </a:ext>
            </a:extLst>
          </p:cNvPr>
          <p:cNvSpPr txBox="1"/>
          <p:nvPr/>
        </p:nvSpPr>
        <p:spPr>
          <a:xfrm>
            <a:off x="10750366" y="6317129"/>
            <a:ext cx="4317256" cy="461665"/>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Table 2 :Test Plan Readings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950962">
            <a:off x="14927958" y="-2801248"/>
            <a:ext cx="4594247" cy="4594247"/>
          </a:xfrm>
          <a:custGeom>
            <a:avLst/>
            <a:gdLst/>
            <a:ahLst/>
            <a:cxnLst/>
            <a:rect l="l" t="t" r="r" b="b"/>
            <a:pathLst>
              <a:path w="4594247" h="4594247">
                <a:moveTo>
                  <a:pt x="0" y="0"/>
                </a:moveTo>
                <a:lnTo>
                  <a:pt x="4594247" y="0"/>
                </a:lnTo>
                <a:lnTo>
                  <a:pt x="4594247" y="4594247"/>
                </a:lnTo>
                <a:lnTo>
                  <a:pt x="0" y="459424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950962">
            <a:off x="16607554" y="-2184570"/>
            <a:ext cx="3360891" cy="3360891"/>
          </a:xfrm>
          <a:custGeom>
            <a:avLst/>
            <a:gdLst/>
            <a:ahLst/>
            <a:cxnLst/>
            <a:rect l="l" t="t" r="r" b="b"/>
            <a:pathLst>
              <a:path w="3360891" h="3360891">
                <a:moveTo>
                  <a:pt x="0" y="0"/>
                </a:moveTo>
                <a:lnTo>
                  <a:pt x="3360892" y="0"/>
                </a:lnTo>
                <a:lnTo>
                  <a:pt x="3360892" y="3360891"/>
                </a:lnTo>
                <a:lnTo>
                  <a:pt x="0" y="33608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9938400">
            <a:off x="16337080" y="7305667"/>
            <a:ext cx="3360891" cy="3360891"/>
          </a:xfrm>
          <a:custGeom>
            <a:avLst/>
            <a:gdLst/>
            <a:ahLst/>
            <a:cxnLst/>
            <a:rect l="l" t="t" r="r" b="b"/>
            <a:pathLst>
              <a:path w="3360891" h="3360891">
                <a:moveTo>
                  <a:pt x="0" y="0"/>
                </a:moveTo>
                <a:lnTo>
                  <a:pt x="3360891" y="0"/>
                </a:lnTo>
                <a:lnTo>
                  <a:pt x="3360891" y="3360891"/>
                </a:lnTo>
                <a:lnTo>
                  <a:pt x="0" y="33608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9938400">
            <a:off x="15068142" y="8606554"/>
            <a:ext cx="3360891" cy="3360891"/>
          </a:xfrm>
          <a:custGeom>
            <a:avLst/>
            <a:gdLst/>
            <a:ahLst/>
            <a:cxnLst/>
            <a:rect l="l" t="t" r="r" b="b"/>
            <a:pathLst>
              <a:path w="3360891" h="3360891">
                <a:moveTo>
                  <a:pt x="0" y="0"/>
                </a:moveTo>
                <a:lnTo>
                  <a:pt x="3360891" y="0"/>
                </a:lnTo>
                <a:lnTo>
                  <a:pt x="3360891" y="3360892"/>
                </a:lnTo>
                <a:lnTo>
                  <a:pt x="0" y="33608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390548" y="570553"/>
            <a:ext cx="6282429" cy="821044"/>
          </a:xfrm>
          <a:prstGeom prst="rect">
            <a:avLst/>
          </a:prstGeom>
        </p:spPr>
        <p:txBody>
          <a:bodyPr lIns="0" tIns="0" rIns="0" bIns="0" rtlCol="0" anchor="t">
            <a:spAutoFit/>
          </a:bodyPr>
          <a:lstStyle/>
          <a:p>
            <a:pPr algn="l">
              <a:lnSpc>
                <a:spcPts val="6720"/>
              </a:lnSpc>
            </a:pPr>
            <a:r>
              <a:rPr lang="en-US" sz="4800" i="1">
                <a:solidFill>
                  <a:srgbClr val="00ADB5"/>
                </a:solidFill>
                <a:latin typeface="Anton Italics"/>
                <a:ea typeface="Anton Italics"/>
                <a:cs typeface="Anton Italics"/>
                <a:sym typeface="Anton Italics"/>
              </a:rPr>
              <a:t>ANALYSIS</a:t>
            </a:r>
          </a:p>
        </p:txBody>
      </p:sp>
      <p:sp>
        <p:nvSpPr>
          <p:cNvPr id="7" name="TextBox 7"/>
          <p:cNvSpPr txBox="1"/>
          <p:nvPr/>
        </p:nvSpPr>
        <p:spPr>
          <a:xfrm>
            <a:off x="-270475" y="1679451"/>
            <a:ext cx="18558475" cy="6899523"/>
          </a:xfrm>
          <a:prstGeom prst="rect">
            <a:avLst/>
          </a:prstGeom>
        </p:spPr>
        <p:txBody>
          <a:bodyPr lIns="0" tIns="0" rIns="0" bIns="0" rtlCol="0" anchor="t">
            <a:spAutoFit/>
          </a:bodyPr>
          <a:lstStyle/>
          <a:p>
            <a:pPr marL="834918" lvl="1" indent="-417459" algn="just">
              <a:lnSpc>
                <a:spcPts val="4988"/>
              </a:lnSpc>
              <a:spcBef>
                <a:spcPct val="0"/>
              </a:spcBef>
              <a:buFont typeface="Arial"/>
              <a:buChar char="•"/>
            </a:pPr>
            <a:r>
              <a:rPr lang="en-US" sz="3867" spc="-212">
                <a:solidFill>
                  <a:srgbClr val="FFFFFF"/>
                </a:solidFill>
                <a:latin typeface="Open Sans"/>
                <a:ea typeface="Open Sans"/>
                <a:cs typeface="Open Sans"/>
                <a:sym typeface="Open Sans"/>
              </a:rPr>
              <a:t>Initia</a:t>
            </a:r>
            <a:r>
              <a:rPr lang="en-US" sz="3867" u="none" strike="noStrike" spc="-212">
                <a:solidFill>
                  <a:srgbClr val="FFFFFF"/>
                </a:solidFill>
                <a:latin typeface="Open Sans"/>
                <a:ea typeface="Open Sans"/>
                <a:cs typeface="Open Sans"/>
                <a:sym typeface="Open Sans"/>
              </a:rPr>
              <a:t>l measurements using the Hall effect sensor showed large deviations</a:t>
            </a:r>
          </a:p>
          <a:p>
            <a:pPr marL="834918" lvl="1" indent="-417459" algn="just">
              <a:lnSpc>
                <a:spcPts val="4988"/>
              </a:lnSpc>
              <a:spcBef>
                <a:spcPct val="0"/>
              </a:spcBef>
              <a:buFont typeface="Arial"/>
              <a:buChar char="•"/>
            </a:pPr>
            <a:r>
              <a:rPr lang="en-US" sz="3867" u="none" strike="noStrike" spc="-212">
                <a:solidFill>
                  <a:srgbClr val="FFFFFF"/>
                </a:solidFill>
                <a:latin typeface="Open Sans"/>
                <a:ea typeface="Open Sans"/>
                <a:cs typeface="Open Sans"/>
                <a:sym typeface="Open Sans"/>
              </a:rPr>
              <a:t>The measured distance (≈ 0.70 m) differed significantly from the actual distance (1.00 m)</a:t>
            </a:r>
          </a:p>
          <a:p>
            <a:pPr marL="834918" lvl="1" indent="-417459" algn="just">
              <a:lnSpc>
                <a:spcPts val="4988"/>
              </a:lnSpc>
              <a:buFont typeface="Arial"/>
              <a:buChar char="•"/>
            </a:pPr>
            <a:r>
              <a:rPr lang="en-US" sz="3867" u="none" strike="noStrike" spc="-212">
                <a:solidFill>
                  <a:srgbClr val="FFFFFF"/>
                </a:solidFill>
                <a:latin typeface="Open Sans"/>
                <a:ea typeface="Open Sans"/>
                <a:cs typeface="Open Sans"/>
                <a:sym typeface="Open Sans"/>
              </a:rPr>
              <a:t>Error percentage reached ~30%, which is unacceptable for physics lab applications</a:t>
            </a:r>
          </a:p>
          <a:p>
            <a:pPr marL="834918" lvl="1" indent="-417459" algn="just">
              <a:lnSpc>
                <a:spcPts val="4988"/>
              </a:lnSpc>
              <a:buFont typeface="Arial"/>
              <a:buChar char="•"/>
            </a:pPr>
            <a:r>
              <a:rPr lang="en-US" sz="3867" u="none" strike="noStrike" spc="-212">
                <a:solidFill>
                  <a:srgbClr val="FFFFFF"/>
                </a:solidFill>
                <a:latin typeface="Open Sans"/>
                <a:ea typeface="Open Sans"/>
                <a:cs typeface="Open Sans"/>
                <a:sym typeface="Open Sans"/>
              </a:rPr>
              <a:t>Scientific interpretation:</a:t>
            </a:r>
          </a:p>
          <a:p>
            <a:pPr marL="834918" lvl="1" indent="-417459" algn="just">
              <a:lnSpc>
                <a:spcPts val="4988"/>
              </a:lnSpc>
              <a:buFont typeface="Arial"/>
              <a:buChar char="•"/>
            </a:pPr>
            <a:r>
              <a:rPr lang="en-US" sz="3867" u="none" strike="noStrike" spc="-212">
                <a:solidFill>
                  <a:srgbClr val="FFFFFF"/>
                </a:solidFill>
                <a:latin typeface="Open Sans"/>
                <a:ea typeface="Open Sans"/>
                <a:cs typeface="Open Sans"/>
                <a:sym typeface="Open Sans"/>
              </a:rPr>
              <a:t>Hall effect sensors depend on accurate magnetic pulse detection</a:t>
            </a:r>
          </a:p>
          <a:p>
            <a:pPr marL="834918" lvl="1" indent="-417459" algn="just">
              <a:lnSpc>
                <a:spcPts val="4988"/>
              </a:lnSpc>
              <a:buFont typeface="Arial"/>
              <a:buChar char="•"/>
            </a:pPr>
            <a:r>
              <a:rPr lang="en-US" sz="3867" u="none" strike="noStrike" spc="-212">
                <a:solidFill>
                  <a:srgbClr val="FFFFFF"/>
                </a:solidFill>
                <a:latin typeface="Open Sans"/>
                <a:ea typeface="Open Sans"/>
                <a:cs typeface="Open Sans"/>
                <a:sym typeface="Open Sans"/>
              </a:rPr>
              <a:t>Pulse skipping occurred due to:</a:t>
            </a:r>
          </a:p>
          <a:p>
            <a:pPr marL="834918" lvl="1" indent="-417459" algn="just">
              <a:lnSpc>
                <a:spcPts val="4988"/>
              </a:lnSpc>
              <a:buFont typeface="Arial"/>
              <a:buChar char="•"/>
            </a:pPr>
            <a:r>
              <a:rPr lang="en-US" sz="3867" u="none" strike="noStrike" spc="-212">
                <a:solidFill>
                  <a:srgbClr val="FFFFFF"/>
                </a:solidFill>
                <a:latin typeface="Open Sans"/>
                <a:ea typeface="Open Sans"/>
                <a:cs typeface="Open Sans"/>
                <a:sym typeface="Open Sans"/>
              </a:rPr>
              <a:t>Magnet size mismatch</a:t>
            </a:r>
          </a:p>
          <a:p>
            <a:pPr marL="834918" lvl="1" indent="-417459" algn="just">
              <a:lnSpc>
                <a:spcPts val="4988"/>
              </a:lnSpc>
              <a:buFont typeface="Arial"/>
              <a:buChar char="•"/>
            </a:pPr>
            <a:r>
              <a:rPr lang="en-US" sz="3867" u="none" strike="noStrike" spc="-212">
                <a:solidFill>
                  <a:srgbClr val="FFFFFF"/>
                </a:solidFill>
                <a:latin typeface="Open Sans"/>
                <a:ea typeface="Open Sans"/>
                <a:cs typeface="Open Sans"/>
                <a:sym typeface="Open Sans"/>
              </a:rPr>
              <a:t>Mechanical instability</a:t>
            </a:r>
          </a:p>
          <a:p>
            <a:pPr marL="834918" lvl="1" indent="-417459" algn="just">
              <a:lnSpc>
                <a:spcPts val="4988"/>
              </a:lnSpc>
              <a:buFont typeface="Arial"/>
              <a:buChar char="•"/>
            </a:pPr>
            <a:r>
              <a:rPr lang="en-US" sz="3867" u="none" strike="noStrike" spc="-212">
                <a:solidFill>
                  <a:srgbClr val="FFFFFF"/>
                </a:solidFill>
                <a:latin typeface="Open Sans"/>
                <a:ea typeface="Open Sans"/>
                <a:cs typeface="Open Sans"/>
                <a:sym typeface="Open Sans"/>
              </a:rPr>
              <a:t>Sensor–microcontroller incompatibility</a:t>
            </a:r>
          </a:p>
          <a:p>
            <a:pPr marL="834918" lvl="1" indent="-417459" algn="just">
              <a:lnSpc>
                <a:spcPts val="4988"/>
              </a:lnSpc>
              <a:buFont typeface="Arial"/>
              <a:buChar char="•"/>
            </a:pPr>
            <a:r>
              <a:rPr lang="en-US" sz="3867" u="none" strike="noStrike" spc="-212">
                <a:solidFill>
                  <a:srgbClr val="FFFFFF"/>
                </a:solidFill>
                <a:latin typeface="Open Sans"/>
                <a:ea typeface="Open Sans"/>
                <a:cs typeface="Open Sans"/>
                <a:sym typeface="Open Sans"/>
              </a:rPr>
              <a:t>The Hall effect sensor was replaced by an ultrasonic sensor</a:t>
            </a:r>
          </a:p>
          <a:p>
            <a:pPr algn="just">
              <a:lnSpc>
                <a:spcPts val="4988"/>
              </a:lnSpc>
              <a:spcBef>
                <a:spcPct val="0"/>
              </a:spcBef>
            </a:pPr>
            <a:endParaRPr lang="en-US" sz="3867" u="none" strike="noStrike" spc="-212">
              <a:solidFill>
                <a:srgbClr val="FFFFFF"/>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950962">
            <a:off x="14962176" y="-958994"/>
            <a:ext cx="4594247" cy="4594247"/>
          </a:xfrm>
          <a:custGeom>
            <a:avLst/>
            <a:gdLst/>
            <a:ahLst/>
            <a:cxnLst/>
            <a:rect l="l" t="t" r="r" b="b"/>
            <a:pathLst>
              <a:path w="4594247" h="4594247">
                <a:moveTo>
                  <a:pt x="0" y="0"/>
                </a:moveTo>
                <a:lnTo>
                  <a:pt x="4594248" y="0"/>
                </a:lnTo>
                <a:lnTo>
                  <a:pt x="4594248" y="4594247"/>
                </a:lnTo>
                <a:lnTo>
                  <a:pt x="0" y="459424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950962">
            <a:off x="16607554" y="-705213"/>
            <a:ext cx="3360891" cy="3360891"/>
          </a:xfrm>
          <a:custGeom>
            <a:avLst/>
            <a:gdLst/>
            <a:ahLst/>
            <a:cxnLst/>
            <a:rect l="l" t="t" r="r" b="b"/>
            <a:pathLst>
              <a:path w="3360891" h="3360891">
                <a:moveTo>
                  <a:pt x="0" y="0"/>
                </a:moveTo>
                <a:lnTo>
                  <a:pt x="3360892" y="0"/>
                </a:lnTo>
                <a:lnTo>
                  <a:pt x="3360892" y="3360891"/>
                </a:lnTo>
                <a:lnTo>
                  <a:pt x="0" y="33608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9938400">
            <a:off x="16337080" y="7305667"/>
            <a:ext cx="3360891" cy="3360891"/>
          </a:xfrm>
          <a:custGeom>
            <a:avLst/>
            <a:gdLst/>
            <a:ahLst/>
            <a:cxnLst/>
            <a:rect l="l" t="t" r="r" b="b"/>
            <a:pathLst>
              <a:path w="3360891" h="3360891">
                <a:moveTo>
                  <a:pt x="0" y="0"/>
                </a:moveTo>
                <a:lnTo>
                  <a:pt x="3360891" y="0"/>
                </a:lnTo>
                <a:lnTo>
                  <a:pt x="3360891" y="3360891"/>
                </a:lnTo>
                <a:lnTo>
                  <a:pt x="0" y="33608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9938400">
            <a:off x="15068142" y="8606554"/>
            <a:ext cx="3360891" cy="3360891"/>
          </a:xfrm>
          <a:custGeom>
            <a:avLst/>
            <a:gdLst/>
            <a:ahLst/>
            <a:cxnLst/>
            <a:rect l="l" t="t" r="r" b="b"/>
            <a:pathLst>
              <a:path w="3360891" h="3360891">
                <a:moveTo>
                  <a:pt x="0" y="0"/>
                </a:moveTo>
                <a:lnTo>
                  <a:pt x="3360891" y="0"/>
                </a:lnTo>
                <a:lnTo>
                  <a:pt x="3360891" y="3360892"/>
                </a:lnTo>
                <a:lnTo>
                  <a:pt x="0" y="33608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150254" y="517086"/>
            <a:ext cx="6282429" cy="821044"/>
          </a:xfrm>
          <a:prstGeom prst="rect">
            <a:avLst/>
          </a:prstGeom>
        </p:spPr>
        <p:txBody>
          <a:bodyPr lIns="0" tIns="0" rIns="0" bIns="0" rtlCol="0" anchor="t">
            <a:spAutoFit/>
          </a:bodyPr>
          <a:lstStyle/>
          <a:p>
            <a:pPr algn="l">
              <a:lnSpc>
                <a:spcPts val="6720"/>
              </a:lnSpc>
            </a:pPr>
            <a:r>
              <a:rPr lang="en-US" sz="4800" i="1">
                <a:solidFill>
                  <a:srgbClr val="00ADB5"/>
                </a:solidFill>
                <a:latin typeface="Anton Italics"/>
                <a:ea typeface="Anton Italics"/>
                <a:cs typeface="Anton Italics"/>
                <a:sym typeface="Anton Italics"/>
              </a:rPr>
              <a:t> SYSTEM ARCHITECTURE</a:t>
            </a:r>
          </a:p>
        </p:txBody>
      </p:sp>
      <p:sp>
        <p:nvSpPr>
          <p:cNvPr id="7" name="TextBox 7"/>
          <p:cNvSpPr txBox="1"/>
          <p:nvPr/>
        </p:nvSpPr>
        <p:spPr>
          <a:xfrm>
            <a:off x="0" y="1473862"/>
            <a:ext cx="11203930" cy="4210235"/>
          </a:xfrm>
          <a:prstGeom prst="rect">
            <a:avLst/>
          </a:prstGeom>
        </p:spPr>
        <p:txBody>
          <a:bodyPr lIns="0" tIns="0" rIns="0" bIns="0" rtlCol="0" anchor="t">
            <a:spAutoFit/>
          </a:bodyPr>
          <a:lstStyle/>
          <a:p>
            <a:pPr marL="834918" lvl="1" indent="-417459" algn="just">
              <a:lnSpc>
                <a:spcPts val="4988"/>
              </a:lnSpc>
              <a:spcBef>
                <a:spcPct val="0"/>
              </a:spcBef>
              <a:buFont typeface="Arial"/>
              <a:buChar char="•"/>
            </a:pPr>
            <a:r>
              <a:rPr lang="en-US" sz="3867" u="none" strike="noStrike" spc="-212">
                <a:solidFill>
                  <a:srgbClr val="FFFFFF"/>
                </a:solidFill>
                <a:latin typeface="Open Sans"/>
                <a:ea typeface="Open Sans"/>
                <a:cs typeface="Open Sans"/>
                <a:sym typeface="Open Sans"/>
              </a:rPr>
              <a:t>Ultrasonic sensor measures distance (TOF method)</a:t>
            </a:r>
          </a:p>
          <a:p>
            <a:pPr marL="834918" lvl="1" indent="-417459" algn="just">
              <a:lnSpc>
                <a:spcPts val="4988"/>
              </a:lnSpc>
              <a:spcBef>
                <a:spcPct val="0"/>
              </a:spcBef>
              <a:buFont typeface="Arial"/>
              <a:buChar char="•"/>
            </a:pPr>
            <a:r>
              <a:rPr lang="en-US" sz="3867" u="none" strike="noStrike" spc="-212">
                <a:solidFill>
                  <a:srgbClr val="FFFFFF"/>
                </a:solidFill>
                <a:latin typeface="Open Sans"/>
                <a:ea typeface="Open Sans"/>
                <a:cs typeface="Open Sans"/>
                <a:sym typeface="Open Sans"/>
              </a:rPr>
              <a:t>ESP32-CAM processes data</a:t>
            </a:r>
          </a:p>
          <a:p>
            <a:pPr marL="834918" lvl="1" indent="-417459" algn="just">
              <a:lnSpc>
                <a:spcPts val="4988"/>
              </a:lnSpc>
              <a:buFont typeface="Arial"/>
              <a:buChar char="•"/>
            </a:pPr>
            <a:r>
              <a:rPr lang="en-US" sz="3867" u="none" strike="noStrike" spc="-212">
                <a:solidFill>
                  <a:srgbClr val="FFFFFF"/>
                </a:solidFill>
                <a:latin typeface="Open Sans"/>
                <a:ea typeface="Open Sans"/>
                <a:cs typeface="Open Sans"/>
                <a:sym typeface="Open Sans"/>
              </a:rPr>
              <a:t>Website displays:</a:t>
            </a:r>
          </a:p>
          <a:p>
            <a:pPr algn="just">
              <a:lnSpc>
                <a:spcPts val="4988"/>
              </a:lnSpc>
            </a:pPr>
            <a:r>
              <a:rPr lang="en-US" sz="3867" u="none" strike="noStrike" spc="-212">
                <a:solidFill>
                  <a:srgbClr val="FFFFFF"/>
                </a:solidFill>
                <a:latin typeface="Open Sans"/>
                <a:ea typeface="Open Sans"/>
                <a:cs typeface="Open Sans"/>
                <a:sym typeface="Open Sans"/>
              </a:rPr>
              <a:t>        Tables</a:t>
            </a:r>
          </a:p>
          <a:p>
            <a:pPr algn="just">
              <a:lnSpc>
                <a:spcPts val="4988"/>
              </a:lnSpc>
            </a:pPr>
            <a:r>
              <a:rPr lang="en-US" sz="3867" u="none" strike="noStrike" spc="-212">
                <a:solidFill>
                  <a:srgbClr val="FFFFFF"/>
                </a:solidFill>
                <a:latin typeface="Open Sans"/>
                <a:ea typeface="Open Sans"/>
                <a:cs typeface="Open Sans"/>
                <a:sym typeface="Open Sans"/>
              </a:rPr>
              <a:t>        Graphs</a:t>
            </a:r>
          </a:p>
          <a:p>
            <a:pPr marL="834918" lvl="1" indent="-417459" algn="just">
              <a:lnSpc>
                <a:spcPts val="4988"/>
              </a:lnSpc>
              <a:buFont typeface="Arial"/>
              <a:buChar char="•"/>
            </a:pPr>
            <a:r>
              <a:rPr lang="en-US" sz="3867" u="none" strike="noStrike" spc="-212">
                <a:solidFill>
                  <a:srgbClr val="FFFFFF"/>
                </a:solidFill>
                <a:latin typeface="Open Sans"/>
                <a:ea typeface="Open Sans"/>
                <a:cs typeface="Open Sans"/>
                <a:sym typeface="Open Sans"/>
              </a:rPr>
              <a:t>IoT-based real-time monitoring</a:t>
            </a:r>
          </a:p>
          <a:p>
            <a:pPr marL="0" lvl="1" indent="0" algn="just">
              <a:lnSpc>
                <a:spcPts val="3569"/>
              </a:lnSpc>
              <a:spcBef>
                <a:spcPct val="0"/>
              </a:spcBef>
            </a:pPr>
            <a:endParaRPr lang="en-US" sz="3867" u="none" strike="noStrike" spc="-212">
              <a:solidFill>
                <a:srgbClr val="FFFFFF"/>
              </a:solidFill>
              <a:latin typeface="Open Sans"/>
              <a:ea typeface="Open Sans"/>
              <a:cs typeface="Open Sans"/>
              <a:sym typeface="Open Sans"/>
            </a:endParaRPr>
          </a:p>
        </p:txBody>
      </p:sp>
      <p:sp>
        <p:nvSpPr>
          <p:cNvPr id="8" name="TextBox 8"/>
          <p:cNvSpPr txBox="1"/>
          <p:nvPr/>
        </p:nvSpPr>
        <p:spPr>
          <a:xfrm>
            <a:off x="0" y="6705415"/>
            <a:ext cx="10577066" cy="3581585"/>
          </a:xfrm>
          <a:prstGeom prst="rect">
            <a:avLst/>
          </a:prstGeom>
        </p:spPr>
        <p:txBody>
          <a:bodyPr lIns="0" tIns="0" rIns="0" bIns="0" rtlCol="0" anchor="t">
            <a:spAutoFit/>
          </a:bodyPr>
          <a:lstStyle/>
          <a:p>
            <a:pPr marL="834918" lvl="1" indent="-417459" algn="just">
              <a:lnSpc>
                <a:spcPts val="4988"/>
              </a:lnSpc>
              <a:spcBef>
                <a:spcPct val="0"/>
              </a:spcBef>
              <a:buFont typeface="Arial"/>
              <a:buChar char="•"/>
            </a:pPr>
            <a:r>
              <a:rPr lang="en-US" sz="3867" u="none" strike="noStrike" spc="-212">
                <a:solidFill>
                  <a:srgbClr val="FFFFFF"/>
                </a:solidFill>
                <a:latin typeface="Open Sans"/>
                <a:ea typeface="Open Sans"/>
                <a:cs typeface="Open Sans"/>
                <a:sym typeface="Open Sans"/>
              </a:rPr>
              <a:t>Ultrasonic wave emitted → reflected → received</a:t>
            </a:r>
          </a:p>
          <a:p>
            <a:pPr marL="834918" lvl="1" indent="-417459" algn="just">
              <a:lnSpc>
                <a:spcPts val="4988"/>
              </a:lnSpc>
              <a:buFont typeface="Arial"/>
              <a:buChar char="•"/>
            </a:pPr>
            <a:r>
              <a:rPr lang="en-US" sz="3867" u="none" strike="noStrike" spc="-212">
                <a:solidFill>
                  <a:srgbClr val="FFFFFF"/>
                </a:solidFill>
                <a:latin typeface="Open Sans"/>
                <a:ea typeface="Open Sans"/>
                <a:cs typeface="Open Sans"/>
                <a:sym typeface="Open Sans"/>
              </a:rPr>
              <a:t>Time of flight used to calculate distance</a:t>
            </a:r>
          </a:p>
          <a:p>
            <a:pPr marL="834918" lvl="1" indent="-417459" algn="just">
              <a:lnSpc>
                <a:spcPts val="4988"/>
              </a:lnSpc>
              <a:buFont typeface="Arial"/>
              <a:buChar char="•"/>
            </a:pPr>
            <a:r>
              <a:rPr lang="en-US" sz="3867" u="none" strike="noStrike" spc="-212">
                <a:solidFill>
                  <a:srgbClr val="FFFFFF"/>
                </a:solidFill>
                <a:latin typeface="Open Sans"/>
                <a:ea typeface="Open Sans"/>
                <a:cs typeface="Open Sans"/>
                <a:sym typeface="Open Sans"/>
              </a:rPr>
              <a:t>Speed and acceleration derived mathematically</a:t>
            </a:r>
          </a:p>
          <a:p>
            <a:pPr marL="834918" lvl="1" indent="-417459" algn="just">
              <a:lnSpc>
                <a:spcPts val="4988"/>
              </a:lnSpc>
              <a:buFont typeface="Arial"/>
              <a:buChar char="•"/>
            </a:pPr>
            <a:r>
              <a:rPr lang="en-US" sz="3867" u="none" strike="noStrike" spc="-212">
                <a:solidFill>
                  <a:srgbClr val="FFFFFF"/>
                </a:solidFill>
                <a:latin typeface="Open Sans"/>
                <a:ea typeface="Open Sans"/>
                <a:cs typeface="Open Sans"/>
                <a:sym typeface="Open Sans"/>
              </a:rPr>
              <a:t>Environmental factors considered (temperature</a:t>
            </a:r>
          </a:p>
          <a:p>
            <a:pPr algn="just">
              <a:lnSpc>
                <a:spcPts val="4988"/>
              </a:lnSpc>
            </a:pPr>
            <a:endParaRPr lang="en-US" sz="3867" u="none" strike="noStrike" spc="-212">
              <a:solidFill>
                <a:srgbClr val="FFFFFF"/>
              </a:solidFill>
              <a:latin typeface="Open Sans"/>
              <a:ea typeface="Open Sans"/>
              <a:cs typeface="Open Sans"/>
              <a:sym typeface="Open Sans"/>
            </a:endParaRPr>
          </a:p>
          <a:p>
            <a:pPr marL="0" lvl="1" indent="0" algn="just">
              <a:lnSpc>
                <a:spcPts val="3569"/>
              </a:lnSpc>
              <a:spcBef>
                <a:spcPct val="0"/>
              </a:spcBef>
            </a:pPr>
            <a:endParaRPr lang="en-US" sz="3867" u="none" strike="noStrike" spc="-212">
              <a:solidFill>
                <a:srgbClr val="FFFFFF"/>
              </a:solidFill>
              <a:latin typeface="Open Sans"/>
              <a:ea typeface="Open Sans"/>
              <a:cs typeface="Open Sans"/>
              <a:sym typeface="Open Sans"/>
            </a:endParaRPr>
          </a:p>
        </p:txBody>
      </p:sp>
      <p:sp>
        <p:nvSpPr>
          <p:cNvPr id="9" name="TextBox 9"/>
          <p:cNvSpPr txBox="1"/>
          <p:nvPr/>
        </p:nvSpPr>
        <p:spPr>
          <a:xfrm>
            <a:off x="150254" y="5588847"/>
            <a:ext cx="6282429" cy="821044"/>
          </a:xfrm>
          <a:prstGeom prst="rect">
            <a:avLst/>
          </a:prstGeom>
        </p:spPr>
        <p:txBody>
          <a:bodyPr lIns="0" tIns="0" rIns="0" bIns="0" rtlCol="0" anchor="t">
            <a:spAutoFit/>
          </a:bodyPr>
          <a:lstStyle/>
          <a:p>
            <a:pPr algn="l">
              <a:lnSpc>
                <a:spcPts val="6720"/>
              </a:lnSpc>
            </a:pPr>
            <a:r>
              <a:rPr lang="en-US" sz="4800" i="1">
                <a:solidFill>
                  <a:srgbClr val="00ADB5"/>
                </a:solidFill>
                <a:latin typeface="Anton Italics"/>
                <a:ea typeface="Anton Italics"/>
                <a:cs typeface="Anton Italics"/>
                <a:sym typeface="Anton Italics"/>
              </a:rPr>
              <a:t>WORKING PRINCIPLE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950962">
            <a:off x="14962176" y="-958994"/>
            <a:ext cx="4594247" cy="4594247"/>
          </a:xfrm>
          <a:custGeom>
            <a:avLst/>
            <a:gdLst/>
            <a:ahLst/>
            <a:cxnLst/>
            <a:rect l="l" t="t" r="r" b="b"/>
            <a:pathLst>
              <a:path w="4594247" h="4594247">
                <a:moveTo>
                  <a:pt x="0" y="0"/>
                </a:moveTo>
                <a:lnTo>
                  <a:pt x="4594248" y="0"/>
                </a:lnTo>
                <a:lnTo>
                  <a:pt x="4594248" y="4594247"/>
                </a:lnTo>
                <a:lnTo>
                  <a:pt x="0" y="459424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950962">
            <a:off x="16607554" y="-705213"/>
            <a:ext cx="3360891" cy="3360891"/>
          </a:xfrm>
          <a:custGeom>
            <a:avLst/>
            <a:gdLst/>
            <a:ahLst/>
            <a:cxnLst/>
            <a:rect l="l" t="t" r="r" b="b"/>
            <a:pathLst>
              <a:path w="3360891" h="3360891">
                <a:moveTo>
                  <a:pt x="0" y="0"/>
                </a:moveTo>
                <a:lnTo>
                  <a:pt x="3360892" y="0"/>
                </a:lnTo>
                <a:lnTo>
                  <a:pt x="3360892" y="3360891"/>
                </a:lnTo>
                <a:lnTo>
                  <a:pt x="0" y="33608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9938400">
            <a:off x="16337080" y="7305667"/>
            <a:ext cx="3360891" cy="3360891"/>
          </a:xfrm>
          <a:custGeom>
            <a:avLst/>
            <a:gdLst/>
            <a:ahLst/>
            <a:cxnLst/>
            <a:rect l="l" t="t" r="r" b="b"/>
            <a:pathLst>
              <a:path w="3360891" h="3360891">
                <a:moveTo>
                  <a:pt x="0" y="0"/>
                </a:moveTo>
                <a:lnTo>
                  <a:pt x="3360891" y="0"/>
                </a:lnTo>
                <a:lnTo>
                  <a:pt x="3360891" y="3360891"/>
                </a:lnTo>
                <a:lnTo>
                  <a:pt x="0" y="33608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9938400">
            <a:off x="15068142" y="8606554"/>
            <a:ext cx="3360891" cy="3360891"/>
          </a:xfrm>
          <a:custGeom>
            <a:avLst/>
            <a:gdLst/>
            <a:ahLst/>
            <a:cxnLst/>
            <a:rect l="l" t="t" r="r" b="b"/>
            <a:pathLst>
              <a:path w="3360891" h="3360891">
                <a:moveTo>
                  <a:pt x="0" y="0"/>
                </a:moveTo>
                <a:lnTo>
                  <a:pt x="3360891" y="0"/>
                </a:lnTo>
                <a:lnTo>
                  <a:pt x="3360891" y="3360892"/>
                </a:lnTo>
                <a:lnTo>
                  <a:pt x="0" y="33608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aphicFrame>
        <p:nvGraphicFramePr>
          <p:cNvPr id="6" name="Object 6"/>
          <p:cNvGraphicFramePr/>
          <p:nvPr>
            <p:extLst>
              <p:ext uri="{D42A27DB-BD31-4B8C-83A1-F6EECF244321}">
                <p14:modId xmlns:p14="http://schemas.microsoft.com/office/powerpoint/2010/main" val="3491286384"/>
              </p:ext>
            </p:extLst>
          </p:nvPr>
        </p:nvGraphicFramePr>
        <p:xfrm>
          <a:off x="-1036135" y="-152188"/>
          <a:ext cx="18295434" cy="9779506"/>
        </p:xfrm>
        <a:graphic>
          <a:graphicData uri="http://schemas.openxmlformats.org/presentationml/2006/ole">
            <mc:AlternateContent xmlns:mc="http://schemas.openxmlformats.org/markup-compatibility/2006">
              <mc:Choice xmlns:v="urn:schemas-microsoft-com:vml" Requires="v">
                <p:oleObj name="Worksheet" r:id="rId4" imgW="16903700" imgH="8369300" progId="Excel.Sheet.12">
                  <p:embed/>
                </p:oleObj>
              </mc:Choice>
              <mc:Fallback>
                <p:oleObj name="Worksheet" r:id="rId4" imgW="16903700" imgH="8369300" progId="Excel.Sheet.12">
                  <p:embed/>
                  <p:pic>
                    <p:nvPicPr>
                      <p:cNvPr id="0" name=""/>
                      <p:cNvPicPr/>
                      <p:nvPr/>
                    </p:nvPicPr>
                    <p:blipFill>
                      <a:blip r:embed="rId5"/>
                      <a:stretch>
                        <a:fillRect/>
                      </a:stretch>
                    </p:blipFill>
                    <p:spPr>
                      <a:xfrm>
                        <a:off x="-1036135" y="-152188"/>
                        <a:ext cx="18295434" cy="9779506"/>
                      </a:xfrm>
                      <a:prstGeom prst="rect">
                        <a:avLst/>
                      </a:prstGeom>
                    </p:spPr>
                  </p:pic>
                </p:oleObj>
              </mc:Fallback>
            </mc:AlternateContent>
          </a:graphicData>
        </a:graphic>
      </p:graphicFrame>
      <p:sp>
        <p:nvSpPr>
          <p:cNvPr id="7" name="TextBox 7"/>
          <p:cNvSpPr txBox="1"/>
          <p:nvPr/>
        </p:nvSpPr>
        <p:spPr>
          <a:xfrm>
            <a:off x="270401" y="154189"/>
            <a:ext cx="6282429" cy="821044"/>
          </a:xfrm>
          <a:prstGeom prst="rect">
            <a:avLst/>
          </a:prstGeom>
        </p:spPr>
        <p:txBody>
          <a:bodyPr lIns="0" tIns="0" rIns="0" bIns="0" rtlCol="0" anchor="t">
            <a:spAutoFit/>
          </a:bodyPr>
          <a:lstStyle/>
          <a:p>
            <a:pPr algn="l">
              <a:lnSpc>
                <a:spcPts val="6720"/>
              </a:lnSpc>
            </a:pPr>
            <a:r>
              <a:rPr lang="en-US" sz="4800" i="1">
                <a:solidFill>
                  <a:srgbClr val="00ADB5"/>
                </a:solidFill>
                <a:latin typeface="Anton Italics"/>
                <a:ea typeface="Anton Italics"/>
                <a:cs typeface="Anton Italics"/>
                <a:sym typeface="Anton Italics"/>
              </a:rPr>
              <a:t>LEARNING TRANSFER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86404">
            <a:off x="6298629" y="-1224950"/>
            <a:ext cx="14584831" cy="13591656"/>
            <a:chOff x="0" y="0"/>
            <a:chExt cx="970100" cy="904040"/>
          </a:xfrm>
        </p:grpSpPr>
        <p:sp>
          <p:nvSpPr>
            <p:cNvPr id="3" name="Freeform 3"/>
            <p:cNvSpPr/>
            <p:nvPr/>
          </p:nvSpPr>
          <p:spPr>
            <a:xfrm>
              <a:off x="0" y="0"/>
              <a:ext cx="970100" cy="904040"/>
            </a:xfrm>
            <a:custGeom>
              <a:avLst/>
              <a:gdLst/>
              <a:ahLst/>
              <a:cxnLst/>
              <a:rect l="l" t="t" r="r" b="b"/>
              <a:pathLst>
                <a:path w="970100" h="904040">
                  <a:moveTo>
                    <a:pt x="203200" y="0"/>
                  </a:moveTo>
                  <a:lnTo>
                    <a:pt x="970100" y="0"/>
                  </a:lnTo>
                  <a:lnTo>
                    <a:pt x="766900" y="904040"/>
                  </a:lnTo>
                  <a:lnTo>
                    <a:pt x="0" y="904040"/>
                  </a:lnTo>
                  <a:lnTo>
                    <a:pt x="203200" y="0"/>
                  </a:lnTo>
                  <a:close/>
                </a:path>
              </a:pathLst>
            </a:custGeom>
            <a:solidFill>
              <a:srgbClr val="000000"/>
            </a:solidFill>
          </p:spPr>
          <p:txBody>
            <a:bodyPr/>
            <a:lstStyle/>
            <a:p>
              <a:endParaRPr lang="en-US"/>
            </a:p>
          </p:txBody>
        </p:sp>
        <p:sp>
          <p:nvSpPr>
            <p:cNvPr id="4" name="TextBox 4"/>
            <p:cNvSpPr txBox="1"/>
            <p:nvPr/>
          </p:nvSpPr>
          <p:spPr>
            <a:xfrm>
              <a:off x="101600" y="-9525"/>
              <a:ext cx="766900" cy="913565"/>
            </a:xfrm>
            <a:prstGeom prst="rect">
              <a:avLst/>
            </a:prstGeom>
          </p:spPr>
          <p:txBody>
            <a:bodyPr lIns="50800" tIns="50800" rIns="50800" bIns="50800" rtlCol="0" anchor="ctr"/>
            <a:lstStyle/>
            <a:p>
              <a:pPr algn="ctr">
                <a:lnSpc>
                  <a:spcPts val="1874"/>
                </a:lnSpc>
              </a:pPr>
              <a:endParaRPr/>
            </a:p>
          </p:txBody>
        </p:sp>
      </p:grpSp>
      <p:sp>
        <p:nvSpPr>
          <p:cNvPr id="5" name="TextBox 5"/>
          <p:cNvSpPr txBox="1"/>
          <p:nvPr/>
        </p:nvSpPr>
        <p:spPr>
          <a:xfrm>
            <a:off x="253501" y="171450"/>
            <a:ext cx="6061814" cy="1543050"/>
          </a:xfrm>
          <a:prstGeom prst="rect">
            <a:avLst/>
          </a:prstGeom>
        </p:spPr>
        <p:txBody>
          <a:bodyPr lIns="0" tIns="0" rIns="0" bIns="0" rtlCol="0" anchor="t">
            <a:spAutoFit/>
          </a:bodyPr>
          <a:lstStyle/>
          <a:p>
            <a:pPr algn="l">
              <a:lnSpc>
                <a:spcPts val="12599"/>
              </a:lnSpc>
            </a:pPr>
            <a:r>
              <a:rPr lang="en-US" sz="9000" i="1">
                <a:solidFill>
                  <a:srgbClr val="000000"/>
                </a:solidFill>
                <a:latin typeface="Anton Italics"/>
                <a:ea typeface="Anton Italics"/>
                <a:cs typeface="Anton Italics"/>
                <a:sym typeface="Anton Italics"/>
              </a:rPr>
              <a:t>CONCLUSION</a:t>
            </a:r>
          </a:p>
        </p:txBody>
      </p:sp>
      <p:sp>
        <p:nvSpPr>
          <p:cNvPr id="6" name="TextBox 6"/>
          <p:cNvSpPr txBox="1"/>
          <p:nvPr/>
        </p:nvSpPr>
        <p:spPr>
          <a:xfrm>
            <a:off x="276225" y="2118925"/>
            <a:ext cx="7221913" cy="5390401"/>
          </a:xfrm>
          <a:prstGeom prst="rect">
            <a:avLst/>
          </a:prstGeom>
        </p:spPr>
        <p:txBody>
          <a:bodyPr lIns="0" tIns="0" rIns="0" bIns="0" rtlCol="0" anchor="t">
            <a:spAutoFit/>
          </a:bodyPr>
          <a:lstStyle/>
          <a:p>
            <a:pPr algn="just">
              <a:lnSpc>
                <a:spcPts val="2430"/>
              </a:lnSpc>
              <a:spcBef>
                <a:spcPct val="0"/>
              </a:spcBef>
            </a:pPr>
            <a:r>
              <a:rPr lang="en-US" sz="1883" spc="-103">
                <a:solidFill>
                  <a:srgbClr val="000000"/>
                </a:solidFill>
                <a:latin typeface="Helios"/>
                <a:ea typeface="Helios"/>
                <a:cs typeface="Helios"/>
                <a:sym typeface="Helios"/>
              </a:rPr>
              <a:t>This</a:t>
            </a:r>
            <a:r>
              <a:rPr lang="en-US" sz="1883" u="none" strike="noStrike" spc="-103">
                <a:solidFill>
                  <a:srgbClr val="000000"/>
                </a:solidFill>
                <a:latin typeface="Helios"/>
                <a:ea typeface="Helios"/>
                <a:cs typeface="Helios"/>
                <a:sym typeface="Helios"/>
              </a:rPr>
              <a:t> project demonstrates that recycled electronic waste can be transformed into a reliable and educational scientific tool. Through iterative testing and analysis, initial limitations—such as the failure of the Hall effect sensor—were identified, scientifically interpreted, and successfully addressed by adopting ultrasonic sensing technology. This optimization reduced the measurement error from approximately 30% to ±2%, meeting and exceeding the project’s design requirements.</a:t>
            </a:r>
          </a:p>
          <a:p>
            <a:pPr algn="just">
              <a:lnSpc>
                <a:spcPts val="2430"/>
              </a:lnSpc>
              <a:spcBef>
                <a:spcPct val="0"/>
              </a:spcBef>
            </a:pPr>
            <a:r>
              <a:rPr lang="en-US" sz="1883" u="none" strike="noStrike" spc="-103">
                <a:solidFill>
                  <a:srgbClr val="000000"/>
                </a:solidFill>
                <a:latin typeface="Helios"/>
                <a:ea typeface="Helios"/>
                <a:cs typeface="Helios"/>
                <a:sym typeface="Helios"/>
              </a:rPr>
              <a:t>The final prototype accurately measures distance, speed, and acceleration, and provides real-time data visualization through an IoT-based website, making it highly suitable for physics laboratory applications. Beyond technical performance, the project highlights the potential of sustainable engineering to enhance the scientific and technological environment while simultaneously reducing electronic waste.</a:t>
            </a:r>
          </a:p>
          <a:p>
            <a:pPr marL="0" lvl="1" indent="0" algn="just">
              <a:lnSpc>
                <a:spcPts val="2430"/>
              </a:lnSpc>
              <a:spcBef>
                <a:spcPct val="0"/>
              </a:spcBef>
            </a:pPr>
            <a:r>
              <a:rPr lang="en-US" sz="1883" u="none" strike="noStrike" spc="-103">
                <a:solidFill>
                  <a:srgbClr val="000000"/>
                </a:solidFill>
                <a:latin typeface="Helios"/>
                <a:ea typeface="Helios"/>
                <a:cs typeface="Helios"/>
                <a:sym typeface="Helios"/>
              </a:rPr>
              <a:t>Overall, the Techno-meter confirms that low-cost, recycled components, when combined with sound scientific principles and systematic analysis, can deliver accurate, reliable, and environmentally responsible solutions for educational use.</a:t>
            </a:r>
          </a:p>
          <a:p>
            <a:pPr algn="just">
              <a:lnSpc>
                <a:spcPts val="2430"/>
              </a:lnSpc>
              <a:spcBef>
                <a:spcPct val="0"/>
              </a:spcBef>
            </a:pPr>
            <a:endParaRPr lang="en-US" sz="1883" u="none" strike="noStrike" spc="-103">
              <a:solidFill>
                <a:srgbClr val="000000"/>
              </a:solidFill>
              <a:latin typeface="Helios"/>
              <a:ea typeface="Helios"/>
              <a:cs typeface="Helios"/>
              <a:sym typeface="Helios"/>
            </a:endParaRPr>
          </a:p>
        </p:txBody>
      </p:sp>
      <p:sp>
        <p:nvSpPr>
          <p:cNvPr id="7" name="Freeform 7"/>
          <p:cNvSpPr/>
          <p:nvPr/>
        </p:nvSpPr>
        <p:spPr>
          <a:xfrm rot="9590528">
            <a:off x="15584787" y="6899860"/>
            <a:ext cx="3552382" cy="3552382"/>
          </a:xfrm>
          <a:custGeom>
            <a:avLst/>
            <a:gdLst/>
            <a:ahLst/>
            <a:cxnLst/>
            <a:rect l="l" t="t" r="r" b="b"/>
            <a:pathLst>
              <a:path w="3552382" h="3552382">
                <a:moveTo>
                  <a:pt x="0" y="0"/>
                </a:moveTo>
                <a:lnTo>
                  <a:pt x="3552381" y="0"/>
                </a:lnTo>
                <a:lnTo>
                  <a:pt x="3552381" y="3552381"/>
                </a:lnTo>
                <a:lnTo>
                  <a:pt x="0" y="35523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rot="9590528">
            <a:off x="16511809" y="7776881"/>
            <a:ext cx="3552382" cy="3552382"/>
          </a:xfrm>
          <a:custGeom>
            <a:avLst/>
            <a:gdLst/>
            <a:ahLst/>
            <a:cxnLst/>
            <a:rect l="l" t="t" r="r" b="b"/>
            <a:pathLst>
              <a:path w="3552382" h="3552382">
                <a:moveTo>
                  <a:pt x="0" y="0"/>
                </a:moveTo>
                <a:lnTo>
                  <a:pt x="3552382" y="0"/>
                </a:lnTo>
                <a:lnTo>
                  <a:pt x="3552382" y="3552382"/>
                </a:lnTo>
                <a:lnTo>
                  <a:pt x="0" y="35523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rot="-8344084" flipV="1">
            <a:off x="6703371" y="-487832"/>
            <a:ext cx="3840584" cy="3840584"/>
          </a:xfrm>
          <a:custGeom>
            <a:avLst/>
            <a:gdLst/>
            <a:ahLst/>
            <a:cxnLst/>
            <a:rect l="l" t="t" r="r" b="b"/>
            <a:pathLst>
              <a:path w="3840584" h="3840584">
                <a:moveTo>
                  <a:pt x="0" y="3840584"/>
                </a:moveTo>
                <a:lnTo>
                  <a:pt x="3840585" y="3840584"/>
                </a:lnTo>
                <a:lnTo>
                  <a:pt x="3840585" y="0"/>
                </a:lnTo>
                <a:lnTo>
                  <a:pt x="0" y="0"/>
                </a:lnTo>
                <a:lnTo>
                  <a:pt x="0" y="3840584"/>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rot="-8344084" flipV="1">
            <a:off x="6042882" y="-2213311"/>
            <a:ext cx="3840584" cy="3840584"/>
          </a:xfrm>
          <a:custGeom>
            <a:avLst/>
            <a:gdLst/>
            <a:ahLst/>
            <a:cxnLst/>
            <a:rect l="l" t="t" r="r" b="b"/>
            <a:pathLst>
              <a:path w="3840584" h="3840584">
                <a:moveTo>
                  <a:pt x="0" y="3840585"/>
                </a:moveTo>
                <a:lnTo>
                  <a:pt x="3840584" y="3840585"/>
                </a:lnTo>
                <a:lnTo>
                  <a:pt x="3840584" y="0"/>
                </a:lnTo>
                <a:lnTo>
                  <a:pt x="0" y="0"/>
                </a:lnTo>
                <a:lnTo>
                  <a:pt x="0" y="3840585"/>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1" name="Group 11"/>
          <p:cNvGrpSpPr>
            <a:grpSpLocks noChangeAspect="1"/>
          </p:cNvGrpSpPr>
          <p:nvPr/>
        </p:nvGrpSpPr>
        <p:grpSpPr>
          <a:xfrm>
            <a:off x="8286897" y="2415842"/>
            <a:ext cx="9812814" cy="5519708"/>
            <a:chOff x="0" y="0"/>
            <a:chExt cx="5852160" cy="3291840"/>
          </a:xfrm>
        </p:grpSpPr>
        <p:sp>
          <p:nvSpPr>
            <p:cNvPr id="12" name="Freeform 12"/>
            <p:cNvSpPr/>
            <p:nvPr/>
          </p:nvSpPr>
          <p:spPr>
            <a:xfrm>
              <a:off x="0" y="17399"/>
              <a:ext cx="1966214" cy="3243707"/>
            </a:xfrm>
            <a:custGeom>
              <a:avLst/>
              <a:gdLst/>
              <a:ahLst/>
              <a:cxnLst/>
              <a:rect l="l" t="t" r="r" b="b"/>
              <a:pathLst>
                <a:path w="1966214" h="3243707">
                  <a:moveTo>
                    <a:pt x="0" y="0"/>
                  </a:moveTo>
                  <a:lnTo>
                    <a:pt x="1966214" y="0"/>
                  </a:lnTo>
                  <a:lnTo>
                    <a:pt x="1966214" y="3243707"/>
                  </a:lnTo>
                  <a:lnTo>
                    <a:pt x="0" y="3243707"/>
                  </a:lnTo>
                  <a:lnTo>
                    <a:pt x="0" y="0"/>
                  </a:lnTo>
                  <a:close/>
                </a:path>
              </a:pathLst>
            </a:custGeom>
            <a:blipFill>
              <a:blip r:embed="rId4"/>
              <a:stretch>
                <a:fillRect r="-233277"/>
              </a:stretch>
            </a:blipFill>
          </p:spPr>
          <p:txBody>
            <a:bodyPr/>
            <a:lstStyle/>
            <a:p>
              <a:endParaRPr lang="en-US"/>
            </a:p>
          </p:txBody>
        </p:sp>
        <p:sp>
          <p:nvSpPr>
            <p:cNvPr id="13" name="Freeform 13"/>
            <p:cNvSpPr/>
            <p:nvPr/>
          </p:nvSpPr>
          <p:spPr>
            <a:xfrm rot="5153506">
              <a:off x="1276847" y="534817"/>
              <a:ext cx="3377334" cy="2208871"/>
            </a:xfrm>
            <a:custGeom>
              <a:avLst/>
              <a:gdLst/>
              <a:ahLst/>
              <a:cxnLst/>
              <a:rect l="l" t="t" r="r" b="b"/>
              <a:pathLst>
                <a:path w="3377334" h="2208871">
                  <a:moveTo>
                    <a:pt x="3377334" y="232382"/>
                  </a:moveTo>
                  <a:lnTo>
                    <a:pt x="3235372" y="2208871"/>
                  </a:lnTo>
                  <a:lnTo>
                    <a:pt x="0" y="1976489"/>
                  </a:lnTo>
                  <a:lnTo>
                    <a:pt x="141961" y="0"/>
                  </a:lnTo>
                  <a:lnTo>
                    <a:pt x="3377334" y="232382"/>
                  </a:lnTo>
                  <a:close/>
                </a:path>
              </a:pathLst>
            </a:custGeom>
            <a:blipFill>
              <a:blip r:embed="rId5"/>
              <a:stretch>
                <a:fillRect l="-342" t="-33080" r="-20146" b="-7281"/>
              </a:stretch>
            </a:blipFill>
          </p:spPr>
          <p:txBody>
            <a:bodyPr/>
            <a:lstStyle/>
            <a:p>
              <a:endParaRPr lang="en-US"/>
            </a:p>
          </p:txBody>
        </p:sp>
        <p:sp>
          <p:nvSpPr>
            <p:cNvPr id="14" name="Freeform 14"/>
            <p:cNvSpPr/>
            <p:nvPr/>
          </p:nvSpPr>
          <p:spPr>
            <a:xfrm rot="4730692">
              <a:off x="3128077" y="406579"/>
              <a:ext cx="3562343" cy="2480714"/>
            </a:xfrm>
            <a:custGeom>
              <a:avLst/>
              <a:gdLst/>
              <a:ahLst/>
              <a:cxnLst/>
              <a:rect l="l" t="t" r="r" b="b"/>
              <a:pathLst>
                <a:path w="3562343" h="2480714">
                  <a:moveTo>
                    <a:pt x="3562343" y="630520"/>
                  </a:moveTo>
                  <a:lnTo>
                    <a:pt x="3197500" y="2480714"/>
                  </a:lnTo>
                  <a:lnTo>
                    <a:pt x="0" y="1850194"/>
                  </a:lnTo>
                  <a:lnTo>
                    <a:pt x="364842" y="0"/>
                  </a:lnTo>
                  <a:lnTo>
                    <a:pt x="3562343" y="630520"/>
                  </a:lnTo>
                  <a:close/>
                </a:path>
              </a:pathLst>
            </a:custGeom>
            <a:blipFill>
              <a:blip r:embed="rId6"/>
              <a:stretch>
                <a:fillRect l="-4658" t="-7920" r="-3027" b="-6584"/>
              </a:stretch>
            </a:blipFill>
          </p:spPr>
          <p:txBody>
            <a:bodyPr/>
            <a:lstStyle/>
            <a:p>
              <a:endParaRPr lang="en-US"/>
            </a:p>
          </p:txBody>
        </p:sp>
        <p:sp>
          <p:nvSpPr>
            <p:cNvPr id="15" name="Freeform 15"/>
            <p:cNvSpPr/>
            <p:nvPr/>
          </p:nvSpPr>
          <p:spPr>
            <a:xfrm>
              <a:off x="0" y="0"/>
              <a:ext cx="5852160" cy="3291840"/>
            </a:xfrm>
            <a:custGeom>
              <a:avLst/>
              <a:gdLst/>
              <a:ahLst/>
              <a:cxnLst/>
              <a:rect l="l" t="t" r="r" b="b"/>
              <a:pathLst>
                <a:path w="5852160" h="3291840">
                  <a:moveTo>
                    <a:pt x="5852160" y="3291840"/>
                  </a:moveTo>
                  <a:lnTo>
                    <a:pt x="0" y="3291840"/>
                  </a:lnTo>
                  <a:lnTo>
                    <a:pt x="0" y="0"/>
                  </a:lnTo>
                  <a:lnTo>
                    <a:pt x="5852160" y="0"/>
                  </a:lnTo>
                  <a:lnTo>
                    <a:pt x="5852160" y="3291840"/>
                  </a:lnTo>
                  <a:close/>
                </a:path>
              </a:pathLst>
            </a:custGeom>
            <a:blipFill>
              <a:blip r:embed="rId7"/>
              <a:stretch>
                <a:fillRect/>
              </a:stretch>
            </a:blipFill>
          </p:spPr>
          <p:txBody>
            <a:bodyPr/>
            <a:lstStyle/>
            <a:p>
              <a:endParaRPr lang="en-US"/>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86404">
            <a:off x="6298629" y="-1224950"/>
            <a:ext cx="14584831" cy="13591656"/>
            <a:chOff x="0" y="0"/>
            <a:chExt cx="970100" cy="904040"/>
          </a:xfrm>
        </p:grpSpPr>
        <p:sp>
          <p:nvSpPr>
            <p:cNvPr id="3" name="Freeform 3"/>
            <p:cNvSpPr/>
            <p:nvPr/>
          </p:nvSpPr>
          <p:spPr>
            <a:xfrm>
              <a:off x="0" y="0"/>
              <a:ext cx="970100" cy="904040"/>
            </a:xfrm>
            <a:custGeom>
              <a:avLst/>
              <a:gdLst/>
              <a:ahLst/>
              <a:cxnLst/>
              <a:rect l="l" t="t" r="r" b="b"/>
              <a:pathLst>
                <a:path w="970100" h="904040">
                  <a:moveTo>
                    <a:pt x="203200" y="0"/>
                  </a:moveTo>
                  <a:lnTo>
                    <a:pt x="970100" y="0"/>
                  </a:lnTo>
                  <a:lnTo>
                    <a:pt x="766900" y="904040"/>
                  </a:lnTo>
                  <a:lnTo>
                    <a:pt x="0" y="904040"/>
                  </a:lnTo>
                  <a:lnTo>
                    <a:pt x="203200" y="0"/>
                  </a:lnTo>
                  <a:close/>
                </a:path>
              </a:pathLst>
            </a:custGeom>
            <a:solidFill>
              <a:srgbClr val="000000"/>
            </a:solidFill>
          </p:spPr>
          <p:txBody>
            <a:bodyPr/>
            <a:lstStyle/>
            <a:p>
              <a:endParaRPr lang="en-US"/>
            </a:p>
          </p:txBody>
        </p:sp>
        <p:sp>
          <p:nvSpPr>
            <p:cNvPr id="4" name="TextBox 4"/>
            <p:cNvSpPr txBox="1"/>
            <p:nvPr/>
          </p:nvSpPr>
          <p:spPr>
            <a:xfrm>
              <a:off x="101600" y="-9525"/>
              <a:ext cx="766900" cy="913565"/>
            </a:xfrm>
            <a:prstGeom prst="rect">
              <a:avLst/>
            </a:prstGeom>
          </p:spPr>
          <p:txBody>
            <a:bodyPr lIns="50800" tIns="50800" rIns="50800" bIns="50800" rtlCol="0" anchor="ctr"/>
            <a:lstStyle/>
            <a:p>
              <a:pPr algn="ctr">
                <a:lnSpc>
                  <a:spcPts val="1874"/>
                </a:lnSpc>
              </a:pPr>
              <a:endParaRPr/>
            </a:p>
          </p:txBody>
        </p:sp>
      </p:grpSp>
      <p:sp>
        <p:nvSpPr>
          <p:cNvPr id="5" name="TextBox 5"/>
          <p:cNvSpPr txBox="1"/>
          <p:nvPr/>
        </p:nvSpPr>
        <p:spPr>
          <a:xfrm>
            <a:off x="253501" y="171450"/>
            <a:ext cx="7477739" cy="1543050"/>
          </a:xfrm>
          <a:prstGeom prst="rect">
            <a:avLst/>
          </a:prstGeom>
        </p:spPr>
        <p:txBody>
          <a:bodyPr lIns="0" tIns="0" rIns="0" bIns="0" rtlCol="0" anchor="t">
            <a:spAutoFit/>
          </a:bodyPr>
          <a:lstStyle/>
          <a:p>
            <a:pPr algn="l">
              <a:lnSpc>
                <a:spcPts val="12599"/>
              </a:lnSpc>
            </a:pPr>
            <a:r>
              <a:rPr lang="en-US" sz="9000" i="1">
                <a:solidFill>
                  <a:srgbClr val="000000"/>
                </a:solidFill>
                <a:latin typeface="Anton Italics"/>
                <a:ea typeface="Anton Italics"/>
                <a:cs typeface="Anton Italics"/>
                <a:sym typeface="Anton Italics"/>
              </a:rPr>
              <a:t>RECOMMEDATION</a:t>
            </a:r>
          </a:p>
        </p:txBody>
      </p:sp>
      <p:sp>
        <p:nvSpPr>
          <p:cNvPr id="6" name="TextBox 6"/>
          <p:cNvSpPr txBox="1"/>
          <p:nvPr/>
        </p:nvSpPr>
        <p:spPr>
          <a:xfrm>
            <a:off x="253501" y="2134936"/>
            <a:ext cx="7221913" cy="5988552"/>
          </a:xfrm>
          <a:prstGeom prst="rect">
            <a:avLst/>
          </a:prstGeom>
        </p:spPr>
        <p:txBody>
          <a:bodyPr lIns="0" tIns="0" rIns="0" bIns="0" rtlCol="0" anchor="t">
            <a:spAutoFit/>
          </a:bodyPr>
          <a:lstStyle/>
          <a:p>
            <a:pPr algn="just">
              <a:lnSpc>
                <a:spcPts val="2430"/>
              </a:lnSpc>
              <a:spcBef>
                <a:spcPct val="0"/>
              </a:spcBef>
            </a:pPr>
            <a:r>
              <a:rPr lang="en-US" sz="1883" spc="-103">
                <a:solidFill>
                  <a:srgbClr val="000000"/>
                </a:solidFill>
                <a:latin typeface="Helios"/>
                <a:ea typeface="Helios"/>
                <a:cs typeface="Helios"/>
                <a:sym typeface="Helios"/>
              </a:rPr>
              <a:t>There is</a:t>
            </a:r>
            <a:r>
              <a:rPr lang="en-US" sz="1883" u="none" strike="noStrike" spc="-103">
                <a:solidFill>
                  <a:srgbClr val="000000"/>
                </a:solidFill>
                <a:latin typeface="Helios"/>
                <a:ea typeface="Helios"/>
                <a:cs typeface="Helios"/>
                <a:sym typeface="Helios"/>
              </a:rPr>
              <a:t> no perfect prototype, and our prototype is not exception. We recommend some features and attributes that can make major effects in the project that could help in improving the application and efficiency of our project. To turn this project to a final product several suggestions should be considered as follows:</a:t>
            </a:r>
          </a:p>
          <a:p>
            <a:pPr algn="just">
              <a:lnSpc>
                <a:spcPts val="2430"/>
              </a:lnSpc>
              <a:spcBef>
                <a:spcPct val="0"/>
              </a:spcBef>
            </a:pPr>
            <a:r>
              <a:rPr lang="en-US" sz="1883" u="none" strike="noStrike" spc="-103">
                <a:solidFill>
                  <a:srgbClr val="000000"/>
                </a:solidFill>
                <a:latin typeface="Helios"/>
                <a:ea typeface="Helios"/>
                <a:cs typeface="Helios"/>
                <a:sym typeface="Helios"/>
              </a:rPr>
              <a:t> I. Improve Measurement Accuracy: using better, more accurate sensors along with the processing unit is critical for a larger scale building, considering its scarcity regarding small scale prototypes. </a:t>
            </a:r>
          </a:p>
          <a:p>
            <a:pPr algn="just">
              <a:lnSpc>
                <a:spcPts val="2430"/>
              </a:lnSpc>
              <a:spcBef>
                <a:spcPct val="0"/>
              </a:spcBef>
            </a:pPr>
            <a:r>
              <a:rPr lang="en-US" sz="1883" u="none" strike="noStrike" spc="-103">
                <a:solidFill>
                  <a:srgbClr val="000000"/>
                </a:solidFill>
                <a:latin typeface="Helios"/>
                <a:ea typeface="Helios"/>
                <a:cs typeface="Helios"/>
                <a:sym typeface="Helios"/>
              </a:rPr>
              <a:t>II. Reinforce Mechanical Components: Strengthen the car chassis and overall car body and the track, ensure stable performance and reduce errors considering high-speed testing</a:t>
            </a:r>
          </a:p>
          <a:p>
            <a:pPr algn="just">
              <a:lnSpc>
                <a:spcPts val="2430"/>
              </a:lnSpc>
              <a:spcBef>
                <a:spcPct val="0"/>
              </a:spcBef>
            </a:pPr>
            <a:r>
              <a:rPr lang="en-US" sz="1883" u="none" strike="noStrike" spc="-103">
                <a:solidFill>
                  <a:srgbClr val="000000"/>
                </a:solidFill>
                <a:latin typeface="Helios"/>
                <a:ea typeface="Helios"/>
                <a:cs typeface="Helios"/>
                <a:sym typeface="Helios"/>
              </a:rPr>
              <a:t> III. Adopt adaptive design: use flexible sensor and hardware modules for replacements and customizations for educational lab experiments. </a:t>
            </a:r>
          </a:p>
          <a:p>
            <a:pPr algn="just">
              <a:lnSpc>
                <a:spcPts val="2430"/>
              </a:lnSpc>
              <a:spcBef>
                <a:spcPct val="0"/>
              </a:spcBef>
            </a:pPr>
            <a:r>
              <a:rPr lang="en-US" sz="1883" u="none" strike="noStrike" spc="-103">
                <a:solidFill>
                  <a:srgbClr val="000000"/>
                </a:solidFill>
                <a:latin typeface="Helios"/>
                <a:ea typeface="Helios"/>
                <a:cs typeface="Helios"/>
                <a:sym typeface="Helios"/>
              </a:rPr>
              <a:t>IV. Increase Sustainability Impact: adopt a well-studied technique of recycling waste materials (using a well-studied plan of which materials will be recycled and how to ensure having the best impact on earth) </a:t>
            </a:r>
          </a:p>
          <a:p>
            <a:pPr marL="0" lvl="1" indent="0" algn="just">
              <a:lnSpc>
                <a:spcPts val="2430"/>
              </a:lnSpc>
              <a:spcBef>
                <a:spcPct val="0"/>
              </a:spcBef>
            </a:pPr>
            <a:r>
              <a:rPr lang="en-US" sz="1883" u="none" strike="noStrike" spc="-103">
                <a:solidFill>
                  <a:srgbClr val="000000"/>
                </a:solidFill>
                <a:latin typeface="Helios"/>
                <a:ea typeface="Helios"/>
                <a:cs typeface="Helios"/>
                <a:sym typeface="Helios"/>
              </a:rPr>
              <a:t>V. Ensure Reliability and Safety: to make a final product out of our prototype, it must meet several safety requirements and standards to withstand any crisis and save students from any fatal error.</a:t>
            </a:r>
          </a:p>
          <a:p>
            <a:pPr algn="just">
              <a:lnSpc>
                <a:spcPts val="2430"/>
              </a:lnSpc>
              <a:spcBef>
                <a:spcPct val="0"/>
              </a:spcBef>
            </a:pPr>
            <a:endParaRPr lang="en-US" sz="1883" u="none" strike="noStrike" spc="-103">
              <a:solidFill>
                <a:srgbClr val="000000"/>
              </a:solidFill>
              <a:latin typeface="Helios"/>
              <a:ea typeface="Helios"/>
              <a:cs typeface="Helios"/>
              <a:sym typeface="Helios"/>
            </a:endParaRPr>
          </a:p>
        </p:txBody>
      </p:sp>
      <p:sp>
        <p:nvSpPr>
          <p:cNvPr id="7" name="Freeform 7"/>
          <p:cNvSpPr/>
          <p:nvPr/>
        </p:nvSpPr>
        <p:spPr>
          <a:xfrm rot="9590528">
            <a:off x="15584787" y="6899860"/>
            <a:ext cx="3552382" cy="3552382"/>
          </a:xfrm>
          <a:custGeom>
            <a:avLst/>
            <a:gdLst/>
            <a:ahLst/>
            <a:cxnLst/>
            <a:rect l="l" t="t" r="r" b="b"/>
            <a:pathLst>
              <a:path w="3552382" h="3552382">
                <a:moveTo>
                  <a:pt x="0" y="0"/>
                </a:moveTo>
                <a:lnTo>
                  <a:pt x="3552381" y="0"/>
                </a:lnTo>
                <a:lnTo>
                  <a:pt x="3552381" y="3552381"/>
                </a:lnTo>
                <a:lnTo>
                  <a:pt x="0" y="35523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rot="9590528">
            <a:off x="16511809" y="7776881"/>
            <a:ext cx="3552382" cy="3552382"/>
          </a:xfrm>
          <a:custGeom>
            <a:avLst/>
            <a:gdLst/>
            <a:ahLst/>
            <a:cxnLst/>
            <a:rect l="l" t="t" r="r" b="b"/>
            <a:pathLst>
              <a:path w="3552382" h="3552382">
                <a:moveTo>
                  <a:pt x="0" y="0"/>
                </a:moveTo>
                <a:lnTo>
                  <a:pt x="3552382" y="0"/>
                </a:lnTo>
                <a:lnTo>
                  <a:pt x="3552382" y="3552382"/>
                </a:lnTo>
                <a:lnTo>
                  <a:pt x="0" y="35523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rot="-8344084" flipV="1">
            <a:off x="6703371" y="-487832"/>
            <a:ext cx="3840584" cy="3840584"/>
          </a:xfrm>
          <a:custGeom>
            <a:avLst/>
            <a:gdLst/>
            <a:ahLst/>
            <a:cxnLst/>
            <a:rect l="l" t="t" r="r" b="b"/>
            <a:pathLst>
              <a:path w="3840584" h="3840584">
                <a:moveTo>
                  <a:pt x="0" y="3840584"/>
                </a:moveTo>
                <a:lnTo>
                  <a:pt x="3840585" y="3840584"/>
                </a:lnTo>
                <a:lnTo>
                  <a:pt x="3840585" y="0"/>
                </a:lnTo>
                <a:lnTo>
                  <a:pt x="0" y="0"/>
                </a:lnTo>
                <a:lnTo>
                  <a:pt x="0" y="3840584"/>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rot="-8344084" flipV="1">
            <a:off x="6042882" y="-2213311"/>
            <a:ext cx="3840584" cy="3840584"/>
          </a:xfrm>
          <a:custGeom>
            <a:avLst/>
            <a:gdLst/>
            <a:ahLst/>
            <a:cxnLst/>
            <a:rect l="l" t="t" r="r" b="b"/>
            <a:pathLst>
              <a:path w="3840584" h="3840584">
                <a:moveTo>
                  <a:pt x="0" y="3840585"/>
                </a:moveTo>
                <a:lnTo>
                  <a:pt x="3840584" y="3840585"/>
                </a:lnTo>
                <a:lnTo>
                  <a:pt x="3840584" y="0"/>
                </a:lnTo>
                <a:lnTo>
                  <a:pt x="0" y="0"/>
                </a:lnTo>
                <a:lnTo>
                  <a:pt x="0" y="3840585"/>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1" name="Group 11"/>
          <p:cNvGrpSpPr>
            <a:grpSpLocks noChangeAspect="1"/>
          </p:cNvGrpSpPr>
          <p:nvPr/>
        </p:nvGrpSpPr>
        <p:grpSpPr>
          <a:xfrm>
            <a:off x="8475186" y="2383646"/>
            <a:ext cx="9812814" cy="5519708"/>
            <a:chOff x="0" y="0"/>
            <a:chExt cx="5852160" cy="3291840"/>
          </a:xfrm>
        </p:grpSpPr>
        <p:sp>
          <p:nvSpPr>
            <p:cNvPr id="12" name="Freeform 12"/>
            <p:cNvSpPr/>
            <p:nvPr/>
          </p:nvSpPr>
          <p:spPr>
            <a:xfrm>
              <a:off x="0" y="17399"/>
              <a:ext cx="1966214" cy="3243707"/>
            </a:xfrm>
            <a:custGeom>
              <a:avLst/>
              <a:gdLst/>
              <a:ahLst/>
              <a:cxnLst/>
              <a:rect l="l" t="t" r="r" b="b"/>
              <a:pathLst>
                <a:path w="1966214" h="3243707">
                  <a:moveTo>
                    <a:pt x="0" y="0"/>
                  </a:moveTo>
                  <a:lnTo>
                    <a:pt x="1966214" y="0"/>
                  </a:lnTo>
                  <a:lnTo>
                    <a:pt x="1966214" y="3243707"/>
                  </a:lnTo>
                  <a:lnTo>
                    <a:pt x="0" y="3243707"/>
                  </a:lnTo>
                  <a:lnTo>
                    <a:pt x="0" y="0"/>
                  </a:lnTo>
                  <a:close/>
                </a:path>
              </a:pathLst>
            </a:custGeom>
            <a:blipFill>
              <a:blip r:embed="rId4"/>
              <a:stretch>
                <a:fillRect l="-11864" r="-11864"/>
              </a:stretch>
            </a:blipFill>
          </p:spPr>
          <p:txBody>
            <a:bodyPr/>
            <a:lstStyle/>
            <a:p>
              <a:endParaRPr lang="en-US"/>
            </a:p>
          </p:txBody>
        </p:sp>
        <p:sp>
          <p:nvSpPr>
            <p:cNvPr id="13" name="Freeform 13"/>
            <p:cNvSpPr/>
            <p:nvPr/>
          </p:nvSpPr>
          <p:spPr>
            <a:xfrm rot="5297014">
              <a:off x="1314711" y="600327"/>
              <a:ext cx="3301606" cy="2077850"/>
            </a:xfrm>
            <a:custGeom>
              <a:avLst/>
              <a:gdLst/>
              <a:ahLst/>
              <a:cxnLst/>
              <a:rect l="l" t="t" r="r" b="b"/>
              <a:pathLst>
                <a:path w="3301606" h="2077850">
                  <a:moveTo>
                    <a:pt x="3301605" y="97159"/>
                  </a:moveTo>
                  <a:lnTo>
                    <a:pt x="3242251" y="2077851"/>
                  </a:lnTo>
                  <a:lnTo>
                    <a:pt x="0" y="1980692"/>
                  </a:lnTo>
                  <a:lnTo>
                    <a:pt x="59354" y="0"/>
                  </a:lnTo>
                  <a:lnTo>
                    <a:pt x="3301605" y="97159"/>
                  </a:lnTo>
                  <a:close/>
                </a:path>
              </a:pathLst>
            </a:custGeom>
            <a:blipFill>
              <a:blip r:embed="rId5"/>
              <a:stretch>
                <a:fillRect t="-19171"/>
              </a:stretch>
            </a:blipFill>
          </p:spPr>
          <p:txBody>
            <a:bodyPr/>
            <a:lstStyle/>
            <a:p>
              <a:endParaRPr lang="en-US"/>
            </a:p>
          </p:txBody>
        </p:sp>
        <p:sp>
          <p:nvSpPr>
            <p:cNvPr id="14" name="Freeform 14"/>
            <p:cNvSpPr/>
            <p:nvPr/>
          </p:nvSpPr>
          <p:spPr>
            <a:xfrm>
              <a:off x="3966337" y="17399"/>
              <a:ext cx="1885823" cy="3259074"/>
            </a:xfrm>
            <a:custGeom>
              <a:avLst/>
              <a:gdLst/>
              <a:ahLst/>
              <a:cxnLst/>
              <a:rect l="l" t="t" r="r" b="b"/>
              <a:pathLst>
                <a:path w="1885823" h="3259074">
                  <a:moveTo>
                    <a:pt x="1885823" y="3259074"/>
                  </a:moveTo>
                  <a:lnTo>
                    <a:pt x="0" y="3259074"/>
                  </a:lnTo>
                  <a:lnTo>
                    <a:pt x="0" y="0"/>
                  </a:lnTo>
                  <a:lnTo>
                    <a:pt x="1885823" y="0"/>
                  </a:lnTo>
                  <a:lnTo>
                    <a:pt x="1885823" y="3259074"/>
                  </a:lnTo>
                  <a:close/>
                </a:path>
              </a:pathLst>
            </a:custGeom>
            <a:blipFill>
              <a:blip r:embed="rId6"/>
              <a:stretch>
                <a:fillRect l="-14807" r="-14807"/>
              </a:stretch>
            </a:blipFill>
          </p:spPr>
          <p:txBody>
            <a:bodyPr/>
            <a:lstStyle/>
            <a:p>
              <a:endParaRPr lang="en-US"/>
            </a:p>
          </p:txBody>
        </p:sp>
        <p:sp>
          <p:nvSpPr>
            <p:cNvPr id="15" name="Freeform 15"/>
            <p:cNvSpPr/>
            <p:nvPr/>
          </p:nvSpPr>
          <p:spPr>
            <a:xfrm>
              <a:off x="0" y="0"/>
              <a:ext cx="5852160" cy="3291840"/>
            </a:xfrm>
            <a:custGeom>
              <a:avLst/>
              <a:gdLst/>
              <a:ahLst/>
              <a:cxnLst/>
              <a:rect l="l" t="t" r="r" b="b"/>
              <a:pathLst>
                <a:path w="5852160" h="3291840">
                  <a:moveTo>
                    <a:pt x="5852160" y="3291840"/>
                  </a:moveTo>
                  <a:lnTo>
                    <a:pt x="0" y="3291840"/>
                  </a:lnTo>
                  <a:lnTo>
                    <a:pt x="0" y="0"/>
                  </a:lnTo>
                  <a:lnTo>
                    <a:pt x="5852160" y="0"/>
                  </a:lnTo>
                  <a:lnTo>
                    <a:pt x="5852160" y="3291840"/>
                  </a:lnTo>
                  <a:close/>
                </a:path>
              </a:pathLst>
            </a:custGeom>
            <a:blipFill>
              <a:blip r:embed="rId7"/>
              <a:stretch>
                <a:fillRect/>
              </a:stretch>
            </a:blipFill>
          </p:spPr>
          <p:txBody>
            <a:bodyPr/>
            <a:lstStyle/>
            <a:p>
              <a:endParaRPr lang="en-US"/>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9590528">
            <a:off x="15889545" y="7982084"/>
            <a:ext cx="3552382" cy="3552382"/>
          </a:xfrm>
          <a:custGeom>
            <a:avLst/>
            <a:gdLst/>
            <a:ahLst/>
            <a:cxnLst/>
            <a:rect l="l" t="t" r="r" b="b"/>
            <a:pathLst>
              <a:path w="3552382" h="3552382">
                <a:moveTo>
                  <a:pt x="0" y="0"/>
                </a:moveTo>
                <a:lnTo>
                  <a:pt x="3552382" y="0"/>
                </a:lnTo>
                <a:lnTo>
                  <a:pt x="3552382" y="3552382"/>
                </a:lnTo>
                <a:lnTo>
                  <a:pt x="0" y="35523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9590528">
            <a:off x="15689166" y="9217975"/>
            <a:ext cx="2138050" cy="2138050"/>
          </a:xfrm>
          <a:custGeom>
            <a:avLst/>
            <a:gdLst/>
            <a:ahLst/>
            <a:cxnLst/>
            <a:rect l="l" t="t" r="r" b="b"/>
            <a:pathLst>
              <a:path w="2138050" h="2138050">
                <a:moveTo>
                  <a:pt x="0" y="0"/>
                </a:moveTo>
                <a:lnTo>
                  <a:pt x="2138050" y="0"/>
                </a:lnTo>
                <a:lnTo>
                  <a:pt x="2138050" y="2138050"/>
                </a:lnTo>
                <a:lnTo>
                  <a:pt x="0" y="21380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267769" y="277444"/>
            <a:ext cx="10237586" cy="3143250"/>
          </a:xfrm>
          <a:prstGeom prst="rect">
            <a:avLst/>
          </a:prstGeom>
        </p:spPr>
        <p:txBody>
          <a:bodyPr lIns="0" tIns="0" rIns="0" bIns="0" rtlCol="0" anchor="t">
            <a:spAutoFit/>
          </a:bodyPr>
          <a:lstStyle/>
          <a:p>
            <a:pPr algn="l">
              <a:lnSpc>
                <a:spcPts val="12599"/>
              </a:lnSpc>
            </a:pPr>
            <a:r>
              <a:rPr lang="en-US" sz="9000" i="1">
                <a:solidFill>
                  <a:srgbClr val="FFFFFF"/>
                </a:solidFill>
                <a:latin typeface="Anton Italics"/>
                <a:ea typeface="Anton Italics"/>
                <a:cs typeface="Anton Italics"/>
                <a:sym typeface="Anton Italics"/>
              </a:rPr>
              <a:t>LITERATURE CITED</a:t>
            </a:r>
          </a:p>
          <a:p>
            <a:pPr algn="l">
              <a:lnSpc>
                <a:spcPts val="12599"/>
              </a:lnSpc>
            </a:pPr>
            <a:endParaRPr lang="en-US" sz="9000" i="1">
              <a:solidFill>
                <a:srgbClr val="FFFFFF"/>
              </a:solidFill>
              <a:latin typeface="Anton Italics"/>
              <a:ea typeface="Anton Italics"/>
              <a:cs typeface="Anton Italics"/>
              <a:sym typeface="Anton Italics"/>
            </a:endParaRPr>
          </a:p>
        </p:txBody>
      </p:sp>
      <p:sp>
        <p:nvSpPr>
          <p:cNvPr id="5" name="Freeform 5"/>
          <p:cNvSpPr/>
          <p:nvPr/>
        </p:nvSpPr>
        <p:spPr>
          <a:xfrm rot="9590528">
            <a:off x="16353938" y="-1776191"/>
            <a:ext cx="3552382" cy="3552382"/>
          </a:xfrm>
          <a:custGeom>
            <a:avLst/>
            <a:gdLst/>
            <a:ahLst/>
            <a:cxnLst/>
            <a:rect l="l" t="t" r="r" b="b"/>
            <a:pathLst>
              <a:path w="3552382" h="3552382">
                <a:moveTo>
                  <a:pt x="0" y="0"/>
                </a:moveTo>
                <a:lnTo>
                  <a:pt x="3552382" y="0"/>
                </a:lnTo>
                <a:lnTo>
                  <a:pt x="3552382" y="3552382"/>
                </a:lnTo>
                <a:lnTo>
                  <a:pt x="0" y="35523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rot="9590528">
            <a:off x="15483109" y="-747491"/>
            <a:ext cx="3552382" cy="3552382"/>
          </a:xfrm>
          <a:custGeom>
            <a:avLst/>
            <a:gdLst/>
            <a:ahLst/>
            <a:cxnLst/>
            <a:rect l="l" t="t" r="r" b="b"/>
            <a:pathLst>
              <a:path w="3552382" h="3552382">
                <a:moveTo>
                  <a:pt x="0" y="0"/>
                </a:moveTo>
                <a:lnTo>
                  <a:pt x="3552382" y="0"/>
                </a:lnTo>
                <a:lnTo>
                  <a:pt x="3552382" y="3552382"/>
                </a:lnTo>
                <a:lnTo>
                  <a:pt x="0" y="35523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TextBox 7"/>
          <p:cNvSpPr txBox="1"/>
          <p:nvPr/>
        </p:nvSpPr>
        <p:spPr>
          <a:xfrm>
            <a:off x="149902" y="1915744"/>
            <a:ext cx="14547589" cy="7956258"/>
          </a:xfrm>
          <a:prstGeom prst="rect">
            <a:avLst/>
          </a:prstGeom>
        </p:spPr>
        <p:txBody>
          <a:bodyPr lIns="0" tIns="0" rIns="0" bIns="0" rtlCol="0" anchor="t">
            <a:spAutoFit/>
          </a:bodyPr>
          <a:lstStyle/>
          <a:p>
            <a:pPr algn="l">
              <a:lnSpc>
                <a:spcPts val="2899"/>
              </a:lnSpc>
            </a:pPr>
            <a:r>
              <a:rPr lang="en-US" sz="2247" spc="-123">
                <a:solidFill>
                  <a:srgbClr val="FFFFFF"/>
                </a:solidFill>
                <a:latin typeface="Helios"/>
                <a:ea typeface="Helios"/>
                <a:cs typeface="Helios"/>
                <a:sym typeface="Helios"/>
              </a:rPr>
              <a:t>1.ABDEL-SATAR, A. M., ALI, M. H., &amp; GOHER, M. E. (2017). INDICES OF WATER QUALITY AND METAL POLLUTION OF NILE RIVER, EGYPT. EGYPTIAN JOURNAL OF AQUATIC RESEARCH, 43(1), 21-29.</a:t>
            </a:r>
          </a:p>
          <a:p>
            <a:pPr algn="l">
              <a:lnSpc>
                <a:spcPts val="2899"/>
              </a:lnSpc>
            </a:pPr>
            <a:endParaRPr lang="en-US" sz="2247" spc="-123">
              <a:solidFill>
                <a:srgbClr val="FFFFFF"/>
              </a:solidFill>
              <a:latin typeface="Helios"/>
              <a:ea typeface="Helios"/>
              <a:cs typeface="Helios"/>
              <a:sym typeface="Helios"/>
            </a:endParaRPr>
          </a:p>
          <a:p>
            <a:pPr algn="l">
              <a:lnSpc>
                <a:spcPts val="2899"/>
              </a:lnSpc>
            </a:pPr>
            <a:r>
              <a:rPr lang="en-US" sz="2247" spc="-123">
                <a:solidFill>
                  <a:srgbClr val="FFFFFF"/>
                </a:solidFill>
                <a:latin typeface="Helios"/>
                <a:ea typeface="Helios"/>
                <a:cs typeface="Helios"/>
                <a:sym typeface="Helios"/>
              </a:rPr>
              <a:t>2.Aliew, F. (2022). An approach for precise distance measuring using ultrasonic sensors. Engineering Proceedings, 24(1), 8.</a:t>
            </a:r>
          </a:p>
          <a:p>
            <a:pPr algn="l">
              <a:lnSpc>
                <a:spcPts val="2899"/>
              </a:lnSpc>
            </a:pPr>
            <a:endParaRPr lang="en-US" sz="2247" spc="-123">
              <a:solidFill>
                <a:srgbClr val="FFFFFF"/>
              </a:solidFill>
              <a:latin typeface="Helios"/>
              <a:ea typeface="Helios"/>
              <a:cs typeface="Helios"/>
              <a:sym typeface="Helios"/>
            </a:endParaRPr>
          </a:p>
          <a:p>
            <a:pPr algn="l">
              <a:lnSpc>
                <a:spcPts val="2899"/>
              </a:lnSpc>
            </a:pPr>
            <a:r>
              <a:rPr lang="en-US" sz="2247" spc="-123">
                <a:solidFill>
                  <a:srgbClr val="FFFFFF"/>
                </a:solidFill>
                <a:latin typeface="Helios"/>
                <a:ea typeface="Helios"/>
                <a:cs typeface="Helios"/>
                <a:sym typeface="Helios"/>
              </a:rPr>
              <a:t>3.Cameron, N. (2023). ESP32 microcontroller. In ESP32 Formats and Communication: Application of Communication Protocols with ESP32 Microcontroller (pp. 1-54). Berkeley, CA: Apress.</a:t>
            </a:r>
          </a:p>
          <a:p>
            <a:pPr algn="l">
              <a:lnSpc>
                <a:spcPts val="2899"/>
              </a:lnSpc>
            </a:pPr>
            <a:endParaRPr lang="en-US" sz="2247" spc="-123">
              <a:solidFill>
                <a:srgbClr val="FFFFFF"/>
              </a:solidFill>
              <a:latin typeface="Helios"/>
              <a:ea typeface="Helios"/>
              <a:cs typeface="Helios"/>
              <a:sym typeface="Helios"/>
            </a:endParaRPr>
          </a:p>
          <a:p>
            <a:pPr algn="l">
              <a:lnSpc>
                <a:spcPts val="2899"/>
              </a:lnSpc>
            </a:pPr>
            <a:r>
              <a:rPr lang="en-US" sz="2247" spc="-123">
                <a:solidFill>
                  <a:srgbClr val="FFFFFF"/>
                </a:solidFill>
                <a:latin typeface="Helios"/>
                <a:ea typeface="Helios"/>
                <a:cs typeface="Helios"/>
                <a:sym typeface="Helios"/>
              </a:rPr>
              <a:t>4.Ghanem, S., Ferrini, S., &amp; Di Maria, C. (2023). Air pollution and willingness to pay for health risk reductions in Egypt: A contingent valuation survey of Greater Cairo and Alexandria households. World Development, 172, 106373.</a:t>
            </a:r>
          </a:p>
          <a:p>
            <a:pPr algn="l">
              <a:lnSpc>
                <a:spcPts val="2899"/>
              </a:lnSpc>
            </a:pPr>
            <a:endParaRPr lang="en-US" sz="2247" spc="-123">
              <a:solidFill>
                <a:srgbClr val="FFFFFF"/>
              </a:solidFill>
              <a:latin typeface="Helios"/>
              <a:ea typeface="Helios"/>
              <a:cs typeface="Helios"/>
              <a:sym typeface="Helios"/>
            </a:endParaRPr>
          </a:p>
          <a:p>
            <a:pPr algn="l">
              <a:lnSpc>
                <a:spcPts val="2899"/>
              </a:lnSpc>
            </a:pPr>
            <a:r>
              <a:rPr lang="en-US" sz="2247" spc="-123">
                <a:solidFill>
                  <a:srgbClr val="FFFFFF"/>
                </a:solidFill>
                <a:latin typeface="Helios"/>
                <a:ea typeface="Helios"/>
                <a:cs typeface="Helios"/>
                <a:sym typeface="Helios"/>
              </a:rPr>
              <a:t>5.Jeon, S., &amp; Seo, D. (2019). Smart parking system based on an ultrasonic sensor and bluetooth low energy in the internet of things. J. Syst. Manag. Sci, 9, 91-110.</a:t>
            </a:r>
          </a:p>
          <a:p>
            <a:pPr algn="l">
              <a:lnSpc>
                <a:spcPts val="2899"/>
              </a:lnSpc>
            </a:pPr>
            <a:endParaRPr lang="en-US" sz="2247" spc="-123">
              <a:solidFill>
                <a:srgbClr val="FFFFFF"/>
              </a:solidFill>
              <a:latin typeface="Helios"/>
              <a:ea typeface="Helios"/>
              <a:cs typeface="Helios"/>
              <a:sym typeface="Helios"/>
            </a:endParaRPr>
          </a:p>
          <a:p>
            <a:pPr algn="l">
              <a:lnSpc>
                <a:spcPts val="2899"/>
              </a:lnSpc>
            </a:pPr>
            <a:r>
              <a:rPr lang="en-US" sz="2247" spc="-123">
                <a:solidFill>
                  <a:srgbClr val="FFFFFF"/>
                </a:solidFill>
                <a:latin typeface="Helios"/>
                <a:ea typeface="Helios"/>
                <a:cs typeface="Helios"/>
                <a:sym typeface="Helios"/>
              </a:rPr>
              <a:t>6.Salikhov, R. B., Abdrakhmanov, V. K., &amp; Safargalin, I. N. (2021, November). Internet of things (IoT) security alarms on ESP32-CAM. In Journal of Physics: Conference Series (Vol. 2096, No. 1, p. 012109). IOP Publishing.</a:t>
            </a:r>
          </a:p>
          <a:p>
            <a:pPr algn="l">
              <a:lnSpc>
                <a:spcPts val="2899"/>
              </a:lnSpc>
            </a:pPr>
            <a:endParaRPr lang="en-US" sz="2247" spc="-123">
              <a:solidFill>
                <a:srgbClr val="FFFFFF"/>
              </a:solidFill>
              <a:latin typeface="Helios"/>
              <a:ea typeface="Helios"/>
              <a:cs typeface="Helios"/>
              <a:sym typeface="Helios"/>
            </a:endParaRPr>
          </a:p>
          <a:p>
            <a:pPr algn="l">
              <a:lnSpc>
                <a:spcPts val="2899"/>
              </a:lnSpc>
            </a:pPr>
            <a:r>
              <a:rPr lang="en-US" sz="2247" spc="-123">
                <a:solidFill>
                  <a:srgbClr val="FFFFFF"/>
                </a:solidFill>
                <a:latin typeface="Helios"/>
                <a:ea typeface="Helios"/>
                <a:cs typeface="Helios"/>
                <a:sym typeface="Helios"/>
              </a:rPr>
              <a:t>7.Tan, Q., Liu, L., Yu, M., &amp; Li, J. (2020). An innovative method of recycling metals in printed circuit board (PCB) using solutions from PCB production. Journal of Hazardous Materials, 390, 121892.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7532462" y="-1652328"/>
            <a:ext cx="11115118" cy="13591656"/>
            <a:chOff x="0" y="0"/>
            <a:chExt cx="739315" cy="904040"/>
          </a:xfrm>
        </p:grpSpPr>
        <p:sp>
          <p:nvSpPr>
            <p:cNvPr id="3" name="Freeform 3"/>
            <p:cNvSpPr/>
            <p:nvPr/>
          </p:nvSpPr>
          <p:spPr>
            <a:xfrm>
              <a:off x="0" y="0"/>
              <a:ext cx="739315" cy="904040"/>
            </a:xfrm>
            <a:custGeom>
              <a:avLst/>
              <a:gdLst/>
              <a:ahLst/>
              <a:cxnLst/>
              <a:rect l="l" t="t" r="r" b="b"/>
              <a:pathLst>
                <a:path w="739315" h="904040">
                  <a:moveTo>
                    <a:pt x="203200" y="0"/>
                  </a:moveTo>
                  <a:lnTo>
                    <a:pt x="739315" y="0"/>
                  </a:lnTo>
                  <a:lnTo>
                    <a:pt x="536115" y="904040"/>
                  </a:lnTo>
                  <a:lnTo>
                    <a:pt x="0" y="904040"/>
                  </a:lnTo>
                  <a:lnTo>
                    <a:pt x="203200" y="0"/>
                  </a:lnTo>
                  <a:close/>
                </a:path>
              </a:pathLst>
            </a:custGeom>
            <a:solidFill>
              <a:srgbClr val="00ADB5"/>
            </a:solidFill>
          </p:spPr>
          <p:txBody>
            <a:bodyPr/>
            <a:lstStyle/>
            <a:p>
              <a:endParaRPr lang="en-US"/>
            </a:p>
          </p:txBody>
        </p:sp>
        <p:sp>
          <p:nvSpPr>
            <p:cNvPr id="4" name="TextBox 4"/>
            <p:cNvSpPr txBox="1"/>
            <p:nvPr/>
          </p:nvSpPr>
          <p:spPr>
            <a:xfrm>
              <a:off x="101600" y="-9525"/>
              <a:ext cx="536115" cy="913565"/>
            </a:xfrm>
            <a:prstGeom prst="rect">
              <a:avLst/>
            </a:prstGeom>
          </p:spPr>
          <p:txBody>
            <a:bodyPr lIns="50800" tIns="50800" rIns="50800" bIns="50800" rtlCol="0" anchor="ctr"/>
            <a:lstStyle/>
            <a:p>
              <a:pPr algn="ctr">
                <a:lnSpc>
                  <a:spcPts val="1874"/>
                </a:lnSpc>
              </a:pPr>
              <a:endParaRPr/>
            </a:p>
          </p:txBody>
        </p:sp>
      </p:grpSp>
      <p:sp>
        <p:nvSpPr>
          <p:cNvPr id="5" name="Freeform 5"/>
          <p:cNvSpPr/>
          <p:nvPr/>
        </p:nvSpPr>
        <p:spPr>
          <a:xfrm>
            <a:off x="47693" y="5490794"/>
            <a:ext cx="462147" cy="462147"/>
          </a:xfrm>
          <a:custGeom>
            <a:avLst/>
            <a:gdLst/>
            <a:ahLst/>
            <a:cxnLst/>
            <a:rect l="l" t="t" r="r" b="b"/>
            <a:pathLst>
              <a:path w="462147" h="462147">
                <a:moveTo>
                  <a:pt x="0" y="0"/>
                </a:moveTo>
                <a:lnTo>
                  <a:pt x="462147" y="0"/>
                </a:lnTo>
                <a:lnTo>
                  <a:pt x="462147" y="462147"/>
                </a:lnTo>
                <a:lnTo>
                  <a:pt x="0" y="46214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dirty="0"/>
          </a:p>
        </p:txBody>
      </p:sp>
      <p:sp>
        <p:nvSpPr>
          <p:cNvPr id="6" name="Freeform 6"/>
          <p:cNvSpPr/>
          <p:nvPr/>
        </p:nvSpPr>
        <p:spPr>
          <a:xfrm rot="-4578575" flipH="1" flipV="1">
            <a:off x="7394063" y="1578085"/>
            <a:ext cx="5892065" cy="1992589"/>
          </a:xfrm>
          <a:custGeom>
            <a:avLst/>
            <a:gdLst/>
            <a:ahLst/>
            <a:cxnLst/>
            <a:rect l="l" t="t" r="r" b="b"/>
            <a:pathLst>
              <a:path w="5892065" h="1992589">
                <a:moveTo>
                  <a:pt x="5892064" y="1992589"/>
                </a:moveTo>
                <a:lnTo>
                  <a:pt x="0" y="1992589"/>
                </a:lnTo>
                <a:lnTo>
                  <a:pt x="0" y="0"/>
                </a:lnTo>
                <a:lnTo>
                  <a:pt x="5892064" y="0"/>
                </a:lnTo>
                <a:lnTo>
                  <a:pt x="5892064" y="1992589"/>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7" name="Group 7"/>
          <p:cNvGrpSpPr>
            <a:grpSpLocks noChangeAspect="1"/>
          </p:cNvGrpSpPr>
          <p:nvPr/>
        </p:nvGrpSpPr>
        <p:grpSpPr>
          <a:xfrm rot="772016">
            <a:off x="9562529" y="1866065"/>
            <a:ext cx="4272650" cy="8454172"/>
            <a:chOff x="0" y="0"/>
            <a:chExt cx="2620010" cy="5184140"/>
          </a:xfrm>
        </p:grpSpPr>
        <p:sp>
          <p:nvSpPr>
            <p:cNvPr id="8" name="Freeform 8"/>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9" name="Freeform 9"/>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6"/>
              <a:stretch>
                <a:fillRect l="-22189" r="-22189"/>
              </a:stretch>
            </a:blipFill>
          </p:spPr>
          <p:txBody>
            <a:bodyPr/>
            <a:lstStyle/>
            <a:p>
              <a:endParaRPr lang="en-US" dirty="0"/>
            </a:p>
          </p:txBody>
        </p:sp>
        <p:sp>
          <p:nvSpPr>
            <p:cNvPr id="10" name="Freeform 10"/>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B5B5B"/>
            </a:solidFill>
          </p:spPr>
          <p:txBody>
            <a:bodyPr/>
            <a:lstStyle/>
            <a:p>
              <a:endParaRPr lang="en-US"/>
            </a:p>
          </p:txBody>
        </p:sp>
        <p:sp>
          <p:nvSpPr>
            <p:cNvPr id="11" name="Freeform 11"/>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5B5B5B"/>
            </a:solidFill>
          </p:spPr>
          <p:txBody>
            <a:bodyPr/>
            <a:lstStyle/>
            <a:p>
              <a:endParaRPr lang="en-US"/>
            </a:p>
          </p:txBody>
        </p:sp>
        <p:sp>
          <p:nvSpPr>
            <p:cNvPr id="12" name="Freeform 12"/>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EBCEB5"/>
            </a:solidFill>
          </p:spPr>
          <p:txBody>
            <a:bodyPr/>
            <a:lstStyle/>
            <a:p>
              <a:endParaRPr lang="en-US"/>
            </a:p>
          </p:txBody>
        </p:sp>
        <p:sp>
          <p:nvSpPr>
            <p:cNvPr id="13" name="Freeform 13"/>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EBCEB5"/>
            </a:solidFill>
          </p:spPr>
          <p:txBody>
            <a:bodyPr/>
            <a:lstStyle/>
            <a:p>
              <a:endParaRPr lang="en-US"/>
            </a:p>
          </p:txBody>
        </p:sp>
        <p:sp>
          <p:nvSpPr>
            <p:cNvPr id="14" name="Freeform 14"/>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EBCEB5"/>
            </a:solidFill>
          </p:spPr>
          <p:txBody>
            <a:bodyPr/>
            <a:lstStyle/>
            <a:p>
              <a:endParaRPr lang="en-US"/>
            </a:p>
          </p:txBody>
        </p:sp>
        <p:sp>
          <p:nvSpPr>
            <p:cNvPr id="15" name="Freeform 15"/>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EBCEB5"/>
            </a:solidFill>
          </p:spPr>
          <p:txBody>
            <a:bodyPr/>
            <a:lstStyle/>
            <a:p>
              <a:endParaRPr lang="en-US"/>
            </a:p>
          </p:txBody>
        </p:sp>
        <p:sp>
          <p:nvSpPr>
            <p:cNvPr id="16" name="Freeform 16"/>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FCE9D8"/>
            </a:solidFill>
          </p:spPr>
          <p:txBody>
            <a:bodyPr/>
            <a:lstStyle/>
            <a:p>
              <a:endParaRPr lang="en-US"/>
            </a:p>
          </p:txBody>
        </p:sp>
      </p:grpSp>
      <p:sp>
        <p:nvSpPr>
          <p:cNvPr id="17" name="Freeform 17"/>
          <p:cNvSpPr/>
          <p:nvPr/>
        </p:nvSpPr>
        <p:spPr>
          <a:xfrm rot="-4578575" flipV="1">
            <a:off x="14956541" y="4134763"/>
            <a:ext cx="5892065" cy="1992589"/>
          </a:xfrm>
          <a:custGeom>
            <a:avLst/>
            <a:gdLst/>
            <a:ahLst/>
            <a:cxnLst/>
            <a:rect l="l" t="t" r="r" b="b"/>
            <a:pathLst>
              <a:path w="5892065" h="1992589">
                <a:moveTo>
                  <a:pt x="0" y="1992589"/>
                </a:moveTo>
                <a:lnTo>
                  <a:pt x="5892065" y="1992589"/>
                </a:lnTo>
                <a:lnTo>
                  <a:pt x="5892065" y="0"/>
                </a:lnTo>
                <a:lnTo>
                  <a:pt x="0" y="0"/>
                </a:lnTo>
                <a:lnTo>
                  <a:pt x="0" y="1992589"/>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18" name="Group 18"/>
          <p:cNvGrpSpPr>
            <a:grpSpLocks noChangeAspect="1"/>
          </p:cNvGrpSpPr>
          <p:nvPr/>
        </p:nvGrpSpPr>
        <p:grpSpPr>
          <a:xfrm rot="772016">
            <a:off x="13487253" y="5031214"/>
            <a:ext cx="4272650" cy="8454172"/>
            <a:chOff x="0" y="0"/>
            <a:chExt cx="2620010" cy="5184140"/>
          </a:xfrm>
        </p:grpSpPr>
        <p:sp>
          <p:nvSpPr>
            <p:cNvPr id="19" name="Freeform 19"/>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20" name="Freeform 20"/>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7"/>
              <a:stretch>
                <a:fillRect l="-28582" t="-11721" r="-32719"/>
              </a:stretch>
            </a:blipFill>
          </p:spPr>
          <p:txBody>
            <a:bodyPr/>
            <a:lstStyle/>
            <a:p>
              <a:endParaRPr lang="en-US"/>
            </a:p>
          </p:txBody>
        </p:sp>
        <p:sp>
          <p:nvSpPr>
            <p:cNvPr id="21" name="Freeform 21"/>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B5B5B"/>
            </a:solidFill>
          </p:spPr>
          <p:txBody>
            <a:bodyPr/>
            <a:lstStyle/>
            <a:p>
              <a:endParaRPr lang="en-US"/>
            </a:p>
          </p:txBody>
        </p:sp>
        <p:sp>
          <p:nvSpPr>
            <p:cNvPr id="22" name="Freeform 22"/>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5B5B5B"/>
            </a:solidFill>
          </p:spPr>
          <p:txBody>
            <a:bodyPr/>
            <a:lstStyle/>
            <a:p>
              <a:endParaRPr lang="en-US"/>
            </a:p>
          </p:txBody>
        </p:sp>
        <p:sp>
          <p:nvSpPr>
            <p:cNvPr id="23" name="Freeform 23"/>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EBCEB5"/>
            </a:solidFill>
          </p:spPr>
          <p:txBody>
            <a:bodyPr/>
            <a:lstStyle/>
            <a:p>
              <a:endParaRPr lang="en-US"/>
            </a:p>
          </p:txBody>
        </p:sp>
        <p:sp>
          <p:nvSpPr>
            <p:cNvPr id="24" name="Freeform 24"/>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EBCEB5"/>
            </a:solidFill>
          </p:spPr>
          <p:txBody>
            <a:bodyPr/>
            <a:lstStyle/>
            <a:p>
              <a:endParaRPr lang="en-US"/>
            </a:p>
          </p:txBody>
        </p:sp>
        <p:sp>
          <p:nvSpPr>
            <p:cNvPr id="25" name="Freeform 25"/>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EBCEB5"/>
            </a:solidFill>
          </p:spPr>
          <p:txBody>
            <a:bodyPr/>
            <a:lstStyle/>
            <a:p>
              <a:endParaRPr lang="en-US"/>
            </a:p>
          </p:txBody>
        </p:sp>
        <p:sp>
          <p:nvSpPr>
            <p:cNvPr id="26" name="Freeform 26"/>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EBCEB5"/>
            </a:solidFill>
          </p:spPr>
          <p:txBody>
            <a:bodyPr/>
            <a:lstStyle/>
            <a:p>
              <a:endParaRPr lang="en-US"/>
            </a:p>
          </p:txBody>
        </p:sp>
        <p:sp>
          <p:nvSpPr>
            <p:cNvPr id="27" name="Freeform 27"/>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FCE9D8"/>
            </a:solidFill>
          </p:spPr>
          <p:txBody>
            <a:bodyPr/>
            <a:lstStyle/>
            <a:p>
              <a:endParaRPr lang="en-US"/>
            </a:p>
          </p:txBody>
        </p:sp>
      </p:grpSp>
      <p:sp>
        <p:nvSpPr>
          <p:cNvPr id="28" name="TextBox 28"/>
          <p:cNvSpPr txBox="1"/>
          <p:nvPr/>
        </p:nvSpPr>
        <p:spPr>
          <a:xfrm>
            <a:off x="12319860" y="1019175"/>
            <a:ext cx="847412" cy="221513"/>
          </a:xfrm>
          <a:prstGeom prst="rect">
            <a:avLst/>
          </a:prstGeom>
        </p:spPr>
        <p:txBody>
          <a:bodyPr lIns="0" tIns="0" rIns="0" bIns="0" rtlCol="0" anchor="t">
            <a:spAutoFit/>
          </a:bodyPr>
          <a:lstStyle/>
          <a:p>
            <a:pPr marL="0" lvl="1" indent="0" algn="ctr">
              <a:lnSpc>
                <a:spcPts val="1874"/>
              </a:lnSpc>
              <a:spcBef>
                <a:spcPct val="0"/>
              </a:spcBef>
            </a:pPr>
            <a:r>
              <a:rPr lang="en-US" sz="1453" spc="-79">
                <a:solidFill>
                  <a:srgbClr val="FFFFFF"/>
                </a:solidFill>
                <a:latin typeface="Helios"/>
                <a:ea typeface="Helios"/>
                <a:cs typeface="Helios"/>
                <a:sym typeface="Helios"/>
              </a:rPr>
              <a:t>HOME</a:t>
            </a:r>
          </a:p>
        </p:txBody>
      </p:sp>
      <p:sp>
        <p:nvSpPr>
          <p:cNvPr id="29" name="TextBox 29"/>
          <p:cNvSpPr txBox="1"/>
          <p:nvPr/>
        </p:nvSpPr>
        <p:spPr>
          <a:xfrm>
            <a:off x="13424041" y="1019175"/>
            <a:ext cx="847412" cy="221513"/>
          </a:xfrm>
          <a:prstGeom prst="rect">
            <a:avLst/>
          </a:prstGeom>
        </p:spPr>
        <p:txBody>
          <a:bodyPr lIns="0" tIns="0" rIns="0" bIns="0" rtlCol="0" anchor="t">
            <a:spAutoFit/>
          </a:bodyPr>
          <a:lstStyle/>
          <a:p>
            <a:pPr marL="0" lvl="1" indent="0" algn="ctr">
              <a:lnSpc>
                <a:spcPts val="1874"/>
              </a:lnSpc>
              <a:spcBef>
                <a:spcPct val="0"/>
              </a:spcBef>
            </a:pPr>
            <a:r>
              <a:rPr lang="en-US" sz="1453" spc="-79">
                <a:solidFill>
                  <a:srgbClr val="FFFFFF"/>
                </a:solidFill>
                <a:latin typeface="Helios"/>
                <a:ea typeface="Helios"/>
                <a:cs typeface="Helios"/>
                <a:sym typeface="Helios"/>
              </a:rPr>
              <a:t>SERVICE</a:t>
            </a:r>
          </a:p>
        </p:txBody>
      </p:sp>
      <p:sp>
        <p:nvSpPr>
          <p:cNvPr id="30" name="TextBox 30"/>
          <p:cNvSpPr txBox="1"/>
          <p:nvPr/>
        </p:nvSpPr>
        <p:spPr>
          <a:xfrm>
            <a:off x="14528628" y="1019175"/>
            <a:ext cx="1105735" cy="221513"/>
          </a:xfrm>
          <a:prstGeom prst="rect">
            <a:avLst/>
          </a:prstGeom>
        </p:spPr>
        <p:txBody>
          <a:bodyPr lIns="0" tIns="0" rIns="0" bIns="0" rtlCol="0" anchor="t">
            <a:spAutoFit/>
          </a:bodyPr>
          <a:lstStyle/>
          <a:p>
            <a:pPr marL="0" lvl="1" indent="0" algn="ctr">
              <a:lnSpc>
                <a:spcPts val="1874"/>
              </a:lnSpc>
              <a:spcBef>
                <a:spcPct val="0"/>
              </a:spcBef>
            </a:pPr>
            <a:r>
              <a:rPr lang="en-US" sz="1453" spc="-79">
                <a:solidFill>
                  <a:srgbClr val="FFFFFF"/>
                </a:solidFill>
                <a:latin typeface="Helios"/>
                <a:ea typeface="Helios"/>
                <a:cs typeface="Helios"/>
                <a:sym typeface="Helios"/>
              </a:rPr>
              <a:t>ABOUT US</a:t>
            </a:r>
          </a:p>
        </p:txBody>
      </p:sp>
      <p:sp>
        <p:nvSpPr>
          <p:cNvPr id="31" name="TextBox 31"/>
          <p:cNvSpPr txBox="1"/>
          <p:nvPr/>
        </p:nvSpPr>
        <p:spPr>
          <a:xfrm>
            <a:off x="15923945" y="1019175"/>
            <a:ext cx="1335355" cy="221513"/>
          </a:xfrm>
          <a:prstGeom prst="rect">
            <a:avLst/>
          </a:prstGeom>
        </p:spPr>
        <p:txBody>
          <a:bodyPr lIns="0" tIns="0" rIns="0" bIns="0" rtlCol="0" anchor="t">
            <a:spAutoFit/>
          </a:bodyPr>
          <a:lstStyle/>
          <a:p>
            <a:pPr marL="0" lvl="1" indent="0" algn="ctr">
              <a:lnSpc>
                <a:spcPts val="1874"/>
              </a:lnSpc>
              <a:spcBef>
                <a:spcPct val="0"/>
              </a:spcBef>
            </a:pPr>
            <a:r>
              <a:rPr lang="en-US" sz="1453" spc="-79">
                <a:solidFill>
                  <a:srgbClr val="FFFFFF"/>
                </a:solidFill>
                <a:latin typeface="Helios"/>
                <a:ea typeface="Helios"/>
                <a:cs typeface="Helios"/>
                <a:sym typeface="Helios"/>
              </a:rPr>
              <a:t>CONTACT US</a:t>
            </a:r>
          </a:p>
        </p:txBody>
      </p:sp>
      <p:sp>
        <p:nvSpPr>
          <p:cNvPr id="32" name="TextBox 32"/>
          <p:cNvSpPr txBox="1"/>
          <p:nvPr/>
        </p:nvSpPr>
        <p:spPr>
          <a:xfrm>
            <a:off x="-76658" y="6069537"/>
            <a:ext cx="9346336" cy="407227"/>
          </a:xfrm>
          <a:prstGeom prst="rect">
            <a:avLst/>
          </a:prstGeom>
        </p:spPr>
        <p:txBody>
          <a:bodyPr wrap="square" lIns="0" tIns="0" rIns="0" bIns="0" rtlCol="0" anchor="t">
            <a:spAutoFit/>
          </a:bodyPr>
          <a:lstStyle/>
          <a:p>
            <a:pPr lvl="0">
              <a:lnSpc>
                <a:spcPts val="3509"/>
              </a:lnSpc>
              <a:spcBef>
                <a:spcPct val="0"/>
              </a:spcBef>
            </a:pPr>
            <a:r>
              <a:rPr lang="en-US" sz="2506" dirty="0">
                <a:solidFill>
                  <a:srgbClr val="FFFFFF"/>
                </a:solidFill>
                <a:latin typeface="Helios"/>
                <a:ea typeface="Helios"/>
                <a:cs typeface="Helios"/>
                <a:sym typeface="Helios"/>
              </a:rPr>
              <a:t> http://feronabil2008-del.github.io/website-techno-meter/</a:t>
            </a:r>
            <a:r>
              <a:rPr lang="en-US" sz="2506" u="none" strike="noStrike" dirty="0">
                <a:solidFill>
                  <a:srgbClr val="FFFFFF"/>
                </a:solidFill>
                <a:latin typeface="Helios"/>
                <a:ea typeface="Helios"/>
                <a:cs typeface="Helios"/>
                <a:sym typeface="Helios"/>
              </a:rPr>
              <a:t>.COM</a:t>
            </a:r>
          </a:p>
        </p:txBody>
      </p:sp>
      <p:sp>
        <p:nvSpPr>
          <p:cNvPr id="33" name="TextBox 33"/>
          <p:cNvSpPr txBox="1"/>
          <p:nvPr/>
        </p:nvSpPr>
        <p:spPr>
          <a:xfrm>
            <a:off x="540200" y="-147177"/>
            <a:ext cx="8340416" cy="3440268"/>
          </a:xfrm>
          <a:prstGeom prst="rect">
            <a:avLst/>
          </a:prstGeom>
        </p:spPr>
        <p:txBody>
          <a:bodyPr lIns="0" tIns="0" rIns="0" bIns="0" rtlCol="0" anchor="t">
            <a:spAutoFit/>
          </a:bodyPr>
          <a:lstStyle/>
          <a:p>
            <a:pPr algn="l">
              <a:lnSpc>
                <a:spcPts val="28191"/>
              </a:lnSpc>
            </a:pPr>
            <a:r>
              <a:rPr lang="en-US" sz="20136" i="1">
                <a:solidFill>
                  <a:srgbClr val="00ADB5"/>
                </a:solidFill>
                <a:latin typeface="Anton Italics"/>
                <a:ea typeface="Anton Italics"/>
                <a:cs typeface="Anton Italics"/>
                <a:sym typeface="Anton Italics"/>
              </a:rPr>
              <a:t>THANK</a:t>
            </a:r>
          </a:p>
        </p:txBody>
      </p:sp>
      <p:sp>
        <p:nvSpPr>
          <p:cNvPr id="34" name="TextBox 34"/>
          <p:cNvSpPr txBox="1"/>
          <p:nvPr/>
        </p:nvSpPr>
        <p:spPr>
          <a:xfrm>
            <a:off x="2943493" y="2282532"/>
            <a:ext cx="5564023" cy="3436137"/>
          </a:xfrm>
          <a:prstGeom prst="rect">
            <a:avLst/>
          </a:prstGeom>
        </p:spPr>
        <p:txBody>
          <a:bodyPr lIns="0" tIns="0" rIns="0" bIns="0" rtlCol="0" anchor="t">
            <a:spAutoFit/>
          </a:bodyPr>
          <a:lstStyle/>
          <a:p>
            <a:pPr algn="r">
              <a:lnSpc>
                <a:spcPts val="28190"/>
              </a:lnSpc>
            </a:pPr>
            <a:r>
              <a:rPr lang="en-US" sz="20136" i="1">
                <a:solidFill>
                  <a:srgbClr val="FFFFFF"/>
                </a:solidFill>
                <a:latin typeface="Anton Italics"/>
                <a:ea typeface="Anton Italics"/>
                <a:cs typeface="Anton Italics"/>
                <a:sym typeface="Anton Italics"/>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1178</Words>
  <Application>Microsoft Office PowerPoint</Application>
  <PresentationFormat>Custom</PresentationFormat>
  <Paragraphs>132</Paragraphs>
  <Slides>14</Slides>
  <Notes>0</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7" baseType="lpstr">
      <vt:lpstr>Arial</vt:lpstr>
      <vt:lpstr>Open Sans</vt:lpstr>
      <vt:lpstr>Times New Roman</vt:lpstr>
      <vt:lpstr>Helios Bold</vt:lpstr>
      <vt:lpstr>Helios Italics</vt:lpstr>
      <vt:lpstr>Amiri Bold</vt:lpstr>
      <vt:lpstr>Anton</vt:lpstr>
      <vt:lpstr>Anton Italics</vt:lpstr>
      <vt:lpstr>Helios</vt:lpstr>
      <vt:lpstr>29LT Riwaya Informal</vt:lpstr>
      <vt:lpstr>Calibri</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Red Modern Car Dealer Presentation</dc:title>
  <cp:lastModifiedBy>Mahmoud Mohamed Mansour Ismael</cp:lastModifiedBy>
  <cp:revision>3</cp:revision>
  <dcterms:created xsi:type="dcterms:W3CDTF">2006-08-16T00:00:00Z</dcterms:created>
  <dcterms:modified xsi:type="dcterms:W3CDTF">2025-12-30T00:50:18Z</dcterms:modified>
  <dc:identifier>DAG85y3j2eE</dc:identifier>
</cp:coreProperties>
</file>