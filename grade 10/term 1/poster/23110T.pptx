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9600188" cy="288004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4867"/>
    <a:srgbClr val="14274E"/>
    <a:srgbClr val="892CDC"/>
    <a:srgbClr val="EA5455"/>
    <a:srgbClr val="2C74B3"/>
    <a:srgbClr val="C9D6DF"/>
    <a:srgbClr val="F1F0E8"/>
    <a:srgbClr val="E3F4F4"/>
    <a:srgbClr val="609966"/>
    <a:srgbClr val="95E1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5172" autoAdjust="0"/>
  </p:normalViewPr>
  <p:slideViewPr>
    <p:cSldViewPr snapToGrid="0">
      <p:cViewPr varScale="1">
        <p:scale>
          <a:sx n="21" d="100"/>
          <a:sy n="21" d="100"/>
        </p:scale>
        <p:origin x="1258" y="158"/>
      </p:cViewPr>
      <p:guideLst/>
    </p:cSldViewPr>
  </p:slideViewPr>
  <p:notesTextViewPr>
    <p:cViewPr>
      <p:scale>
        <a:sx n="1" d="1"/>
        <a:sy n="1" d="1"/>
      </p:scale>
      <p:origin x="0" y="0"/>
    </p:cViewPr>
  </p:notesTextViewPr>
  <p:sorterViewPr>
    <p:cViewPr>
      <p:scale>
        <a:sx n="100" d="100"/>
        <a:sy n="100" d="100"/>
      </p:scale>
      <p:origin x="0" y="-72"/>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dirty="0"/>
              <a:t>Annual consumption of various kinds of fuel</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Benzene</c:v>
                </c:pt>
              </c:strCache>
            </c:strRef>
          </c:tx>
          <c:spPr>
            <a:gradFill rotWithShape="1">
              <a:gsLst>
                <a:gs pos="0">
                  <a:schemeClr val="accent6">
                    <a:shade val="53000"/>
                    <a:satMod val="103000"/>
                    <a:lumMod val="102000"/>
                    <a:tint val="94000"/>
                  </a:schemeClr>
                </a:gs>
                <a:gs pos="50000">
                  <a:schemeClr val="accent6">
                    <a:shade val="53000"/>
                    <a:satMod val="110000"/>
                    <a:lumMod val="100000"/>
                    <a:shade val="100000"/>
                  </a:schemeClr>
                </a:gs>
                <a:gs pos="100000">
                  <a:schemeClr val="accent6">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Sheet1!$A$2:$A$8</c:f>
              <c:numCache>
                <c:formatCode>General</c:formatCode>
                <c:ptCount val="7"/>
                <c:pt idx="0">
                  <c:v>1997</c:v>
                </c:pt>
                <c:pt idx="1">
                  <c:v>1998</c:v>
                </c:pt>
                <c:pt idx="2">
                  <c:v>1999</c:v>
                </c:pt>
                <c:pt idx="3">
                  <c:v>2000</c:v>
                </c:pt>
                <c:pt idx="4">
                  <c:v>2001</c:v>
                </c:pt>
                <c:pt idx="5">
                  <c:v>2004</c:v>
                </c:pt>
                <c:pt idx="6">
                  <c:v>2006</c:v>
                </c:pt>
              </c:numCache>
            </c:numRef>
          </c:cat>
          <c:val>
            <c:numRef>
              <c:f>Sheet1!$B$2:$B$8</c:f>
              <c:numCache>
                <c:formatCode>General</c:formatCode>
                <c:ptCount val="7"/>
                <c:pt idx="0">
                  <c:v>2000</c:v>
                </c:pt>
                <c:pt idx="1">
                  <c:v>2100</c:v>
                </c:pt>
                <c:pt idx="2">
                  <c:v>2100</c:v>
                </c:pt>
                <c:pt idx="3">
                  <c:v>2100</c:v>
                </c:pt>
                <c:pt idx="4">
                  <c:v>2300</c:v>
                </c:pt>
                <c:pt idx="5">
                  <c:v>2600</c:v>
                </c:pt>
                <c:pt idx="6">
                  <c:v>2900</c:v>
                </c:pt>
              </c:numCache>
            </c:numRef>
          </c:val>
          <c:extLst>
            <c:ext xmlns:c16="http://schemas.microsoft.com/office/drawing/2014/chart" uri="{C3380CC4-5D6E-409C-BE32-E72D297353CC}">
              <c16:uniqueId val="{00000000-D844-45F2-8E65-353C97C2045A}"/>
            </c:ext>
          </c:extLst>
        </c:ser>
        <c:ser>
          <c:idx val="1"/>
          <c:order val="1"/>
          <c:tx>
            <c:strRef>
              <c:f>Sheet1!$C$1</c:f>
              <c:strCache>
                <c:ptCount val="1"/>
                <c:pt idx="0">
                  <c:v>Plane feul</c:v>
                </c:pt>
              </c:strCache>
            </c:strRef>
          </c:tx>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Sheet1!$A$2:$A$8</c:f>
              <c:numCache>
                <c:formatCode>General</c:formatCode>
                <c:ptCount val="7"/>
                <c:pt idx="0">
                  <c:v>1997</c:v>
                </c:pt>
                <c:pt idx="1">
                  <c:v>1998</c:v>
                </c:pt>
                <c:pt idx="2">
                  <c:v>1999</c:v>
                </c:pt>
                <c:pt idx="3">
                  <c:v>2000</c:v>
                </c:pt>
                <c:pt idx="4">
                  <c:v>2001</c:v>
                </c:pt>
                <c:pt idx="5">
                  <c:v>2004</c:v>
                </c:pt>
                <c:pt idx="6">
                  <c:v>2006</c:v>
                </c:pt>
              </c:numCache>
            </c:numRef>
          </c:cat>
          <c:val>
            <c:numRef>
              <c:f>Sheet1!$C$2:$C$8</c:f>
              <c:numCache>
                <c:formatCode>General</c:formatCode>
                <c:ptCount val="7"/>
                <c:pt idx="0">
                  <c:v>400</c:v>
                </c:pt>
                <c:pt idx="1">
                  <c:v>400</c:v>
                </c:pt>
                <c:pt idx="2">
                  <c:v>400</c:v>
                </c:pt>
                <c:pt idx="3">
                  <c:v>420</c:v>
                </c:pt>
                <c:pt idx="4">
                  <c:v>380</c:v>
                </c:pt>
                <c:pt idx="5">
                  <c:v>380</c:v>
                </c:pt>
                <c:pt idx="6">
                  <c:v>400</c:v>
                </c:pt>
              </c:numCache>
            </c:numRef>
          </c:val>
          <c:extLst>
            <c:ext xmlns:c16="http://schemas.microsoft.com/office/drawing/2014/chart" uri="{C3380CC4-5D6E-409C-BE32-E72D297353CC}">
              <c16:uniqueId val="{00000001-D844-45F2-8E65-353C97C2045A}"/>
            </c:ext>
          </c:extLst>
        </c:ser>
        <c:ser>
          <c:idx val="2"/>
          <c:order val="2"/>
          <c:tx>
            <c:strRef>
              <c:f>Sheet1!$D$1</c:f>
              <c:strCache>
                <c:ptCount val="1"/>
                <c:pt idx="0">
                  <c:v>Gasoline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Sheet1!$A$2:$A$8</c:f>
              <c:numCache>
                <c:formatCode>General</c:formatCode>
                <c:ptCount val="7"/>
                <c:pt idx="0">
                  <c:v>1997</c:v>
                </c:pt>
                <c:pt idx="1">
                  <c:v>1998</c:v>
                </c:pt>
                <c:pt idx="2">
                  <c:v>1999</c:v>
                </c:pt>
                <c:pt idx="3">
                  <c:v>2000</c:v>
                </c:pt>
                <c:pt idx="4">
                  <c:v>2001</c:v>
                </c:pt>
                <c:pt idx="5">
                  <c:v>2004</c:v>
                </c:pt>
                <c:pt idx="6">
                  <c:v>2006</c:v>
                </c:pt>
              </c:numCache>
            </c:numRef>
          </c:cat>
          <c:val>
            <c:numRef>
              <c:f>Sheet1!$D$2:$D$8</c:f>
              <c:numCache>
                <c:formatCode>General</c:formatCode>
                <c:ptCount val="7"/>
                <c:pt idx="0">
                  <c:v>3800</c:v>
                </c:pt>
                <c:pt idx="1">
                  <c:v>4050</c:v>
                </c:pt>
                <c:pt idx="2">
                  <c:v>5000</c:v>
                </c:pt>
                <c:pt idx="3">
                  <c:v>5400</c:v>
                </c:pt>
                <c:pt idx="4">
                  <c:v>5500</c:v>
                </c:pt>
                <c:pt idx="5">
                  <c:v>5950</c:v>
                </c:pt>
                <c:pt idx="6">
                  <c:v>6400</c:v>
                </c:pt>
              </c:numCache>
            </c:numRef>
          </c:val>
          <c:extLst>
            <c:ext xmlns:c16="http://schemas.microsoft.com/office/drawing/2014/chart" uri="{C3380CC4-5D6E-409C-BE32-E72D297353CC}">
              <c16:uniqueId val="{00000002-D844-45F2-8E65-353C97C2045A}"/>
            </c:ext>
          </c:extLst>
        </c:ser>
        <c:ser>
          <c:idx val="3"/>
          <c:order val="3"/>
          <c:tx>
            <c:strRef>
              <c:f>Sheet1!$E$1</c:f>
              <c:strCache>
                <c:ptCount val="1"/>
                <c:pt idx="0">
                  <c:v>Mazot</c:v>
                </c:pt>
              </c:strCache>
            </c:strRef>
          </c:tx>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Sheet1!$A$2:$A$8</c:f>
              <c:numCache>
                <c:formatCode>General</c:formatCode>
                <c:ptCount val="7"/>
                <c:pt idx="0">
                  <c:v>1997</c:v>
                </c:pt>
                <c:pt idx="1">
                  <c:v>1998</c:v>
                </c:pt>
                <c:pt idx="2">
                  <c:v>1999</c:v>
                </c:pt>
                <c:pt idx="3">
                  <c:v>2000</c:v>
                </c:pt>
                <c:pt idx="4">
                  <c:v>2001</c:v>
                </c:pt>
                <c:pt idx="5">
                  <c:v>2004</c:v>
                </c:pt>
                <c:pt idx="6">
                  <c:v>2006</c:v>
                </c:pt>
              </c:numCache>
            </c:numRef>
          </c:cat>
          <c:val>
            <c:numRef>
              <c:f>Sheet1!$E$2:$E$8</c:f>
              <c:numCache>
                <c:formatCode>General</c:formatCode>
                <c:ptCount val="7"/>
                <c:pt idx="0">
                  <c:v>800</c:v>
                </c:pt>
                <c:pt idx="1">
                  <c:v>900</c:v>
                </c:pt>
                <c:pt idx="2">
                  <c:v>800</c:v>
                </c:pt>
                <c:pt idx="3">
                  <c:v>700</c:v>
                </c:pt>
                <c:pt idx="4">
                  <c:v>800</c:v>
                </c:pt>
                <c:pt idx="5">
                  <c:v>900</c:v>
                </c:pt>
                <c:pt idx="6">
                  <c:v>1300</c:v>
                </c:pt>
              </c:numCache>
            </c:numRef>
          </c:val>
          <c:extLst>
            <c:ext xmlns:c16="http://schemas.microsoft.com/office/drawing/2014/chart" uri="{C3380CC4-5D6E-409C-BE32-E72D297353CC}">
              <c16:uniqueId val="{00000003-D844-45F2-8E65-353C97C2045A}"/>
            </c:ext>
          </c:extLst>
        </c:ser>
        <c:ser>
          <c:idx val="4"/>
          <c:order val="4"/>
          <c:tx>
            <c:strRef>
              <c:f>Sheet1!$F$1</c:f>
              <c:strCache>
                <c:ptCount val="1"/>
                <c:pt idx="0">
                  <c:v>Oil stearin</c:v>
                </c:pt>
              </c:strCache>
            </c:strRef>
          </c:tx>
          <c:spPr>
            <a:gradFill rotWithShape="1">
              <a:gsLst>
                <a:gs pos="0">
                  <a:schemeClr val="accent6">
                    <a:tint val="54000"/>
                    <a:satMod val="103000"/>
                    <a:lumMod val="102000"/>
                    <a:tint val="94000"/>
                  </a:schemeClr>
                </a:gs>
                <a:gs pos="50000">
                  <a:schemeClr val="accent6">
                    <a:tint val="54000"/>
                    <a:satMod val="110000"/>
                    <a:lumMod val="100000"/>
                    <a:shade val="100000"/>
                  </a:schemeClr>
                </a:gs>
                <a:gs pos="100000">
                  <a:schemeClr val="accent6">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f>Sheet1!$A$2:$A$8</c:f>
              <c:numCache>
                <c:formatCode>General</c:formatCode>
                <c:ptCount val="7"/>
                <c:pt idx="0">
                  <c:v>1997</c:v>
                </c:pt>
                <c:pt idx="1">
                  <c:v>1998</c:v>
                </c:pt>
                <c:pt idx="2">
                  <c:v>1999</c:v>
                </c:pt>
                <c:pt idx="3">
                  <c:v>2000</c:v>
                </c:pt>
                <c:pt idx="4">
                  <c:v>2001</c:v>
                </c:pt>
                <c:pt idx="5">
                  <c:v>2004</c:v>
                </c:pt>
                <c:pt idx="6">
                  <c:v>2006</c:v>
                </c:pt>
              </c:numCache>
            </c:numRef>
          </c:cat>
          <c:val>
            <c:numRef>
              <c:f>Sheet1!$F$2:$F$8</c:f>
              <c:numCache>
                <c:formatCode>General</c:formatCode>
                <c:ptCount val="7"/>
                <c:pt idx="0">
                  <c:v>200</c:v>
                </c:pt>
                <c:pt idx="1">
                  <c:v>200</c:v>
                </c:pt>
                <c:pt idx="2">
                  <c:v>200</c:v>
                </c:pt>
                <c:pt idx="3">
                  <c:v>230</c:v>
                </c:pt>
                <c:pt idx="4">
                  <c:v>200</c:v>
                </c:pt>
                <c:pt idx="5">
                  <c:v>210</c:v>
                </c:pt>
                <c:pt idx="6">
                  <c:v>350</c:v>
                </c:pt>
              </c:numCache>
            </c:numRef>
          </c:val>
          <c:extLst>
            <c:ext xmlns:c16="http://schemas.microsoft.com/office/drawing/2014/chart" uri="{C3380CC4-5D6E-409C-BE32-E72D297353CC}">
              <c16:uniqueId val="{00000004-D844-45F2-8E65-353C97C2045A}"/>
            </c:ext>
          </c:extLst>
        </c:ser>
        <c:dLbls>
          <c:showLegendKey val="0"/>
          <c:showVal val="0"/>
          <c:showCatName val="0"/>
          <c:showSerName val="0"/>
          <c:showPercent val="0"/>
          <c:showBubbleSize val="0"/>
        </c:dLbls>
        <c:gapWidth val="100"/>
        <c:overlap val="-24"/>
        <c:axId val="463001295"/>
        <c:axId val="463007055"/>
      </c:barChart>
      <c:catAx>
        <c:axId val="463001295"/>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3007055"/>
        <c:crosses val="autoZero"/>
        <c:auto val="1"/>
        <c:lblAlgn val="ctr"/>
        <c:lblOffset val="100"/>
        <c:noMultiLvlLbl val="0"/>
      </c:catAx>
      <c:valAx>
        <c:axId val="4630070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dirty="0"/>
                  <a:t>1000 meter ton</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30012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dirty="0">
                <a:latin typeface="Verdana" panose="020B0604030504040204" pitchFamily="34" charset="0"/>
                <a:ea typeface="Verdana" panose="020B0604030504040204" pitchFamily="34" charset="0"/>
              </a:rPr>
              <a:t>Deflection</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Defliction</c:v>
                </c:pt>
              </c:strCache>
            </c:strRef>
          </c:tx>
          <c:spPr>
            <a:ln w="34925" cap="rnd">
              <a:solidFill>
                <a:schemeClr val="lt1"/>
              </a:solidFill>
              <a:round/>
            </a:ln>
            <a:effectLst>
              <a:outerShdw dist="25400" dir="2700000" algn="tl" rotWithShape="0">
                <a:schemeClr val="accent1"/>
              </a:outerShdw>
            </a:effectLst>
          </c:spPr>
          <c:marker>
            <c:symbol val="none"/>
          </c:marker>
          <c:cat>
            <c:numRef>
              <c:f>Sheet1!$A$2:$A$23</c:f>
              <c:numCache>
                <c:formatCode>General</c:formatCode>
                <c:ptCount val="22"/>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numCache>
            </c:numRef>
          </c:cat>
          <c:val>
            <c:numRef>
              <c:f>Sheet1!$B$2:$B$23</c:f>
              <c:numCache>
                <c:formatCode>General</c:formatCode>
                <c:ptCount val="22"/>
                <c:pt idx="0">
                  <c:v>0</c:v>
                </c:pt>
                <c:pt idx="1">
                  <c:v>0.1</c:v>
                </c:pt>
                <c:pt idx="2">
                  <c:v>0.1</c:v>
                </c:pt>
                <c:pt idx="3">
                  <c:v>0.2</c:v>
                </c:pt>
                <c:pt idx="4">
                  <c:v>0.3</c:v>
                </c:pt>
                <c:pt idx="5">
                  <c:v>0.3</c:v>
                </c:pt>
                <c:pt idx="6">
                  <c:v>0.4</c:v>
                </c:pt>
                <c:pt idx="7">
                  <c:v>0.4</c:v>
                </c:pt>
                <c:pt idx="8">
                  <c:v>0.4</c:v>
                </c:pt>
                <c:pt idx="9">
                  <c:v>0.5</c:v>
                </c:pt>
                <c:pt idx="10">
                  <c:v>0.5</c:v>
                </c:pt>
                <c:pt idx="11">
                  <c:v>0.5</c:v>
                </c:pt>
                <c:pt idx="12">
                  <c:v>0.5</c:v>
                </c:pt>
                <c:pt idx="13">
                  <c:v>0.6</c:v>
                </c:pt>
                <c:pt idx="14">
                  <c:v>0.6</c:v>
                </c:pt>
                <c:pt idx="15">
                  <c:v>0.6</c:v>
                </c:pt>
                <c:pt idx="16">
                  <c:v>0.7</c:v>
                </c:pt>
                <c:pt idx="17">
                  <c:v>0.7</c:v>
                </c:pt>
                <c:pt idx="18">
                  <c:v>0.7</c:v>
                </c:pt>
                <c:pt idx="19">
                  <c:v>0.8</c:v>
                </c:pt>
                <c:pt idx="20">
                  <c:v>0.8</c:v>
                </c:pt>
              </c:numCache>
            </c:numRef>
          </c:val>
          <c:smooth val="0"/>
          <c:extLst>
            <c:ext xmlns:c16="http://schemas.microsoft.com/office/drawing/2014/chart" uri="{C3380CC4-5D6E-409C-BE32-E72D297353CC}">
              <c16:uniqueId val="{00000000-43A7-4218-A01E-CA8B93F96060}"/>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86036063"/>
        <c:axId val="1886037023"/>
      </c:lineChart>
      <c:catAx>
        <c:axId val="1886036063"/>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dirty="0"/>
                  <a:t>Weight (kg)</a:t>
                </a:r>
              </a:p>
            </c:rich>
          </c:tx>
          <c:layout>
            <c:manualLayout>
              <c:xMode val="edge"/>
              <c:yMode val="edge"/>
              <c:x val="0.47874065617920353"/>
              <c:y val="0.93634821406666591"/>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886037023"/>
        <c:crosses val="autoZero"/>
        <c:auto val="1"/>
        <c:lblAlgn val="ctr"/>
        <c:lblOffset val="100"/>
        <c:noMultiLvlLbl val="0"/>
      </c:catAx>
      <c:valAx>
        <c:axId val="1886037023"/>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dirty="0"/>
                  <a:t>Deflection (cm)</a:t>
                </a:r>
              </a:p>
            </c:rich>
          </c:tx>
          <c:layout>
            <c:manualLayout>
              <c:xMode val="edge"/>
              <c:yMode val="edge"/>
              <c:x val="0"/>
              <c:y val="0.39136917687732037"/>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8860360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VELOCITY</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Velocity</c:v>
                </c:pt>
              </c:strCache>
            </c:strRef>
          </c:tx>
          <c:spPr>
            <a:ln w="34925" cap="rnd">
              <a:solidFill>
                <a:schemeClr val="lt1"/>
              </a:solidFill>
              <a:round/>
            </a:ln>
            <a:effectLst>
              <a:outerShdw dist="25400" dir="2700000" algn="tl" rotWithShape="0">
                <a:schemeClr val="accent1"/>
              </a:outerShdw>
            </a:effectLst>
          </c:spPr>
          <c:marker>
            <c:symbol val="none"/>
          </c:marke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3.915</c:v>
                </c:pt>
                <c:pt idx="1">
                  <c:v>3.915</c:v>
                </c:pt>
                <c:pt idx="2">
                  <c:v>3.915</c:v>
                </c:pt>
                <c:pt idx="3">
                  <c:v>3.915</c:v>
                </c:pt>
                <c:pt idx="4">
                  <c:v>3.915</c:v>
                </c:pt>
                <c:pt idx="5">
                  <c:v>3.915</c:v>
                </c:pt>
                <c:pt idx="6">
                  <c:v>3.915</c:v>
                </c:pt>
                <c:pt idx="7">
                  <c:v>3.915</c:v>
                </c:pt>
                <c:pt idx="8">
                  <c:v>3.915</c:v>
                </c:pt>
                <c:pt idx="9">
                  <c:v>3.915</c:v>
                </c:pt>
              </c:numCache>
            </c:numRef>
          </c:val>
          <c:smooth val="0"/>
          <c:extLst>
            <c:ext xmlns:c16="http://schemas.microsoft.com/office/drawing/2014/chart" uri="{C3380CC4-5D6E-409C-BE32-E72D297353CC}">
              <c16:uniqueId val="{00000000-A9E4-4801-95FA-5B1959B11907}"/>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48027983"/>
        <c:axId val="1848028463"/>
      </c:lineChart>
      <c:catAx>
        <c:axId val="1848027983"/>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a:t>Time (seconds)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848028463"/>
        <c:crosses val="autoZero"/>
        <c:auto val="1"/>
        <c:lblAlgn val="ctr"/>
        <c:lblOffset val="100"/>
        <c:noMultiLvlLbl val="0"/>
      </c:catAx>
      <c:valAx>
        <c:axId val="1848028463"/>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US" dirty="0"/>
                  <a:t>Velocity (cm/s)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8480279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70014" y="4713405"/>
            <a:ext cx="33660160" cy="10026815"/>
          </a:xfrm>
        </p:spPr>
        <p:txBody>
          <a:bodyPr anchor="b"/>
          <a:lstStyle>
            <a:lvl1pPr algn="ctr">
              <a:defRPr sz="25197"/>
            </a:lvl1pPr>
          </a:lstStyle>
          <a:p>
            <a:r>
              <a:rPr lang="en-US"/>
              <a:t>Click to edit Master title style</a:t>
            </a:r>
            <a:endParaRPr lang="en-US" dirty="0"/>
          </a:p>
        </p:txBody>
      </p:sp>
      <p:sp>
        <p:nvSpPr>
          <p:cNvPr id="3" name="Subtitle 2"/>
          <p:cNvSpPr>
            <a:spLocks noGrp="1"/>
          </p:cNvSpPr>
          <p:nvPr>
            <p:ph type="subTitle" idx="1"/>
          </p:nvPr>
        </p:nvSpPr>
        <p:spPr>
          <a:xfrm>
            <a:off x="4950024" y="15126892"/>
            <a:ext cx="29700141" cy="6953434"/>
          </a:xfrm>
        </p:spPr>
        <p:txBody>
          <a:bodyPr/>
          <a:lstStyle>
            <a:lvl1pPr marL="0" indent="0" algn="ctr">
              <a:buNone/>
              <a:defRPr sz="10079"/>
            </a:lvl1pPr>
            <a:lvl2pPr marL="1920011" indent="0" algn="ctr">
              <a:buNone/>
              <a:defRPr sz="8399"/>
            </a:lvl2pPr>
            <a:lvl3pPr marL="3840023" indent="0" algn="ctr">
              <a:buNone/>
              <a:defRPr sz="7559"/>
            </a:lvl3pPr>
            <a:lvl4pPr marL="5760034" indent="0" algn="ctr">
              <a:buNone/>
              <a:defRPr sz="6719"/>
            </a:lvl4pPr>
            <a:lvl5pPr marL="7680046" indent="0" algn="ctr">
              <a:buNone/>
              <a:defRPr sz="6719"/>
            </a:lvl5pPr>
            <a:lvl6pPr marL="9600057" indent="0" algn="ctr">
              <a:buNone/>
              <a:defRPr sz="6719"/>
            </a:lvl6pPr>
            <a:lvl7pPr marL="11520068" indent="0" algn="ctr">
              <a:buNone/>
              <a:defRPr sz="6719"/>
            </a:lvl7pPr>
            <a:lvl8pPr marL="13440080" indent="0" algn="ctr">
              <a:buNone/>
              <a:defRPr sz="6719"/>
            </a:lvl8pPr>
            <a:lvl9pPr marL="15360091" indent="0" algn="ctr">
              <a:buNone/>
              <a:defRPr sz="671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0FE8A7-F640-45E9-B054-A75FF8DF44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308793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FE8A7-F640-45E9-B054-A75FF8DF44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2476878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01890" y="7180114"/>
            <a:ext cx="34155162" cy="11980175"/>
          </a:xfrm>
        </p:spPr>
        <p:txBody>
          <a:bodyPr anchor="b"/>
          <a:lstStyle>
            <a:lvl1pPr>
              <a:defRPr sz="25197"/>
            </a:lvl1pPr>
          </a:lstStyle>
          <a:p>
            <a:r>
              <a:rPr lang="en-US"/>
              <a:t>Click to edit Master title style</a:t>
            </a:r>
            <a:endParaRPr lang="en-US" dirty="0"/>
          </a:p>
        </p:txBody>
      </p:sp>
      <p:sp>
        <p:nvSpPr>
          <p:cNvPr id="3" name="Text Placeholder 2"/>
          <p:cNvSpPr>
            <a:spLocks noGrp="1"/>
          </p:cNvSpPr>
          <p:nvPr>
            <p:ph type="body" idx="1"/>
          </p:nvPr>
        </p:nvSpPr>
        <p:spPr>
          <a:xfrm>
            <a:off x="2701890" y="19273626"/>
            <a:ext cx="34155162" cy="6300091"/>
          </a:xfrm>
        </p:spPr>
        <p:txBody>
          <a:bodyPr/>
          <a:lstStyle>
            <a:lvl1pPr marL="0" indent="0">
              <a:buNone/>
              <a:defRPr sz="10079">
                <a:solidFill>
                  <a:schemeClr val="tx1"/>
                </a:solidFill>
              </a:defRPr>
            </a:lvl1pPr>
            <a:lvl2pPr marL="1920011" indent="0">
              <a:buNone/>
              <a:defRPr sz="8399">
                <a:solidFill>
                  <a:schemeClr val="tx1">
                    <a:tint val="75000"/>
                  </a:schemeClr>
                </a:solidFill>
              </a:defRPr>
            </a:lvl2pPr>
            <a:lvl3pPr marL="3840023" indent="0">
              <a:buNone/>
              <a:defRPr sz="7559">
                <a:solidFill>
                  <a:schemeClr val="tx1">
                    <a:tint val="75000"/>
                  </a:schemeClr>
                </a:solidFill>
              </a:defRPr>
            </a:lvl3pPr>
            <a:lvl4pPr marL="5760034" indent="0">
              <a:buNone/>
              <a:defRPr sz="6719">
                <a:solidFill>
                  <a:schemeClr val="tx1">
                    <a:tint val="75000"/>
                  </a:schemeClr>
                </a:solidFill>
              </a:defRPr>
            </a:lvl4pPr>
            <a:lvl5pPr marL="7680046" indent="0">
              <a:buNone/>
              <a:defRPr sz="6719">
                <a:solidFill>
                  <a:schemeClr val="tx1">
                    <a:tint val="75000"/>
                  </a:schemeClr>
                </a:solidFill>
              </a:defRPr>
            </a:lvl5pPr>
            <a:lvl6pPr marL="9600057" indent="0">
              <a:buNone/>
              <a:defRPr sz="6719">
                <a:solidFill>
                  <a:schemeClr val="tx1">
                    <a:tint val="75000"/>
                  </a:schemeClr>
                </a:solidFill>
              </a:defRPr>
            </a:lvl6pPr>
            <a:lvl7pPr marL="11520068" indent="0">
              <a:buNone/>
              <a:defRPr sz="6719">
                <a:solidFill>
                  <a:schemeClr val="tx1">
                    <a:tint val="75000"/>
                  </a:schemeClr>
                </a:solidFill>
              </a:defRPr>
            </a:lvl7pPr>
            <a:lvl8pPr marL="13440080" indent="0">
              <a:buNone/>
              <a:defRPr sz="6719">
                <a:solidFill>
                  <a:schemeClr val="tx1">
                    <a:tint val="75000"/>
                  </a:schemeClr>
                </a:solidFill>
              </a:defRPr>
            </a:lvl8pPr>
            <a:lvl9pPr marL="15360091" indent="0">
              <a:buNone/>
              <a:defRPr sz="671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FE8A7-F640-45E9-B054-A75FF8DF44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263265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22513"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047595" y="7666780"/>
            <a:ext cx="16830080" cy="18273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0FE8A7-F640-45E9-B054-A75FF8DF44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293485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533362"/>
            <a:ext cx="34155162" cy="55667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27675" y="7060106"/>
            <a:ext cx="16752733" cy="3460049"/>
          </a:xfrm>
        </p:spPr>
        <p:txBody>
          <a:bodyPr anchor="b"/>
          <a:lstStyle>
            <a:lvl1pPr marL="0" indent="0">
              <a:buNone/>
              <a:defRPr sz="10079" b="1"/>
            </a:lvl1pPr>
            <a:lvl2pPr marL="1920011" indent="0">
              <a:buNone/>
              <a:defRPr sz="8399" b="1"/>
            </a:lvl2pPr>
            <a:lvl3pPr marL="3840023" indent="0">
              <a:buNone/>
              <a:defRPr sz="7559" b="1"/>
            </a:lvl3pPr>
            <a:lvl4pPr marL="5760034" indent="0">
              <a:buNone/>
              <a:defRPr sz="6719" b="1"/>
            </a:lvl4pPr>
            <a:lvl5pPr marL="7680046" indent="0">
              <a:buNone/>
              <a:defRPr sz="6719" b="1"/>
            </a:lvl5pPr>
            <a:lvl6pPr marL="9600057" indent="0">
              <a:buNone/>
              <a:defRPr sz="6719" b="1"/>
            </a:lvl6pPr>
            <a:lvl7pPr marL="11520068" indent="0">
              <a:buNone/>
              <a:defRPr sz="6719" b="1"/>
            </a:lvl7pPr>
            <a:lvl8pPr marL="13440080" indent="0">
              <a:buNone/>
              <a:defRPr sz="6719" b="1"/>
            </a:lvl8pPr>
            <a:lvl9pPr marL="15360091" indent="0">
              <a:buNone/>
              <a:defRPr sz="6719" b="1"/>
            </a:lvl9pPr>
          </a:lstStyle>
          <a:p>
            <a:pPr lvl="0"/>
            <a:r>
              <a:rPr lang="en-US"/>
              <a:t>Click to edit Master text styles</a:t>
            </a:r>
          </a:p>
        </p:txBody>
      </p:sp>
      <p:sp>
        <p:nvSpPr>
          <p:cNvPr id="4" name="Content Placeholder 3"/>
          <p:cNvSpPr>
            <a:spLocks noGrp="1"/>
          </p:cNvSpPr>
          <p:nvPr>
            <p:ph sz="half" idx="2"/>
          </p:nvPr>
        </p:nvSpPr>
        <p:spPr>
          <a:xfrm>
            <a:off x="2727675" y="10520155"/>
            <a:ext cx="16752733"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047597" y="7060106"/>
            <a:ext cx="16835238" cy="3460049"/>
          </a:xfrm>
        </p:spPr>
        <p:txBody>
          <a:bodyPr anchor="b"/>
          <a:lstStyle>
            <a:lvl1pPr marL="0" indent="0">
              <a:buNone/>
              <a:defRPr sz="10079" b="1"/>
            </a:lvl1pPr>
            <a:lvl2pPr marL="1920011" indent="0">
              <a:buNone/>
              <a:defRPr sz="8399" b="1"/>
            </a:lvl2pPr>
            <a:lvl3pPr marL="3840023" indent="0">
              <a:buNone/>
              <a:defRPr sz="7559" b="1"/>
            </a:lvl3pPr>
            <a:lvl4pPr marL="5760034" indent="0">
              <a:buNone/>
              <a:defRPr sz="6719" b="1"/>
            </a:lvl4pPr>
            <a:lvl5pPr marL="7680046" indent="0">
              <a:buNone/>
              <a:defRPr sz="6719" b="1"/>
            </a:lvl5pPr>
            <a:lvl6pPr marL="9600057" indent="0">
              <a:buNone/>
              <a:defRPr sz="6719" b="1"/>
            </a:lvl6pPr>
            <a:lvl7pPr marL="11520068" indent="0">
              <a:buNone/>
              <a:defRPr sz="6719" b="1"/>
            </a:lvl7pPr>
            <a:lvl8pPr marL="13440080" indent="0">
              <a:buNone/>
              <a:defRPr sz="6719" b="1"/>
            </a:lvl8pPr>
            <a:lvl9pPr marL="15360091" indent="0">
              <a:buNone/>
              <a:defRPr sz="6719" b="1"/>
            </a:lvl9pPr>
          </a:lstStyle>
          <a:p>
            <a:pPr lvl="0"/>
            <a:r>
              <a:rPr lang="en-US"/>
              <a:t>Click to edit Master text styles</a:t>
            </a:r>
          </a:p>
        </p:txBody>
      </p:sp>
      <p:sp>
        <p:nvSpPr>
          <p:cNvPr id="6" name="Content Placeholder 5"/>
          <p:cNvSpPr>
            <a:spLocks noGrp="1"/>
          </p:cNvSpPr>
          <p:nvPr>
            <p:ph sz="quarter" idx="4"/>
          </p:nvPr>
        </p:nvSpPr>
        <p:spPr>
          <a:xfrm>
            <a:off x="20047597" y="10520155"/>
            <a:ext cx="16835238" cy="154735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0FE8A7-F640-45E9-B054-A75FF8DF44D4}"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2656834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0FE8A7-F640-45E9-B054-A75FF8DF44D4}"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763215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0FE8A7-F640-45E9-B054-A75FF8DF44D4}"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3491958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920028"/>
            <a:ext cx="12772091" cy="6720099"/>
          </a:xfrm>
        </p:spPr>
        <p:txBody>
          <a:bodyPr anchor="b"/>
          <a:lstStyle>
            <a:lvl1pPr>
              <a:defRPr sz="13438"/>
            </a:lvl1pPr>
          </a:lstStyle>
          <a:p>
            <a:r>
              <a:rPr lang="en-US"/>
              <a:t>Click to edit Master title style</a:t>
            </a:r>
            <a:endParaRPr lang="en-US" dirty="0"/>
          </a:p>
        </p:txBody>
      </p:sp>
      <p:sp>
        <p:nvSpPr>
          <p:cNvPr id="3" name="Content Placeholder 2"/>
          <p:cNvSpPr>
            <a:spLocks noGrp="1"/>
          </p:cNvSpPr>
          <p:nvPr>
            <p:ph idx="1"/>
          </p:nvPr>
        </p:nvSpPr>
        <p:spPr>
          <a:xfrm>
            <a:off x="16835238" y="4146734"/>
            <a:ext cx="20047595" cy="20466969"/>
          </a:xfrm>
        </p:spPr>
        <p:txBody>
          <a:bodyPr/>
          <a:lstStyle>
            <a:lvl1pPr>
              <a:defRPr sz="13438"/>
            </a:lvl1pPr>
            <a:lvl2pPr>
              <a:defRPr sz="11759"/>
            </a:lvl2pPr>
            <a:lvl3pPr>
              <a:defRPr sz="10079"/>
            </a:lvl3pPr>
            <a:lvl4pPr>
              <a:defRPr sz="8399"/>
            </a:lvl4pPr>
            <a:lvl5pPr>
              <a:defRPr sz="8399"/>
            </a:lvl5pPr>
            <a:lvl6pPr>
              <a:defRPr sz="8399"/>
            </a:lvl6pPr>
            <a:lvl7pPr>
              <a:defRPr sz="8399"/>
            </a:lvl7pPr>
            <a:lvl8pPr>
              <a:defRPr sz="8399"/>
            </a:lvl8pPr>
            <a:lvl9pPr>
              <a:defRPr sz="83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27671" y="8640127"/>
            <a:ext cx="12772091" cy="16006905"/>
          </a:xfrm>
        </p:spPr>
        <p:txBody>
          <a:bodyPr/>
          <a:lstStyle>
            <a:lvl1pPr marL="0" indent="0">
              <a:buNone/>
              <a:defRPr sz="6719"/>
            </a:lvl1pPr>
            <a:lvl2pPr marL="1920011" indent="0">
              <a:buNone/>
              <a:defRPr sz="5879"/>
            </a:lvl2pPr>
            <a:lvl3pPr marL="3840023" indent="0">
              <a:buNone/>
              <a:defRPr sz="5039"/>
            </a:lvl3pPr>
            <a:lvl4pPr marL="5760034" indent="0">
              <a:buNone/>
              <a:defRPr sz="4200"/>
            </a:lvl4pPr>
            <a:lvl5pPr marL="7680046" indent="0">
              <a:buNone/>
              <a:defRPr sz="4200"/>
            </a:lvl5pPr>
            <a:lvl6pPr marL="9600057" indent="0">
              <a:buNone/>
              <a:defRPr sz="4200"/>
            </a:lvl6pPr>
            <a:lvl7pPr marL="11520068" indent="0">
              <a:buNone/>
              <a:defRPr sz="4200"/>
            </a:lvl7pPr>
            <a:lvl8pPr marL="13440080" indent="0">
              <a:buNone/>
              <a:defRPr sz="4200"/>
            </a:lvl8pPr>
            <a:lvl9pPr marL="15360091"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1E0FE8A7-F640-45E9-B054-A75FF8DF44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2406577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1920028"/>
            <a:ext cx="12772091" cy="6720099"/>
          </a:xfrm>
        </p:spPr>
        <p:txBody>
          <a:bodyPr anchor="b"/>
          <a:lstStyle>
            <a:lvl1pPr>
              <a:defRPr sz="134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6835238" y="4146734"/>
            <a:ext cx="20047595" cy="20466969"/>
          </a:xfrm>
        </p:spPr>
        <p:txBody>
          <a:bodyPr anchor="t"/>
          <a:lstStyle>
            <a:lvl1pPr marL="0" indent="0">
              <a:buNone/>
              <a:defRPr sz="13438"/>
            </a:lvl1pPr>
            <a:lvl2pPr marL="1920011" indent="0">
              <a:buNone/>
              <a:defRPr sz="11759"/>
            </a:lvl2pPr>
            <a:lvl3pPr marL="3840023" indent="0">
              <a:buNone/>
              <a:defRPr sz="10079"/>
            </a:lvl3pPr>
            <a:lvl4pPr marL="5760034" indent="0">
              <a:buNone/>
              <a:defRPr sz="8399"/>
            </a:lvl4pPr>
            <a:lvl5pPr marL="7680046" indent="0">
              <a:buNone/>
              <a:defRPr sz="8399"/>
            </a:lvl5pPr>
            <a:lvl6pPr marL="9600057" indent="0">
              <a:buNone/>
              <a:defRPr sz="8399"/>
            </a:lvl6pPr>
            <a:lvl7pPr marL="11520068" indent="0">
              <a:buNone/>
              <a:defRPr sz="8399"/>
            </a:lvl7pPr>
            <a:lvl8pPr marL="13440080" indent="0">
              <a:buNone/>
              <a:defRPr sz="8399"/>
            </a:lvl8pPr>
            <a:lvl9pPr marL="15360091" indent="0">
              <a:buNone/>
              <a:defRPr sz="8399"/>
            </a:lvl9pPr>
          </a:lstStyle>
          <a:p>
            <a:r>
              <a:rPr lang="en-US"/>
              <a:t>Click icon to add picture</a:t>
            </a:r>
            <a:endParaRPr lang="en-US" dirty="0"/>
          </a:p>
        </p:txBody>
      </p:sp>
      <p:sp>
        <p:nvSpPr>
          <p:cNvPr id="4" name="Text Placeholder 3"/>
          <p:cNvSpPr>
            <a:spLocks noGrp="1"/>
          </p:cNvSpPr>
          <p:nvPr>
            <p:ph type="body" sz="half" idx="2"/>
          </p:nvPr>
        </p:nvSpPr>
        <p:spPr>
          <a:xfrm>
            <a:off x="2727671" y="8640127"/>
            <a:ext cx="12772091" cy="16006905"/>
          </a:xfrm>
        </p:spPr>
        <p:txBody>
          <a:bodyPr/>
          <a:lstStyle>
            <a:lvl1pPr marL="0" indent="0">
              <a:buNone/>
              <a:defRPr sz="6719"/>
            </a:lvl1pPr>
            <a:lvl2pPr marL="1920011" indent="0">
              <a:buNone/>
              <a:defRPr sz="5879"/>
            </a:lvl2pPr>
            <a:lvl3pPr marL="3840023" indent="0">
              <a:buNone/>
              <a:defRPr sz="5039"/>
            </a:lvl3pPr>
            <a:lvl4pPr marL="5760034" indent="0">
              <a:buNone/>
              <a:defRPr sz="4200"/>
            </a:lvl4pPr>
            <a:lvl5pPr marL="7680046" indent="0">
              <a:buNone/>
              <a:defRPr sz="4200"/>
            </a:lvl5pPr>
            <a:lvl6pPr marL="9600057" indent="0">
              <a:buNone/>
              <a:defRPr sz="4200"/>
            </a:lvl6pPr>
            <a:lvl7pPr marL="11520068" indent="0">
              <a:buNone/>
              <a:defRPr sz="4200"/>
            </a:lvl7pPr>
            <a:lvl8pPr marL="13440080" indent="0">
              <a:buNone/>
              <a:defRPr sz="4200"/>
            </a:lvl8pPr>
            <a:lvl9pPr marL="15360091"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1E0FE8A7-F640-45E9-B054-A75FF8DF44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3139624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FE8A7-F640-45E9-B054-A75FF8DF44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128658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338886" y="1533356"/>
            <a:ext cx="8538791" cy="24407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22515" y="1533356"/>
            <a:ext cx="25121369" cy="24407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FE8A7-F640-45E9-B054-A75FF8DF44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8FB47-84CA-46A3-8C64-982BE50A9B04}" type="slidenum">
              <a:rPr lang="en-US" smtClean="0"/>
              <a:t>‹#›</a:t>
            </a:fld>
            <a:endParaRPr lang="en-US"/>
          </a:p>
        </p:txBody>
      </p:sp>
    </p:spTree>
    <p:extLst>
      <p:ext uri="{BB962C8B-B14F-4D97-AF65-F5344CB8AC3E}">
        <p14:creationId xmlns:p14="http://schemas.microsoft.com/office/powerpoint/2010/main" val="12319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22513" y="1533362"/>
            <a:ext cx="34155162" cy="55667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722513" y="7666780"/>
            <a:ext cx="34155162" cy="182736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22513" y="26693734"/>
            <a:ext cx="8910042" cy="1533356"/>
          </a:xfrm>
          <a:prstGeom prst="rect">
            <a:avLst/>
          </a:prstGeom>
        </p:spPr>
        <p:txBody>
          <a:bodyPr vert="horz" lIns="91440" tIns="45720" rIns="91440" bIns="45720" rtlCol="0" anchor="ctr"/>
          <a:lstStyle>
            <a:lvl1pPr algn="l">
              <a:defRPr sz="5039">
                <a:solidFill>
                  <a:schemeClr val="tx1">
                    <a:tint val="75000"/>
                  </a:schemeClr>
                </a:solidFill>
              </a:defRPr>
            </a:lvl1pPr>
          </a:lstStyle>
          <a:p>
            <a:fld id="{1E0FE8A7-F640-45E9-B054-A75FF8DF44D4}" type="datetimeFigureOut">
              <a:rPr lang="en-US" smtClean="0"/>
              <a:t>12/1/2025</a:t>
            </a:fld>
            <a:endParaRPr lang="en-US"/>
          </a:p>
        </p:txBody>
      </p:sp>
      <p:sp>
        <p:nvSpPr>
          <p:cNvPr id="5" name="Footer Placeholder 4"/>
          <p:cNvSpPr>
            <a:spLocks noGrp="1"/>
          </p:cNvSpPr>
          <p:nvPr>
            <p:ph type="ftr" sz="quarter" idx="3"/>
          </p:nvPr>
        </p:nvSpPr>
        <p:spPr>
          <a:xfrm>
            <a:off x="13117563" y="26693734"/>
            <a:ext cx="13365063" cy="1533356"/>
          </a:xfrm>
          <a:prstGeom prst="rect">
            <a:avLst/>
          </a:prstGeom>
        </p:spPr>
        <p:txBody>
          <a:bodyPr vert="horz" lIns="91440" tIns="45720" rIns="91440" bIns="45720" rtlCol="0" anchor="ctr"/>
          <a:lstStyle>
            <a:lvl1pPr algn="ctr">
              <a:defRPr sz="503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967633" y="26693734"/>
            <a:ext cx="8910042" cy="1533356"/>
          </a:xfrm>
          <a:prstGeom prst="rect">
            <a:avLst/>
          </a:prstGeom>
        </p:spPr>
        <p:txBody>
          <a:bodyPr vert="horz" lIns="91440" tIns="45720" rIns="91440" bIns="45720" rtlCol="0" anchor="ctr"/>
          <a:lstStyle>
            <a:lvl1pPr algn="r">
              <a:defRPr sz="5039">
                <a:solidFill>
                  <a:schemeClr val="tx1">
                    <a:tint val="75000"/>
                  </a:schemeClr>
                </a:solidFill>
              </a:defRPr>
            </a:lvl1pPr>
          </a:lstStyle>
          <a:p>
            <a:fld id="{FB68FB47-84CA-46A3-8C64-982BE50A9B04}" type="slidenum">
              <a:rPr lang="en-US" smtClean="0"/>
              <a:t>‹#›</a:t>
            </a:fld>
            <a:endParaRPr lang="en-US"/>
          </a:p>
        </p:txBody>
      </p:sp>
    </p:spTree>
    <p:extLst>
      <p:ext uri="{BB962C8B-B14F-4D97-AF65-F5344CB8AC3E}">
        <p14:creationId xmlns:p14="http://schemas.microsoft.com/office/powerpoint/2010/main" val="3364904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023" rtl="0" eaLnBrk="1" latinLnBrk="0" hangingPunct="1">
        <a:lnSpc>
          <a:spcPct val="90000"/>
        </a:lnSpc>
        <a:spcBef>
          <a:spcPct val="0"/>
        </a:spcBef>
        <a:buNone/>
        <a:defRPr sz="18478" kern="1200">
          <a:solidFill>
            <a:schemeClr val="tx1"/>
          </a:solidFill>
          <a:latin typeface="+mj-lt"/>
          <a:ea typeface="+mj-ea"/>
          <a:cs typeface="+mj-cs"/>
        </a:defRPr>
      </a:lvl1pPr>
    </p:titleStyle>
    <p:bodyStyle>
      <a:lvl1pPr marL="960006" indent="-960006" algn="l" defTabSz="3840023" rtl="0" eaLnBrk="1" latinLnBrk="0" hangingPunct="1">
        <a:lnSpc>
          <a:spcPct val="90000"/>
        </a:lnSpc>
        <a:spcBef>
          <a:spcPts val="4200"/>
        </a:spcBef>
        <a:buFont typeface="Arial" panose="020B0604020202020204" pitchFamily="34" charset="0"/>
        <a:buChar char="•"/>
        <a:defRPr sz="11759" kern="1200">
          <a:solidFill>
            <a:schemeClr val="tx1"/>
          </a:solidFill>
          <a:latin typeface="+mn-lt"/>
          <a:ea typeface="+mn-ea"/>
          <a:cs typeface="+mn-cs"/>
        </a:defRPr>
      </a:lvl1pPr>
      <a:lvl2pPr marL="2880017" indent="-960006" algn="l" defTabSz="3840023" rtl="0" eaLnBrk="1" latinLnBrk="0" hangingPunct="1">
        <a:lnSpc>
          <a:spcPct val="90000"/>
        </a:lnSpc>
        <a:spcBef>
          <a:spcPts val="2100"/>
        </a:spcBef>
        <a:buFont typeface="Arial" panose="020B0604020202020204" pitchFamily="34" charset="0"/>
        <a:buChar char="•"/>
        <a:defRPr sz="10079" kern="1200">
          <a:solidFill>
            <a:schemeClr val="tx1"/>
          </a:solidFill>
          <a:latin typeface="+mn-lt"/>
          <a:ea typeface="+mn-ea"/>
          <a:cs typeface="+mn-cs"/>
        </a:defRPr>
      </a:lvl2pPr>
      <a:lvl3pPr marL="4800029" indent="-960006" algn="l" defTabSz="3840023" rtl="0" eaLnBrk="1" latinLnBrk="0" hangingPunct="1">
        <a:lnSpc>
          <a:spcPct val="90000"/>
        </a:lnSpc>
        <a:spcBef>
          <a:spcPts val="2100"/>
        </a:spcBef>
        <a:buFont typeface="Arial" panose="020B0604020202020204" pitchFamily="34" charset="0"/>
        <a:buChar char="•"/>
        <a:defRPr sz="8399" kern="1200">
          <a:solidFill>
            <a:schemeClr val="tx1"/>
          </a:solidFill>
          <a:latin typeface="+mn-lt"/>
          <a:ea typeface="+mn-ea"/>
          <a:cs typeface="+mn-cs"/>
        </a:defRPr>
      </a:lvl3pPr>
      <a:lvl4pPr marL="6720040"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4pPr>
      <a:lvl5pPr marL="8640051"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5pPr>
      <a:lvl6pPr marL="10560063"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6pPr>
      <a:lvl7pPr marL="12480074"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7pPr>
      <a:lvl8pPr marL="14400086"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8pPr>
      <a:lvl9pPr marL="16320097" indent="-960006" algn="l" defTabSz="3840023" rtl="0" eaLnBrk="1" latinLnBrk="0" hangingPunct="1">
        <a:lnSpc>
          <a:spcPct val="90000"/>
        </a:lnSpc>
        <a:spcBef>
          <a:spcPts val="2100"/>
        </a:spcBef>
        <a:buFont typeface="Arial" panose="020B0604020202020204" pitchFamily="34" charset="0"/>
        <a:buChar char="•"/>
        <a:defRPr sz="7559" kern="1200">
          <a:solidFill>
            <a:schemeClr val="tx1"/>
          </a:solidFill>
          <a:latin typeface="+mn-lt"/>
          <a:ea typeface="+mn-ea"/>
          <a:cs typeface="+mn-cs"/>
        </a:defRPr>
      </a:lvl9pPr>
    </p:bodyStyle>
    <p:otherStyle>
      <a:defPPr>
        <a:defRPr lang="en-US"/>
      </a:defPPr>
      <a:lvl1pPr marL="0" algn="l" defTabSz="3840023" rtl="0" eaLnBrk="1" latinLnBrk="0" hangingPunct="1">
        <a:defRPr sz="7559" kern="1200">
          <a:solidFill>
            <a:schemeClr val="tx1"/>
          </a:solidFill>
          <a:latin typeface="+mn-lt"/>
          <a:ea typeface="+mn-ea"/>
          <a:cs typeface="+mn-cs"/>
        </a:defRPr>
      </a:lvl1pPr>
      <a:lvl2pPr marL="1920011" algn="l" defTabSz="3840023" rtl="0" eaLnBrk="1" latinLnBrk="0" hangingPunct="1">
        <a:defRPr sz="7559" kern="1200">
          <a:solidFill>
            <a:schemeClr val="tx1"/>
          </a:solidFill>
          <a:latin typeface="+mn-lt"/>
          <a:ea typeface="+mn-ea"/>
          <a:cs typeface="+mn-cs"/>
        </a:defRPr>
      </a:lvl2pPr>
      <a:lvl3pPr marL="3840023" algn="l" defTabSz="3840023" rtl="0" eaLnBrk="1" latinLnBrk="0" hangingPunct="1">
        <a:defRPr sz="7559" kern="1200">
          <a:solidFill>
            <a:schemeClr val="tx1"/>
          </a:solidFill>
          <a:latin typeface="+mn-lt"/>
          <a:ea typeface="+mn-ea"/>
          <a:cs typeface="+mn-cs"/>
        </a:defRPr>
      </a:lvl3pPr>
      <a:lvl4pPr marL="5760034" algn="l" defTabSz="3840023" rtl="0" eaLnBrk="1" latinLnBrk="0" hangingPunct="1">
        <a:defRPr sz="7559" kern="1200">
          <a:solidFill>
            <a:schemeClr val="tx1"/>
          </a:solidFill>
          <a:latin typeface="+mn-lt"/>
          <a:ea typeface="+mn-ea"/>
          <a:cs typeface="+mn-cs"/>
        </a:defRPr>
      </a:lvl4pPr>
      <a:lvl5pPr marL="7680046" algn="l" defTabSz="3840023" rtl="0" eaLnBrk="1" latinLnBrk="0" hangingPunct="1">
        <a:defRPr sz="7559" kern="1200">
          <a:solidFill>
            <a:schemeClr val="tx1"/>
          </a:solidFill>
          <a:latin typeface="+mn-lt"/>
          <a:ea typeface="+mn-ea"/>
          <a:cs typeface="+mn-cs"/>
        </a:defRPr>
      </a:lvl5pPr>
      <a:lvl6pPr marL="9600057" algn="l" defTabSz="3840023" rtl="0" eaLnBrk="1" latinLnBrk="0" hangingPunct="1">
        <a:defRPr sz="7559" kern="1200">
          <a:solidFill>
            <a:schemeClr val="tx1"/>
          </a:solidFill>
          <a:latin typeface="+mn-lt"/>
          <a:ea typeface="+mn-ea"/>
          <a:cs typeface="+mn-cs"/>
        </a:defRPr>
      </a:lvl6pPr>
      <a:lvl7pPr marL="11520068" algn="l" defTabSz="3840023" rtl="0" eaLnBrk="1" latinLnBrk="0" hangingPunct="1">
        <a:defRPr sz="7559" kern="1200">
          <a:solidFill>
            <a:schemeClr val="tx1"/>
          </a:solidFill>
          <a:latin typeface="+mn-lt"/>
          <a:ea typeface="+mn-ea"/>
          <a:cs typeface="+mn-cs"/>
        </a:defRPr>
      </a:lvl7pPr>
      <a:lvl8pPr marL="13440080" algn="l" defTabSz="3840023" rtl="0" eaLnBrk="1" latinLnBrk="0" hangingPunct="1">
        <a:defRPr sz="7559" kern="1200">
          <a:solidFill>
            <a:schemeClr val="tx1"/>
          </a:solidFill>
          <a:latin typeface="+mn-lt"/>
          <a:ea typeface="+mn-ea"/>
          <a:cs typeface="+mn-cs"/>
        </a:defRPr>
      </a:lvl8pPr>
      <a:lvl9pPr marL="15360091" algn="l" defTabSz="3840023" rtl="0" eaLnBrk="1" latinLnBrk="0" hangingPunct="1">
        <a:defRPr sz="75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hyperlink" Target="https://projecthub.arduino.cc/Fouad_Roboticist/arduino-servo-motor-control-with-motor-driver-shield-l293d-beab43" TargetMode="External"/><Relationship Id="rId21" Type="http://schemas.openxmlformats.org/officeDocument/2006/relationships/image" Target="../media/image20.png"/><Relationship Id="rId42" Type="http://schemas.microsoft.com/office/2007/relationships/hdphoto" Target="../media/hdphoto6.wdp"/><Relationship Id="rId47" Type="http://schemas.openxmlformats.org/officeDocument/2006/relationships/image" Target="../media/image32.png"/><Relationship Id="rId63" Type="http://schemas.openxmlformats.org/officeDocument/2006/relationships/image" Target="../media/image41.png"/><Relationship Id="rId68" Type="http://schemas.openxmlformats.org/officeDocument/2006/relationships/image" Target="../media/image46.png"/><Relationship Id="rId2" Type="http://schemas.openxmlformats.org/officeDocument/2006/relationships/image" Target="../media/image1.png"/><Relationship Id="rId16" Type="http://schemas.openxmlformats.org/officeDocument/2006/relationships/image" Target="../media/image15.png"/><Relationship Id="rId29" Type="http://schemas.openxmlformats.org/officeDocument/2006/relationships/image" Target="../media/image22.png"/><Relationship Id="rId11" Type="http://schemas.openxmlformats.org/officeDocument/2006/relationships/image" Target="../media/image10.png"/><Relationship Id="rId24" Type="http://schemas.openxmlformats.org/officeDocument/2006/relationships/hyperlink" Target="https://archive.org/details/SerwayJewettPhysicsForScientistsAndEngineersWithModernPhysics9ed" TargetMode="External"/><Relationship Id="rId32" Type="http://schemas.openxmlformats.org/officeDocument/2006/relationships/image" Target="../media/image24.png"/><Relationship Id="rId37" Type="http://schemas.microsoft.com/office/2007/relationships/hdphoto" Target="../media/hdphoto4.wdp"/><Relationship Id="rId40" Type="http://schemas.openxmlformats.org/officeDocument/2006/relationships/image" Target="../media/image28.png"/><Relationship Id="rId45" Type="http://schemas.openxmlformats.org/officeDocument/2006/relationships/image" Target="../media/image31.png"/><Relationship Id="rId53" Type="http://schemas.openxmlformats.org/officeDocument/2006/relationships/chart" Target="../charts/chart1.xml"/><Relationship Id="rId58" Type="http://schemas.openxmlformats.org/officeDocument/2006/relationships/chart" Target="../charts/chart3.xml"/><Relationship Id="rId66" Type="http://schemas.openxmlformats.org/officeDocument/2006/relationships/image" Target="../media/image38.png"/><Relationship Id="rId74" Type="http://schemas.openxmlformats.org/officeDocument/2006/relationships/image" Target="../media/image52.png"/><Relationship Id="rId79" Type="http://schemas.openxmlformats.org/officeDocument/2006/relationships/image" Target="../media/image54.png"/><Relationship Id="rId5" Type="http://schemas.openxmlformats.org/officeDocument/2006/relationships/image" Target="../media/image4.png"/><Relationship Id="rId19" Type="http://schemas.openxmlformats.org/officeDocument/2006/relationships/image" Target="../media/image18.png"/><Relationship Id="rId14" Type="http://schemas.openxmlformats.org/officeDocument/2006/relationships/image" Target="../media/image13.png"/><Relationship Id="rId22" Type="http://schemas.openxmlformats.org/officeDocument/2006/relationships/hyperlink" Target="https://pdfs.semanticscholar.org/60bf/4433d86870bc77953d0d88d1d30f0bca3666.pdf" TargetMode="External"/><Relationship Id="rId27" Type="http://schemas.openxmlformats.org/officeDocument/2006/relationships/image" Target="../media/image21.png"/><Relationship Id="rId30" Type="http://schemas.openxmlformats.org/officeDocument/2006/relationships/image" Target="../media/image23.png"/><Relationship Id="rId35" Type="http://schemas.microsoft.com/office/2007/relationships/hdphoto" Target="../media/hdphoto3.wdp"/><Relationship Id="rId43" Type="http://schemas.openxmlformats.org/officeDocument/2006/relationships/image" Target="../media/image30.png"/><Relationship Id="rId48" Type="http://schemas.microsoft.com/office/2007/relationships/hdphoto" Target="../media/hdphoto9.wdp"/><Relationship Id="rId56" Type="http://schemas.openxmlformats.org/officeDocument/2006/relationships/image" Target="../media/image37.png"/><Relationship Id="rId64" Type="http://schemas.openxmlformats.org/officeDocument/2006/relationships/image" Target="../media/image42.png"/><Relationship Id="rId69" Type="http://schemas.openxmlformats.org/officeDocument/2006/relationships/image" Target="../media/image44.png"/><Relationship Id="rId77" Type="http://schemas.microsoft.com/office/2007/relationships/hdphoto" Target="../media/hdphoto12.wdp"/><Relationship Id="rId8" Type="http://schemas.openxmlformats.org/officeDocument/2006/relationships/image" Target="../media/image7.png"/><Relationship Id="rId51" Type="http://schemas.openxmlformats.org/officeDocument/2006/relationships/image" Target="../media/image34.png"/><Relationship Id="rId72" Type="http://schemas.openxmlformats.org/officeDocument/2006/relationships/image" Target="../media/image50.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hyperlink" Target="https://assets.openstax.org/oscms-prodcms/media/documents/IntroductoryStatistics-OP_i6tAI7e.pdf" TargetMode="External"/><Relationship Id="rId33" Type="http://schemas.microsoft.com/office/2007/relationships/hdphoto" Target="../media/hdphoto2.wdp"/><Relationship Id="rId38" Type="http://schemas.openxmlformats.org/officeDocument/2006/relationships/image" Target="../media/image27.png"/><Relationship Id="rId46" Type="http://schemas.microsoft.com/office/2007/relationships/hdphoto" Target="../media/hdphoto8.wdp"/><Relationship Id="rId67" Type="http://schemas.openxmlformats.org/officeDocument/2006/relationships/image" Target="../media/image39.png"/><Relationship Id="rId20" Type="http://schemas.openxmlformats.org/officeDocument/2006/relationships/image" Target="../media/image19.png"/><Relationship Id="rId41" Type="http://schemas.openxmlformats.org/officeDocument/2006/relationships/image" Target="../media/image29.png"/><Relationship Id="rId54" Type="http://schemas.openxmlformats.org/officeDocument/2006/relationships/image" Target="../media/image35.png"/><Relationship Id="rId62" Type="http://schemas.openxmlformats.org/officeDocument/2006/relationships/image" Target="../media/image40.png"/><Relationship Id="rId70" Type="http://schemas.openxmlformats.org/officeDocument/2006/relationships/image" Target="../media/image48.png"/><Relationship Id="rId75"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image" Target="../media/image5.png"/><Relationship Id="rId15" Type="http://schemas.openxmlformats.org/officeDocument/2006/relationships/image" Target="../media/image14.png"/><Relationship Id="rId23" Type="http://schemas.openxmlformats.org/officeDocument/2006/relationships/hyperlink" Target="https://books.google.ru/books?id=YAzDCwAAQBAJ&amp;q=chicago+River+Bridges+book" TargetMode="External"/><Relationship Id="rId28" Type="http://schemas.openxmlformats.org/officeDocument/2006/relationships/hyperlink" Target="mailto:Mahmoud.2324055@stemqena.moe.edu.eg" TargetMode="External"/><Relationship Id="rId36" Type="http://schemas.openxmlformats.org/officeDocument/2006/relationships/image" Target="../media/image26.png"/><Relationship Id="rId49" Type="http://schemas.openxmlformats.org/officeDocument/2006/relationships/image" Target="../media/image33.png"/><Relationship Id="rId57" Type="http://schemas.openxmlformats.org/officeDocument/2006/relationships/chart" Target="../charts/chart2.xml"/><Relationship Id="rId10" Type="http://schemas.openxmlformats.org/officeDocument/2006/relationships/image" Target="../media/image9.png"/><Relationship Id="rId31" Type="http://schemas.microsoft.com/office/2007/relationships/hdphoto" Target="../media/hdphoto1.wdp"/><Relationship Id="rId44" Type="http://schemas.microsoft.com/office/2007/relationships/hdphoto" Target="../media/hdphoto7.wdp"/><Relationship Id="rId52" Type="http://schemas.microsoft.com/office/2007/relationships/hdphoto" Target="../media/hdphoto11.wdp"/><Relationship Id="rId65" Type="http://schemas.openxmlformats.org/officeDocument/2006/relationships/image" Target="../media/image43.png"/><Relationship Id="rId73" Type="http://schemas.openxmlformats.org/officeDocument/2006/relationships/image" Target="../media/image51.png"/><Relationship Id="rId78" Type="http://schemas.openxmlformats.org/officeDocument/2006/relationships/image" Target="../media/image53.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7.png"/><Relationship Id="rId39" Type="http://schemas.microsoft.com/office/2007/relationships/hdphoto" Target="../media/hdphoto5.wdp"/><Relationship Id="rId34" Type="http://schemas.openxmlformats.org/officeDocument/2006/relationships/image" Target="../media/image25.png"/><Relationship Id="rId50" Type="http://schemas.microsoft.com/office/2007/relationships/hdphoto" Target="../media/hdphoto10.wdp"/><Relationship Id="rId55" Type="http://schemas.openxmlformats.org/officeDocument/2006/relationships/image" Target="../media/image36.png"/><Relationship Id="rId76" Type="http://schemas.openxmlformats.org/officeDocument/2006/relationships/image" Target="../media/image47.png"/><Relationship Id="rId7" Type="http://schemas.openxmlformats.org/officeDocument/2006/relationships/image" Target="../media/image6.png"/><Relationship Id="rId7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94867"/>
        </a:solidFill>
        <a:effectLst/>
      </p:bgPr>
    </p:bg>
    <p:spTree>
      <p:nvGrpSpPr>
        <p:cNvPr id="1" name=""/>
        <p:cNvGrpSpPr/>
        <p:nvPr/>
      </p:nvGrpSpPr>
      <p:grpSpPr>
        <a:xfrm>
          <a:off x="0" y="0"/>
          <a:ext cx="0" cy="0"/>
          <a:chOff x="0" y="0"/>
          <a:chExt cx="0" cy="0"/>
        </a:xfrm>
      </p:grpSpPr>
      <p:grpSp>
        <p:nvGrpSpPr>
          <p:cNvPr id="538" name="Group 537">
            <a:extLst>
              <a:ext uri="{FF2B5EF4-FFF2-40B4-BE49-F238E27FC236}">
                <a16:creationId xmlns:a16="http://schemas.microsoft.com/office/drawing/2014/main" id="{DF2FDE6C-F38E-45FB-7405-9AB9031D19A6}"/>
              </a:ext>
            </a:extLst>
          </p:cNvPr>
          <p:cNvGrpSpPr/>
          <p:nvPr/>
        </p:nvGrpSpPr>
        <p:grpSpPr>
          <a:xfrm>
            <a:off x="262177" y="4398973"/>
            <a:ext cx="9535727" cy="1097041"/>
            <a:chOff x="7405252" y="2889948"/>
            <a:chExt cx="9535727" cy="1097041"/>
          </a:xfrm>
        </p:grpSpPr>
        <p:sp>
          <p:nvSpPr>
            <p:cNvPr id="535" name="Rectangle: Rounded Corners 534">
              <a:extLst>
                <a:ext uri="{FF2B5EF4-FFF2-40B4-BE49-F238E27FC236}">
                  <a16:creationId xmlns:a16="http://schemas.microsoft.com/office/drawing/2014/main" id="{F293B6B1-B5F3-6F81-1A33-1FB0E4181DCA}"/>
                </a:ext>
              </a:extLst>
            </p:cNvPr>
            <p:cNvSpPr/>
            <p:nvPr/>
          </p:nvSpPr>
          <p:spPr>
            <a:xfrm>
              <a:off x="7405252" y="2909267"/>
              <a:ext cx="9535727" cy="1059568"/>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Abstract</a:t>
              </a:r>
            </a:p>
          </p:txBody>
        </p:sp>
        <p:pic>
          <p:nvPicPr>
            <p:cNvPr id="536" name="Picture 535">
              <a:extLst>
                <a:ext uri="{FF2B5EF4-FFF2-40B4-BE49-F238E27FC236}">
                  <a16:creationId xmlns:a16="http://schemas.microsoft.com/office/drawing/2014/main" id="{25DAE082-0C4A-6B9D-16B0-615D615232E3}"/>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7416279" y="2889948"/>
              <a:ext cx="1118594" cy="1057087"/>
            </a:xfrm>
            <a:prstGeom prst="rect">
              <a:avLst/>
            </a:prstGeom>
            <a:noFill/>
          </p:spPr>
        </p:pic>
        <p:pic>
          <p:nvPicPr>
            <p:cNvPr id="537" name="Picture 536">
              <a:extLst>
                <a:ext uri="{FF2B5EF4-FFF2-40B4-BE49-F238E27FC236}">
                  <a16:creationId xmlns:a16="http://schemas.microsoft.com/office/drawing/2014/main" id="{7986A827-59D3-9B1E-10FC-B3E93ADC4CDD}"/>
                </a:ext>
              </a:extLst>
            </p:cNvPr>
            <p:cNvPicPr>
              <a:picLocks noChangeAspect="1"/>
            </p:cNvPicPr>
            <p:nvPr/>
          </p:nvPicPr>
          <p:blipFill>
            <a:blip r:embed="rId3">
              <a:extLst>
                <a:ext uri="{28A0092B-C50C-407E-A947-70E740481C1C}">
                  <a14:useLocalDpi xmlns:a14="http://schemas.microsoft.com/office/drawing/2010/main" val="0"/>
                </a:ext>
              </a:extLst>
            </a:blip>
            <a:srcRect l="3797" t="9017" r="50000" b="2875"/>
            <a:stretch/>
          </p:blipFill>
          <p:spPr>
            <a:xfrm flipH="1">
              <a:off x="15765134" y="2929902"/>
              <a:ext cx="1118594" cy="1057087"/>
            </a:xfrm>
            <a:prstGeom prst="rect">
              <a:avLst/>
            </a:prstGeom>
            <a:noFill/>
          </p:spPr>
        </p:pic>
      </p:grpSp>
      <p:sp>
        <p:nvSpPr>
          <p:cNvPr id="31" name="Freeform: Shape 30">
            <a:extLst>
              <a:ext uri="{FF2B5EF4-FFF2-40B4-BE49-F238E27FC236}">
                <a16:creationId xmlns:a16="http://schemas.microsoft.com/office/drawing/2014/main" id="{DEEE93B0-23BB-B661-196B-BF9F44A1A425}"/>
              </a:ext>
            </a:extLst>
          </p:cNvPr>
          <p:cNvSpPr/>
          <p:nvPr/>
        </p:nvSpPr>
        <p:spPr>
          <a:xfrm rot="5400000" flipH="1">
            <a:off x="35863842" y="198351"/>
            <a:ext cx="3551731" cy="2968459"/>
          </a:xfrm>
          <a:custGeom>
            <a:avLst/>
            <a:gdLst>
              <a:gd name="connsiteX0" fmla="*/ 3874713 w 3874713"/>
              <a:gd name="connsiteY0" fmla="*/ 0 h 3491280"/>
              <a:gd name="connsiteX1" fmla="*/ 3874713 w 3874713"/>
              <a:gd name="connsiteY1" fmla="*/ 108521 h 3491280"/>
              <a:gd name="connsiteX2" fmla="*/ 1253947 w 3874713"/>
              <a:gd name="connsiteY2" fmla="*/ 108521 h 3491280"/>
              <a:gd name="connsiteX3" fmla="*/ 108520 w 3874713"/>
              <a:gd name="connsiteY3" fmla="*/ 1253946 h 3491280"/>
              <a:gd name="connsiteX4" fmla="*/ 108520 w 3874713"/>
              <a:gd name="connsiteY4" fmla="*/ 3491280 h 3491280"/>
              <a:gd name="connsiteX5" fmla="*/ 0 w 3874713"/>
              <a:gd name="connsiteY5" fmla="*/ 3491280 h 3491280"/>
              <a:gd name="connsiteX6" fmla="*/ 0 w 3874713"/>
              <a:gd name="connsiteY6" fmla="*/ 1253946 h 3491280"/>
              <a:gd name="connsiteX7" fmla="*/ 1253947 w 3874713"/>
              <a:gd name="connsiteY7" fmla="*/ 0 h 349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74713" h="3491280">
                <a:moveTo>
                  <a:pt x="3874713" y="0"/>
                </a:moveTo>
                <a:lnTo>
                  <a:pt x="3874713" y="108521"/>
                </a:lnTo>
                <a:lnTo>
                  <a:pt x="1253947" y="108521"/>
                </a:lnTo>
                <a:cubicBezTo>
                  <a:pt x="621345" y="108521"/>
                  <a:pt x="108520" y="621345"/>
                  <a:pt x="108520" y="1253946"/>
                </a:cubicBezTo>
                <a:lnTo>
                  <a:pt x="108520" y="3491280"/>
                </a:lnTo>
                <a:lnTo>
                  <a:pt x="0" y="3491280"/>
                </a:lnTo>
                <a:lnTo>
                  <a:pt x="0" y="1253946"/>
                </a:lnTo>
                <a:cubicBezTo>
                  <a:pt x="1" y="561411"/>
                  <a:pt x="561411" y="0"/>
                  <a:pt x="1253947" y="0"/>
                </a:cubicBezTo>
                <a:close/>
              </a:path>
            </a:pathLst>
          </a:custGeom>
          <a:solidFill>
            <a:srgbClr val="00ADB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992" dirty="0">
              <a:solidFill>
                <a:schemeClr val="tx1"/>
              </a:solidFill>
            </a:endParaRPr>
          </a:p>
        </p:txBody>
      </p:sp>
      <p:pic>
        <p:nvPicPr>
          <p:cNvPr id="35" name="Picture 34">
            <a:extLst>
              <a:ext uri="{FF2B5EF4-FFF2-40B4-BE49-F238E27FC236}">
                <a16:creationId xmlns:a16="http://schemas.microsoft.com/office/drawing/2014/main" id="{D2570F07-4939-5E43-4AD8-AA8733C512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22201" y="113077"/>
            <a:ext cx="694391" cy="694391"/>
          </a:xfrm>
          <a:prstGeom prst="rect">
            <a:avLst/>
          </a:prstGeom>
        </p:spPr>
      </p:pic>
      <p:sp>
        <p:nvSpPr>
          <p:cNvPr id="30" name="Freeform: Shape 29">
            <a:extLst>
              <a:ext uri="{FF2B5EF4-FFF2-40B4-BE49-F238E27FC236}">
                <a16:creationId xmlns:a16="http://schemas.microsoft.com/office/drawing/2014/main" id="{CCBB4783-2455-F093-AF08-009928FA5631}"/>
              </a:ext>
            </a:extLst>
          </p:cNvPr>
          <p:cNvSpPr/>
          <p:nvPr/>
        </p:nvSpPr>
        <p:spPr>
          <a:xfrm rot="16200000">
            <a:off x="397657" y="-16417"/>
            <a:ext cx="3458446" cy="3491280"/>
          </a:xfrm>
          <a:custGeom>
            <a:avLst/>
            <a:gdLst>
              <a:gd name="connsiteX0" fmla="*/ 3874713 w 3874713"/>
              <a:gd name="connsiteY0" fmla="*/ 0 h 3491280"/>
              <a:gd name="connsiteX1" fmla="*/ 3874713 w 3874713"/>
              <a:gd name="connsiteY1" fmla="*/ 108521 h 3491280"/>
              <a:gd name="connsiteX2" fmla="*/ 1253947 w 3874713"/>
              <a:gd name="connsiteY2" fmla="*/ 108521 h 3491280"/>
              <a:gd name="connsiteX3" fmla="*/ 108520 w 3874713"/>
              <a:gd name="connsiteY3" fmla="*/ 1253946 h 3491280"/>
              <a:gd name="connsiteX4" fmla="*/ 108520 w 3874713"/>
              <a:gd name="connsiteY4" fmla="*/ 3491280 h 3491280"/>
              <a:gd name="connsiteX5" fmla="*/ 0 w 3874713"/>
              <a:gd name="connsiteY5" fmla="*/ 3491280 h 3491280"/>
              <a:gd name="connsiteX6" fmla="*/ 0 w 3874713"/>
              <a:gd name="connsiteY6" fmla="*/ 1253946 h 3491280"/>
              <a:gd name="connsiteX7" fmla="*/ 1253947 w 3874713"/>
              <a:gd name="connsiteY7" fmla="*/ 0 h 349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74713" h="3491280">
                <a:moveTo>
                  <a:pt x="3874713" y="0"/>
                </a:moveTo>
                <a:lnTo>
                  <a:pt x="3874713" y="108521"/>
                </a:lnTo>
                <a:lnTo>
                  <a:pt x="1253947" y="108521"/>
                </a:lnTo>
                <a:cubicBezTo>
                  <a:pt x="621345" y="108521"/>
                  <a:pt x="108520" y="621345"/>
                  <a:pt x="108520" y="1253946"/>
                </a:cubicBezTo>
                <a:lnTo>
                  <a:pt x="108520" y="3491280"/>
                </a:lnTo>
                <a:lnTo>
                  <a:pt x="0" y="3491280"/>
                </a:lnTo>
                <a:lnTo>
                  <a:pt x="0" y="1253946"/>
                </a:lnTo>
                <a:cubicBezTo>
                  <a:pt x="1" y="561411"/>
                  <a:pt x="561411" y="0"/>
                  <a:pt x="1253947" y="0"/>
                </a:cubicBezTo>
                <a:close/>
              </a:path>
            </a:pathLst>
          </a:custGeom>
          <a:solidFill>
            <a:srgbClr val="00ADB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992">
              <a:solidFill>
                <a:schemeClr val="tx1"/>
              </a:solidFill>
            </a:endParaRPr>
          </a:p>
        </p:txBody>
      </p:sp>
      <p:pic>
        <p:nvPicPr>
          <p:cNvPr id="6" name="Picture 5">
            <a:extLst>
              <a:ext uri="{FF2B5EF4-FFF2-40B4-BE49-F238E27FC236}">
                <a16:creationId xmlns:a16="http://schemas.microsoft.com/office/drawing/2014/main" id="{C73C2BF2-1223-AAC6-3787-AD4650D9DD77}"/>
              </a:ext>
            </a:extLst>
          </p:cNvPr>
          <p:cNvPicPr>
            <a:picLocks noChangeAspect="1"/>
          </p:cNvPicPr>
          <p:nvPr/>
        </p:nvPicPr>
        <p:blipFill>
          <a:blip r:embed="rId5"/>
          <a:stretch>
            <a:fillRect/>
          </a:stretch>
        </p:blipFill>
        <p:spPr>
          <a:xfrm>
            <a:off x="4071210" y="2383141"/>
            <a:ext cx="2028467" cy="2028467"/>
          </a:xfrm>
          <a:prstGeom prst="rect">
            <a:avLst/>
          </a:prstGeom>
        </p:spPr>
      </p:pic>
      <p:pic>
        <p:nvPicPr>
          <p:cNvPr id="7" name="Picture 6">
            <a:extLst>
              <a:ext uri="{FF2B5EF4-FFF2-40B4-BE49-F238E27FC236}">
                <a16:creationId xmlns:a16="http://schemas.microsoft.com/office/drawing/2014/main" id="{A3F1475E-FC74-3948-FD1A-F8EE99D00E88}"/>
              </a:ext>
            </a:extLst>
          </p:cNvPr>
          <p:cNvPicPr>
            <a:picLocks noChangeAspect="1"/>
          </p:cNvPicPr>
          <p:nvPr/>
        </p:nvPicPr>
        <p:blipFill>
          <a:blip r:embed="rId5"/>
          <a:stretch>
            <a:fillRect/>
          </a:stretch>
        </p:blipFill>
        <p:spPr>
          <a:xfrm flipH="1">
            <a:off x="34127010" y="2369115"/>
            <a:ext cx="2028467" cy="2028467"/>
          </a:xfrm>
          <a:prstGeom prst="rect">
            <a:avLst/>
          </a:prstGeom>
        </p:spPr>
      </p:pic>
      <p:pic>
        <p:nvPicPr>
          <p:cNvPr id="10" name="Image 3">
            <a:extLst>
              <a:ext uri="{FF2B5EF4-FFF2-40B4-BE49-F238E27FC236}">
                <a16:creationId xmlns:a16="http://schemas.microsoft.com/office/drawing/2014/main" id="{1E2D5CE1-A866-6504-1DED-7813A056FDD9}"/>
              </a:ext>
            </a:extLst>
          </p:cNvPr>
          <p:cNvPicPr>
            <a:picLocks/>
          </p:cNvPicPr>
          <p:nvPr/>
        </p:nvPicPr>
        <p:blipFill>
          <a:blip r:embed="rId6" cstate="print"/>
          <a:srcRect l="11164" t="20724" r="8026" b="12507"/>
          <a:stretch/>
        </p:blipFill>
        <p:spPr>
          <a:xfrm>
            <a:off x="660413" y="217257"/>
            <a:ext cx="3349842" cy="2817899"/>
          </a:xfrm>
          <a:prstGeom prst="rect">
            <a:avLst/>
          </a:prstGeom>
        </p:spPr>
      </p:pic>
      <p:pic>
        <p:nvPicPr>
          <p:cNvPr id="14" name="Picture 13">
            <a:extLst>
              <a:ext uri="{FF2B5EF4-FFF2-40B4-BE49-F238E27FC236}">
                <a16:creationId xmlns:a16="http://schemas.microsoft.com/office/drawing/2014/main" id="{C63EA3D0-3944-6D3C-590A-5E1ED024B2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087183" y="219782"/>
            <a:ext cx="2812847" cy="2812847"/>
          </a:xfrm>
          <a:prstGeom prst="rect">
            <a:avLst/>
          </a:prstGeom>
        </p:spPr>
      </p:pic>
      <p:sp>
        <p:nvSpPr>
          <p:cNvPr id="15" name="TextBox 14">
            <a:extLst>
              <a:ext uri="{FF2B5EF4-FFF2-40B4-BE49-F238E27FC236}">
                <a16:creationId xmlns:a16="http://schemas.microsoft.com/office/drawing/2014/main" id="{910AADE2-1029-E02A-E9C1-8C1A713AB029}"/>
              </a:ext>
            </a:extLst>
          </p:cNvPr>
          <p:cNvSpPr txBox="1"/>
          <p:nvPr/>
        </p:nvSpPr>
        <p:spPr>
          <a:xfrm>
            <a:off x="7856055" y="916174"/>
            <a:ext cx="25079326" cy="769441"/>
          </a:xfrm>
          <a:prstGeom prst="rect">
            <a:avLst/>
          </a:prstGeom>
          <a:noFill/>
        </p:spPr>
        <p:txBody>
          <a:bodyPr wrap="square">
            <a:spAutoFit/>
          </a:bodyPr>
          <a:lstStyle/>
          <a:p>
            <a:pPr marL="375920" algn="ctr">
              <a:lnSpc>
                <a:spcPct val="100000"/>
              </a:lnSpc>
              <a:spcBef>
                <a:spcPts val="830"/>
              </a:spcBef>
              <a:tabLst>
                <a:tab pos="20878800" algn="l"/>
              </a:tabLst>
            </a:pPr>
            <a:r>
              <a:rPr lang="en-US" sz="4400" b="1" dirty="0">
                <a:solidFill>
                  <a:srgbClr val="EEEEEE"/>
                </a:solidFill>
                <a:latin typeface="Century Schoolbook" panose="02040604050505020304" pitchFamily="18" charset="0"/>
              </a:rPr>
              <a:t>Qena STEM School | 2024\2025 | Semester 1 | Grade 10 | Group No. 23110</a:t>
            </a:r>
          </a:p>
        </p:txBody>
      </p:sp>
      <p:sp>
        <p:nvSpPr>
          <p:cNvPr id="13" name="TextBox 12">
            <a:extLst>
              <a:ext uri="{FF2B5EF4-FFF2-40B4-BE49-F238E27FC236}">
                <a16:creationId xmlns:a16="http://schemas.microsoft.com/office/drawing/2014/main" id="{299292A0-9077-995D-8ADB-483DCB9FBB9F}"/>
              </a:ext>
            </a:extLst>
          </p:cNvPr>
          <p:cNvSpPr txBox="1"/>
          <p:nvPr/>
        </p:nvSpPr>
        <p:spPr>
          <a:xfrm>
            <a:off x="17272704" y="-99951"/>
            <a:ext cx="4491935" cy="1200329"/>
          </a:xfrm>
          <a:prstGeom prst="rect">
            <a:avLst/>
          </a:prstGeom>
          <a:noFill/>
        </p:spPr>
        <p:txBody>
          <a:bodyPr wrap="none" rtlCol="0">
            <a:spAutoFit/>
          </a:bodyPr>
          <a:lstStyle/>
          <a:p>
            <a:r>
              <a:rPr lang="en-US" sz="7200">
                <a:solidFill>
                  <a:srgbClr val="00ADB5"/>
                </a:solidFill>
                <a:latin typeface="Good Times Rg" panose="020B0605020000020001" pitchFamily="34" charset="0"/>
                <a:ea typeface="Cascadia Mono SemiLight" panose="020B0609020000020004" pitchFamily="49" charset="0"/>
                <a:cs typeface="Cascadia Mono SemiLight" panose="020B0609020000020004" pitchFamily="49" charset="0"/>
              </a:rPr>
              <a:t>     H-Bridge</a:t>
            </a:r>
            <a:endParaRPr lang="en-US" sz="7200" dirty="0">
              <a:solidFill>
                <a:srgbClr val="00ADB5"/>
              </a:solidFill>
              <a:latin typeface="Good Times Rg" panose="020B0605020000020001" pitchFamily="34" charset="0"/>
              <a:ea typeface="Cascadia Mono SemiLight" panose="020B0609020000020004" pitchFamily="49" charset="0"/>
              <a:cs typeface="Cascadia Mono SemiLight" panose="020B0609020000020004" pitchFamily="49" charset="0"/>
            </a:endParaRPr>
          </a:p>
        </p:txBody>
      </p:sp>
      <p:cxnSp>
        <p:nvCxnSpPr>
          <p:cNvPr id="18" name="Straight Connector 17">
            <a:extLst>
              <a:ext uri="{FF2B5EF4-FFF2-40B4-BE49-F238E27FC236}">
                <a16:creationId xmlns:a16="http://schemas.microsoft.com/office/drawing/2014/main" id="{CD6807E7-BF56-E05A-8819-0CAED07A6C92}"/>
              </a:ext>
            </a:extLst>
          </p:cNvPr>
          <p:cNvCxnSpPr>
            <a:cxnSpLocks/>
          </p:cNvCxnSpPr>
          <p:nvPr/>
        </p:nvCxnSpPr>
        <p:spPr>
          <a:xfrm>
            <a:off x="6129397" y="3442160"/>
            <a:ext cx="13226052" cy="16286"/>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956B764-1E6B-85A0-9306-C594291106EB}"/>
              </a:ext>
            </a:extLst>
          </p:cNvPr>
          <p:cNvSpPr txBox="1"/>
          <p:nvPr/>
        </p:nvSpPr>
        <p:spPr>
          <a:xfrm>
            <a:off x="8512824" y="2248050"/>
            <a:ext cx="23942287" cy="787106"/>
          </a:xfrm>
          <a:prstGeom prst="rect">
            <a:avLst/>
          </a:prstGeom>
          <a:noFill/>
        </p:spPr>
        <p:txBody>
          <a:bodyPr wrap="square">
            <a:spAutoFit/>
          </a:bodyPr>
          <a:lstStyle/>
          <a:p>
            <a:r>
              <a:rPr lang="en-US" sz="4400" b="1" dirty="0">
                <a:solidFill>
                  <a:srgbClr val="EEEEEE"/>
                </a:solidFill>
                <a:latin typeface="Century Schoolbook" panose="02040604050505020304" pitchFamily="18" charset="0"/>
              </a:rPr>
              <a:t>Mahmoud Ahmed, Anas Ahmed, Philopateer Nabil, Ahmed Hazem, Ahmed Hassan</a:t>
            </a:r>
          </a:p>
        </p:txBody>
      </p:sp>
      <p:sp>
        <p:nvSpPr>
          <p:cNvPr id="22" name="TextBox 21">
            <a:extLst>
              <a:ext uri="{FF2B5EF4-FFF2-40B4-BE49-F238E27FC236}">
                <a16:creationId xmlns:a16="http://schemas.microsoft.com/office/drawing/2014/main" id="{2AEFB57B-081F-2C78-43D8-6EA525EB1A9D}"/>
              </a:ext>
            </a:extLst>
          </p:cNvPr>
          <p:cNvSpPr txBox="1"/>
          <p:nvPr/>
        </p:nvSpPr>
        <p:spPr>
          <a:xfrm>
            <a:off x="5909383" y="1545889"/>
            <a:ext cx="28972669" cy="769441"/>
          </a:xfrm>
          <a:prstGeom prst="rect">
            <a:avLst/>
          </a:prstGeom>
          <a:noFill/>
        </p:spPr>
        <p:txBody>
          <a:bodyPr wrap="square">
            <a:spAutoFit/>
          </a:bodyPr>
          <a:lstStyle/>
          <a:p>
            <a:pPr algn="ctr"/>
            <a:r>
              <a:rPr lang="en-US" sz="4400" b="1" dirty="0">
                <a:solidFill>
                  <a:srgbClr val="EEEEEE"/>
                </a:solidFill>
                <a:latin typeface="Century Schoolbook" panose="02040604050505020304" pitchFamily="18" charset="0"/>
              </a:rPr>
              <a:t>Key words: Bridge – H-Bridge – Transportation – Palm Tree Midrib</a:t>
            </a:r>
          </a:p>
        </p:txBody>
      </p:sp>
      <p:sp>
        <p:nvSpPr>
          <p:cNvPr id="5" name="Rectangle 4">
            <a:extLst>
              <a:ext uri="{FF2B5EF4-FFF2-40B4-BE49-F238E27FC236}">
                <a16:creationId xmlns:a16="http://schemas.microsoft.com/office/drawing/2014/main" id="{C353FB4D-EC47-F00D-B8F3-DE1A944F2399}"/>
              </a:ext>
            </a:extLst>
          </p:cNvPr>
          <p:cNvSpPr/>
          <p:nvPr/>
        </p:nvSpPr>
        <p:spPr>
          <a:xfrm>
            <a:off x="0" y="-49629"/>
            <a:ext cx="39600187" cy="28850054"/>
          </a:xfrm>
          <a:prstGeom prst="rect">
            <a:avLst/>
          </a:prstGeom>
          <a:noFill/>
          <a:ln w="114300">
            <a:solidFill>
              <a:srgbClr val="FF94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45" name="Picture 44">
            <a:extLst>
              <a:ext uri="{FF2B5EF4-FFF2-40B4-BE49-F238E27FC236}">
                <a16:creationId xmlns:a16="http://schemas.microsoft.com/office/drawing/2014/main" id="{CF1A28AC-668F-F936-3AD7-17420B7F26C7}"/>
              </a:ext>
            </a:extLst>
          </p:cNvPr>
          <p:cNvPicPr>
            <a:picLocks noChangeAspect="1"/>
          </p:cNvPicPr>
          <p:nvPr/>
        </p:nvPicPr>
        <p:blipFill>
          <a:blip r:embed="rId8"/>
          <a:stretch>
            <a:fillRect/>
          </a:stretch>
        </p:blipFill>
        <p:spPr>
          <a:xfrm>
            <a:off x="19554267" y="2756945"/>
            <a:ext cx="1682903" cy="1682903"/>
          </a:xfrm>
          <a:prstGeom prst="rect">
            <a:avLst/>
          </a:prstGeom>
        </p:spPr>
      </p:pic>
      <p:pic>
        <p:nvPicPr>
          <p:cNvPr id="2" name="Picture 1">
            <a:extLst>
              <a:ext uri="{FF2B5EF4-FFF2-40B4-BE49-F238E27FC236}">
                <a16:creationId xmlns:a16="http://schemas.microsoft.com/office/drawing/2014/main" id="{D87C3E59-175C-F208-DF55-BAD15300A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22799183" y="186019"/>
            <a:ext cx="694391" cy="694391"/>
          </a:xfrm>
          <a:prstGeom prst="rect">
            <a:avLst/>
          </a:prstGeom>
        </p:spPr>
      </p:pic>
      <p:cxnSp>
        <p:nvCxnSpPr>
          <p:cNvPr id="3" name="Straight Connector 2">
            <a:extLst>
              <a:ext uri="{FF2B5EF4-FFF2-40B4-BE49-F238E27FC236}">
                <a16:creationId xmlns:a16="http://schemas.microsoft.com/office/drawing/2014/main" id="{8B1131EF-D95A-C9B2-3C1D-9D2ADFFADB57}"/>
              </a:ext>
            </a:extLst>
          </p:cNvPr>
          <p:cNvCxnSpPr>
            <a:cxnSpLocks/>
          </p:cNvCxnSpPr>
          <p:nvPr/>
        </p:nvCxnSpPr>
        <p:spPr>
          <a:xfrm>
            <a:off x="21330961" y="3505212"/>
            <a:ext cx="1264043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19" name="Group 418">
            <a:extLst>
              <a:ext uri="{FF2B5EF4-FFF2-40B4-BE49-F238E27FC236}">
                <a16:creationId xmlns:a16="http://schemas.microsoft.com/office/drawing/2014/main" id="{4AA7E02E-7F06-7CEE-9C41-AC19F4CD4112}"/>
              </a:ext>
            </a:extLst>
          </p:cNvPr>
          <p:cNvGrpSpPr/>
          <p:nvPr/>
        </p:nvGrpSpPr>
        <p:grpSpPr>
          <a:xfrm>
            <a:off x="310342" y="4648551"/>
            <a:ext cx="9502478" cy="4896015"/>
            <a:chOff x="275005" y="4586110"/>
            <a:chExt cx="9502478" cy="4479137"/>
          </a:xfrm>
        </p:grpSpPr>
        <mc:AlternateContent xmlns:mc="http://schemas.openxmlformats.org/markup-compatibility/2006" xmlns:a14="http://schemas.microsoft.com/office/drawing/2010/main">
          <mc:Choice Requires="a14">
            <p:sp>
              <p:nvSpPr>
                <p:cNvPr id="247" name="Rectangle: Rounded Corners 246">
                  <a:extLst>
                    <a:ext uri="{FF2B5EF4-FFF2-40B4-BE49-F238E27FC236}">
                      <a16:creationId xmlns:a16="http://schemas.microsoft.com/office/drawing/2014/main" id="{280C8710-1FB8-971D-C836-D6FBD69DA55D}"/>
                    </a:ext>
                  </a:extLst>
                </p:cNvPr>
                <p:cNvSpPr/>
                <p:nvPr/>
              </p:nvSpPr>
              <p:spPr>
                <a:xfrm>
                  <a:off x="275005" y="5378906"/>
                  <a:ext cx="9502478" cy="3686341"/>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algn="just" rtl="0" eaLnBrk="1" latinLnBrk="0" hangingPunct="1"/>
                  <a:r>
                    <a:rPr lang="en-US" sz="1600" dirty="0">
                      <a:solidFill>
                        <a:srgbClr val="EEEEEE"/>
                      </a:solidFill>
                      <a:latin typeface="Times New Roman" panose="02020603050405020304" pitchFamily="18" charset="0"/>
                      <a:cs typeface="Times New Roman" panose="02020603050405020304" pitchFamily="18" charset="0"/>
                    </a:rPr>
                    <a:t>	</a:t>
                  </a:r>
                  <a:r>
                    <a:rPr lang="en-US" sz="1700" b="0" i="0" kern="1200" dirty="0">
                      <a:solidFill>
                        <a:srgbClr val="0D0D0D"/>
                      </a:solidFill>
                      <a:effectLst/>
                      <a:latin typeface="Times New Roman" panose="02020603050405020304" pitchFamily="18" charset="0"/>
                      <a:cs typeface="Times New Roman" panose="02020603050405020304" pitchFamily="18" charset="0"/>
                    </a:rPr>
                    <a:t>Egypt is a country that faces various of problems that ought to be solved. </a:t>
                  </a:r>
                  <a:r>
                    <a:rPr lang="en-US" sz="1700" kern="1200" dirty="0">
                      <a:solidFill>
                        <a:srgbClr val="0D0D0D"/>
                      </a:solidFill>
                      <a:effectLst/>
                      <a:latin typeface="Times New Roman" panose="02020603050405020304" pitchFamily="18" charset="0"/>
                      <a:cs typeface="Times New Roman" panose="02020603050405020304" pitchFamily="18" charset="0"/>
                    </a:rPr>
                    <a:t>These problems called grand challenges</a:t>
                  </a:r>
                  <a:endParaRPr lang="en-US" sz="1700" dirty="0">
                    <a:effectLst/>
                    <a:latin typeface="Times New Roman" panose="02020603050405020304" pitchFamily="18" charset="0"/>
                    <a:cs typeface="Times New Roman" panose="02020603050405020304" pitchFamily="18" charset="0"/>
                  </a:endParaRPr>
                </a:p>
                <a:p>
                  <a:pPr marL="0" algn="just" rtl="0" eaLnBrk="1" latinLnBrk="0" hangingPunct="1"/>
                  <a:r>
                    <a:rPr lang="en-US" sz="1700" kern="1200" dirty="0">
                      <a:solidFill>
                        <a:srgbClr val="0D0D0D"/>
                      </a:solidFill>
                      <a:effectLst/>
                      <a:latin typeface="Times New Roman" panose="02020603050405020304" pitchFamily="18" charset="0"/>
                      <a:cs typeface="Times New Roman" panose="02020603050405020304" pitchFamily="18" charset="0"/>
                    </a:rPr>
                    <a:t>From grand challenges are urban congestion, improving the use of arid areas. This two issues can cause a numerous problems; To address this problem we should construct transportation systems as building a bridge.</a:t>
                  </a:r>
                </a:p>
                <a:p>
                  <a:pPr algn="just"/>
                  <a:r>
                    <a:rPr lang="en-US" sz="1700" dirty="0">
                      <a:solidFill>
                        <a:srgbClr val="0D0D0D"/>
                      </a:solidFill>
                      <a:latin typeface="Times New Roman" panose="02020603050405020304" pitchFamily="18" charset="0"/>
                      <a:cs typeface="Times New Roman" panose="02020603050405020304" pitchFamily="18" charset="0"/>
                    </a:rPr>
                    <a:t>The project began by identifying the basic design requirements, such as strength, flexibility, and efficiency. After that, the bridge model was industrial using palm midribs as the main building material and H-bridge to facilitate movement. Tests were shown that included determining the weight-deflection relationship, and the bridge was able to carry </a:t>
                  </a:r>
                  <a:r>
                    <a:rPr lang="en-US" sz="1700" dirty="0">
                      <a:solidFill>
                        <a:srgbClr val="222831"/>
                      </a:solidFill>
                      <a:latin typeface="Times New Roman" panose="02020603050405020304" pitchFamily="18" charset="0"/>
                      <a:cs typeface="Times New Roman" panose="02020603050405020304" pitchFamily="18" charset="0"/>
                    </a:rPr>
                    <a:t>weight of</a:t>
                  </a:r>
                  <a14:m>
                    <m:oMath xmlns:m="http://schemas.openxmlformats.org/officeDocument/2006/math">
                      <m:r>
                        <a:rPr lang="en-US" sz="1700" b="1" i="0" dirty="0" smtClean="0">
                          <a:solidFill>
                            <a:srgbClr val="222831"/>
                          </a:solidFill>
                          <a:latin typeface="Cambria Math" panose="02040503050406030204" pitchFamily="18" charset="0"/>
                          <a:cs typeface="Times New Roman" panose="02020603050405020304" pitchFamily="18" charset="0"/>
                        </a:rPr>
                        <m:t> </m:t>
                      </m:r>
                      <m:r>
                        <a:rPr lang="en-US" sz="1700" b="1" i="1" dirty="0">
                          <a:solidFill>
                            <a:srgbClr val="222831"/>
                          </a:solidFill>
                          <a:latin typeface="Cambria Math" panose="02040503050406030204" pitchFamily="18" charset="0"/>
                          <a:cs typeface="Times New Roman" panose="02020603050405020304" pitchFamily="18" charset="0"/>
                        </a:rPr>
                        <m:t>𝟏𝟎</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a:solidFill>
                            <a:srgbClr val="222831"/>
                          </a:solidFill>
                          <a:latin typeface="Cambria Math" panose="02040503050406030204" pitchFamily="18" charset="0"/>
                          <a:cs typeface="Times New Roman" panose="02020603050405020304" pitchFamily="18" charset="0"/>
                        </a:rPr>
                        <m:t>𝑲𝒈</m:t>
                      </m:r>
                      <m:r>
                        <a:rPr lang="en-US" sz="1700" b="1" i="1" dirty="0">
                          <a:solidFill>
                            <a:srgbClr val="222831"/>
                          </a:solidFill>
                          <a:latin typeface="Cambria Math" panose="02040503050406030204" pitchFamily="18" charset="0"/>
                          <a:cs typeface="Times New Roman" panose="02020603050405020304" pitchFamily="18" charset="0"/>
                        </a:rPr>
                        <m:t> </m:t>
                      </m:r>
                    </m:oMath>
                  </a14:m>
                  <a:r>
                    <a:rPr lang="en-US" sz="1700" dirty="0">
                      <a:solidFill>
                        <a:srgbClr val="0D0D0D"/>
                      </a:solidFill>
                      <a:latin typeface="Times New Roman" panose="02020603050405020304" pitchFamily="18" charset="0"/>
                      <a:cs typeface="Times New Roman" panose="02020603050405020304" pitchFamily="18" charset="0"/>
                    </a:rPr>
                    <a:t>with a deflection </a:t>
                  </a:r>
                  <a14:m>
                    <m:oMath xmlns:m="http://schemas.openxmlformats.org/officeDocument/2006/math">
                      <m:r>
                        <a:rPr lang="en-US" sz="1700" b="1" i="1" dirty="0">
                          <a:solidFill>
                            <a:srgbClr val="222831"/>
                          </a:solidFill>
                          <a:latin typeface="Cambria Math" panose="02040503050406030204" pitchFamily="18" charset="0"/>
                          <a:cs typeface="Times New Roman" panose="02020603050405020304" pitchFamily="18" charset="0"/>
                        </a:rPr>
                        <m:t>𝟎</m:t>
                      </m:r>
                      <m:r>
                        <a:rPr lang="en-US" sz="1700" b="1" i="1" dirty="0">
                          <a:solidFill>
                            <a:srgbClr val="222831"/>
                          </a:solidFill>
                          <a:latin typeface="Cambria Math" panose="02040503050406030204" pitchFamily="18" charset="0"/>
                          <a:cs typeface="Times New Roman" panose="02020603050405020304" pitchFamily="18" charset="0"/>
                        </a:rPr>
                        <m:t>.</m:t>
                      </m:r>
                      <m:r>
                        <a:rPr lang="en-US" sz="1700" b="1" i="1" dirty="0">
                          <a:solidFill>
                            <a:srgbClr val="222831"/>
                          </a:solidFill>
                          <a:latin typeface="Cambria Math" panose="02040503050406030204" pitchFamily="18" charset="0"/>
                          <a:cs typeface="Times New Roman" panose="02020603050405020304" pitchFamily="18" charset="0"/>
                        </a:rPr>
                        <m:t>𝟗</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a:solidFill>
                            <a:srgbClr val="222831"/>
                          </a:solidFill>
                          <a:latin typeface="Cambria Math" panose="02040503050406030204" pitchFamily="18" charset="0"/>
                          <a:cs typeface="Times New Roman" panose="02020603050405020304" pitchFamily="18" charset="0"/>
                        </a:rPr>
                        <m:t>𝒎𝒎</m:t>
                      </m:r>
                    </m:oMath>
                  </a14:m>
                  <a:r>
                    <a:rPr lang="en-US" sz="1700" dirty="0">
                      <a:solidFill>
                        <a:srgbClr val="222831"/>
                      </a:solidFill>
                      <a:latin typeface="Times New Roman" panose="02020603050405020304" pitchFamily="18" charset="0"/>
                      <a:cs typeface="Times New Roman" panose="02020603050405020304" pitchFamily="18" charset="0"/>
                    </a:rPr>
                    <a:t> </a:t>
                  </a:r>
                  <a:r>
                    <a:rPr lang="en-US" sz="1700" dirty="0">
                      <a:solidFill>
                        <a:srgbClr val="0D0D0D"/>
                      </a:solidFill>
                      <a:latin typeface="Times New Roman" panose="02020603050405020304" pitchFamily="18" charset="0"/>
                      <a:cs typeface="Times New Roman" panose="02020603050405020304" pitchFamily="18" charset="0"/>
                    </a:rPr>
                    <a:t>and the maximum weight =</a:t>
                  </a:r>
                  <a:r>
                    <a:rPr lang="en-US" sz="1700" b="1" dirty="0">
                      <a:solidFill>
                        <a:srgbClr val="222831"/>
                      </a:solidFill>
                      <a:latin typeface="Times New Roman" panose="02020603050405020304" pitchFamily="18" charset="0"/>
                      <a:cs typeface="Times New Roman" panose="02020603050405020304" pitchFamily="18" charset="0"/>
                    </a:rPr>
                    <a:t> 67 kg</a:t>
                  </a:r>
                  <a:r>
                    <a:rPr lang="en-US" sz="1700" dirty="0">
                      <a:solidFill>
                        <a:srgbClr val="0D0D0D"/>
                      </a:solidFill>
                      <a:latin typeface="Times New Roman" panose="02020603050405020304" pitchFamily="18" charset="0"/>
                      <a:cs typeface="Times New Roman" panose="02020603050405020304" pitchFamily="18" charset="0"/>
                    </a:rPr>
                    <a:t>. measuring. the bridge's performance from angular velocity during opening and closing, as it opened and closed with constant angular velocity.</a:t>
                  </a:r>
                </a:p>
                <a:p>
                  <a:pPr marL="0" algn="just" rtl="0" eaLnBrk="1" latinLnBrk="0" hangingPunct="1"/>
                  <a:r>
                    <a:rPr lang="en-US" sz="1700" dirty="0">
                      <a:solidFill>
                        <a:srgbClr val="0D0D0D"/>
                      </a:solidFill>
                      <a:latin typeface="Times New Roman" panose="02020603050405020304" pitchFamily="18" charset="0"/>
                      <a:cs typeface="Times New Roman" panose="02020603050405020304" pitchFamily="18" charset="0"/>
                    </a:rPr>
                    <a:t>All these tests proved that palm midribs have the mechanical properties required to bear effective loads and to emphasize strength and flexibility. The H-Bridge system worked efficiently and accurately during movement. This project shows that natural materials like palm fronds can be used in construction to help the environment. The model's success proves that sustainable methods can work for building transportation systems.</a:t>
                  </a:r>
                </a:p>
                <a:p>
                  <a:pPr algn="just"/>
                  <a:endParaRPr lang="en-US" sz="1600" dirty="0">
                    <a:solidFill>
                      <a:srgbClr val="0D0D0D"/>
                    </a:solidFill>
                    <a:latin typeface="Times New Roman" panose="02020603050405020304" pitchFamily="18" charset="0"/>
                    <a:cs typeface="Times New Roman" panose="02020603050405020304" pitchFamily="18" charset="0"/>
                  </a:endParaRPr>
                </a:p>
              </p:txBody>
            </p:sp>
          </mc:Choice>
          <mc:Fallback xmlns="">
            <p:sp>
              <p:nvSpPr>
                <p:cNvPr id="247" name="Rectangle: Rounded Corners 246">
                  <a:extLst>
                    <a:ext uri="{FF2B5EF4-FFF2-40B4-BE49-F238E27FC236}">
                      <a16:creationId xmlns:a16="http://schemas.microsoft.com/office/drawing/2014/main" id="{280C8710-1FB8-971D-C836-D6FBD69DA55D}"/>
                    </a:ext>
                  </a:extLst>
                </p:cNvPr>
                <p:cNvSpPr>
                  <a:spLocks noRot="1" noChangeAspect="1" noMove="1" noResize="1" noEditPoints="1" noAdjustHandles="1" noChangeArrowheads="1" noChangeShapeType="1" noTextEdit="1"/>
                </p:cNvSpPr>
                <p:nvPr/>
              </p:nvSpPr>
              <p:spPr>
                <a:xfrm>
                  <a:off x="275005" y="5378906"/>
                  <a:ext cx="9502478" cy="3686341"/>
                </a:xfrm>
                <a:prstGeom prst="roundRect">
                  <a:avLst>
                    <a:gd name="adj" fmla="val 1603"/>
                  </a:avLst>
                </a:prstGeom>
                <a:blipFill>
                  <a:blip r:embed="rId9"/>
                  <a:stretch>
                    <a:fillRect l="-192" r="-192" b="-7867"/>
                  </a:stretch>
                </a:blipFill>
                <a:ln>
                  <a:noFill/>
                </a:ln>
              </p:spPr>
              <p:txBody>
                <a:bodyPr/>
                <a:lstStyle/>
                <a:p>
                  <a:r>
                    <a:rPr lang="en-US">
                      <a:noFill/>
                    </a:rPr>
                    <a:t> </a:t>
                  </a:r>
                </a:p>
              </p:txBody>
            </p:sp>
          </mc:Fallback>
        </mc:AlternateContent>
        <p:pic>
          <p:nvPicPr>
            <p:cNvPr id="403" name="Picture 402">
              <a:extLst>
                <a:ext uri="{FF2B5EF4-FFF2-40B4-BE49-F238E27FC236}">
                  <a16:creationId xmlns:a16="http://schemas.microsoft.com/office/drawing/2014/main" id="{56D0DFFA-EDCD-A5C5-887F-1A75D120BE79}"/>
                </a:ext>
              </a:extLst>
            </p:cNvPr>
            <p:cNvPicPr>
              <a:picLocks noChangeAspect="1"/>
            </p:cNvPicPr>
            <p:nvPr/>
          </p:nvPicPr>
          <p:blipFill>
            <a:blip r:embed="rId10"/>
            <a:stretch>
              <a:fillRect/>
            </a:stretch>
          </p:blipFill>
          <p:spPr>
            <a:xfrm>
              <a:off x="2927860" y="4586110"/>
              <a:ext cx="736086" cy="649523"/>
            </a:xfrm>
            <a:prstGeom prst="rect">
              <a:avLst/>
            </a:prstGeom>
          </p:spPr>
        </p:pic>
      </p:grpSp>
      <p:grpSp>
        <p:nvGrpSpPr>
          <p:cNvPr id="435" name="Group 434">
            <a:extLst>
              <a:ext uri="{FF2B5EF4-FFF2-40B4-BE49-F238E27FC236}">
                <a16:creationId xmlns:a16="http://schemas.microsoft.com/office/drawing/2014/main" id="{FA3F966D-4F54-D825-D2BA-293051BDBF69}"/>
              </a:ext>
            </a:extLst>
          </p:cNvPr>
          <p:cNvGrpSpPr/>
          <p:nvPr/>
        </p:nvGrpSpPr>
        <p:grpSpPr>
          <a:xfrm>
            <a:off x="274511" y="9637418"/>
            <a:ext cx="9535727" cy="14199728"/>
            <a:chOff x="256855" y="10103495"/>
            <a:chExt cx="9535727" cy="13922790"/>
          </a:xfrm>
          <a:noFill/>
        </p:grpSpPr>
        <p:grpSp>
          <p:nvGrpSpPr>
            <p:cNvPr id="420" name="Group 419">
              <a:extLst>
                <a:ext uri="{FF2B5EF4-FFF2-40B4-BE49-F238E27FC236}">
                  <a16:creationId xmlns:a16="http://schemas.microsoft.com/office/drawing/2014/main" id="{B8FAF1C9-AABA-5C34-E1E6-F2D7266EB58F}"/>
                </a:ext>
              </a:extLst>
            </p:cNvPr>
            <p:cNvGrpSpPr/>
            <p:nvPr/>
          </p:nvGrpSpPr>
          <p:grpSpPr>
            <a:xfrm>
              <a:off x="256855" y="10103495"/>
              <a:ext cx="9535727" cy="13922790"/>
              <a:chOff x="256855" y="4236335"/>
              <a:chExt cx="9535727" cy="13922790"/>
            </a:xfrm>
            <a:grpFill/>
          </p:grpSpPr>
          <mc:AlternateContent xmlns:mc="http://schemas.openxmlformats.org/markup-compatibility/2006" xmlns:a14="http://schemas.microsoft.com/office/drawing/2010/main">
            <mc:Choice Requires="a14">
              <p:sp>
                <p:nvSpPr>
                  <p:cNvPr id="421" name="Rectangle: Rounded Corners 420">
                    <a:extLst>
                      <a:ext uri="{FF2B5EF4-FFF2-40B4-BE49-F238E27FC236}">
                        <a16:creationId xmlns:a16="http://schemas.microsoft.com/office/drawing/2014/main" id="{423BBEC5-5138-2A8E-139D-7C9D4BD58164}"/>
                      </a:ext>
                    </a:extLst>
                  </p:cNvPr>
                  <p:cNvSpPr/>
                  <p:nvPr/>
                </p:nvSpPr>
                <p:spPr>
                  <a:xfrm>
                    <a:off x="275005" y="5306854"/>
                    <a:ext cx="9502478" cy="12852271"/>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700" dirty="0">
                        <a:solidFill>
                          <a:srgbClr val="222831"/>
                        </a:solidFill>
                        <a:latin typeface="Times New Roman" panose="02020603050405020304" pitchFamily="18" charset="0"/>
                        <a:cs typeface="Times New Roman" panose="02020603050405020304" pitchFamily="18" charset="0"/>
                      </a:rPr>
                      <a:t>	Nowadays, Egypt faces vital obstacles; they are known as the Egypt Grand Challenges. These grand challenges are pressing problems that demand addressing. One of the affecting grand challenges is urban</a:t>
                    </a:r>
                    <a:r>
                      <a:rPr lang="en-US" sz="1700" b="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congestion, which mainly occurs due to heavy traffic, overcrowded areas, and limited infrastructure. People in Egypt find this a troubling problem that ought to be addressed, as pedestrians find few areas to cross the street and vehicle drivers encounter awful sharp, narrow U-turns. An annual fuel consumption (1997-2006) in thousand metric tons for five fuels: Gasoline, Benzene, Mazot, Plane fuel, Oil stearin the data shown in </a:t>
                    </a:r>
                    <a:r>
                      <a:rPr lang="en-US" sz="1700" b="1" dirty="0">
                        <a:solidFill>
                          <a:srgbClr val="222831"/>
                        </a:solidFill>
                        <a:latin typeface="Times New Roman" panose="02020603050405020304" pitchFamily="18" charset="0"/>
                        <a:cs typeface="Times New Roman" panose="02020603050405020304" pitchFamily="18" charset="0"/>
                      </a:rPr>
                      <a:t>fig. (1)</a:t>
                    </a:r>
                    <a:r>
                      <a:rPr lang="en-US" sz="1700" dirty="0">
                        <a:solidFill>
                          <a:srgbClr val="222831"/>
                        </a:solidFill>
                        <a:latin typeface="Times New Roman" panose="02020603050405020304" pitchFamily="18" charset="0"/>
                        <a:cs typeface="Times New Roman" panose="02020603050405020304" pitchFamily="18" charset="0"/>
                      </a:rPr>
                      <a:t> reflects high gasoline consumption, increased emissions, infrastructure strain.</a:t>
                    </a:r>
                  </a:p>
                  <a:p>
                    <a:pPr algn="just"/>
                    <a:r>
                      <a:rPr lang="en-US" sz="1700" dirty="0">
                        <a:solidFill>
                          <a:srgbClr val="222831"/>
                        </a:solidFill>
                        <a:latin typeface="Times New Roman" panose="02020603050405020304" pitchFamily="18" charset="0"/>
                        <a:cs typeface="Times New Roman" panose="02020603050405020304" pitchFamily="18" charset="0"/>
                      </a:rPr>
                      <a:t>Arid</a:t>
                    </a:r>
                    <a:r>
                      <a:rPr lang="en-US" sz="1700" b="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areas</a:t>
                    </a:r>
                    <a:r>
                      <a:rPr lang="en-US" sz="1700" b="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cover great areas in Egypt, about 1,000,000 km²,</a:t>
                    </a:r>
                  </a:p>
                  <a:p>
                    <a:pPr algn="just"/>
                    <a:r>
                      <a:rPr lang="en-US" sz="1700" dirty="0">
                        <a:solidFill>
                          <a:srgbClr val="222831"/>
                        </a:solidFill>
                        <a:latin typeface="Times New Roman" panose="02020603050405020304" pitchFamily="18" charset="0"/>
                        <a:cs typeface="Times New Roman" panose="02020603050405020304" pitchFamily="18" charset="0"/>
                      </a:rPr>
                      <a:t>of which only 4% is occupied by its population. 99% are</a:t>
                    </a:r>
                  </a:p>
                  <a:p>
                    <a:pPr algn="just"/>
                    <a:r>
                      <a:rPr lang="en-US" sz="1700" dirty="0">
                        <a:solidFill>
                          <a:srgbClr val="222831"/>
                        </a:solidFill>
                        <a:latin typeface="Times New Roman" panose="02020603050405020304" pitchFamily="18" charset="0"/>
                        <a:cs typeface="Times New Roman" panose="02020603050405020304" pitchFamily="18" charset="0"/>
                      </a:rPr>
                      <a:t>concentrated in the Nile Valley and Delta. This emphasizes</a:t>
                    </a:r>
                  </a:p>
                  <a:p>
                    <a:pPr algn="just"/>
                    <a:r>
                      <a:rPr lang="en-US" sz="1700" dirty="0">
                        <a:solidFill>
                          <a:srgbClr val="222831"/>
                        </a:solidFill>
                        <a:latin typeface="Times New Roman" panose="02020603050405020304" pitchFamily="18" charset="0"/>
                        <a:cs typeface="Times New Roman" panose="02020603050405020304" pitchFamily="18" charset="0"/>
                      </a:rPr>
                      <a:t>the extent of arid areas in Egypt. </a:t>
                    </a:r>
                  </a:p>
                  <a:p>
                    <a:pPr algn="just"/>
                    <a:r>
                      <a:rPr lang="en-US" sz="1700" dirty="0">
                        <a:solidFill>
                          <a:srgbClr val="222831"/>
                        </a:solidFill>
                        <a:latin typeface="Times New Roman" panose="02020603050405020304" pitchFamily="18" charset="0"/>
                        <a:cs typeface="Times New Roman" panose="02020603050405020304" pitchFamily="18" charset="0"/>
                      </a:rPr>
                      <a:t>	An easy approach to address the problem of the</a:t>
                    </a:r>
                  </a:p>
                  <a:p>
                    <a:pPr algn="just"/>
                    <a:r>
                      <a:rPr lang="en-US" sz="1700" dirty="0">
                        <a:solidFill>
                          <a:srgbClr val="222831"/>
                        </a:solidFill>
                        <a:latin typeface="Times New Roman" panose="02020603050405020304" pitchFamily="18" charset="0"/>
                        <a:cs typeface="Times New Roman" panose="02020603050405020304" pitchFamily="18" charset="0"/>
                      </a:rPr>
                      <a:t>Egypt Grand Challenges is constructing a bridge.</a:t>
                    </a:r>
                  </a:p>
                  <a:p>
                    <a:pPr algn="just"/>
                    <a:r>
                      <a:rPr lang="en-US" sz="1700" dirty="0">
                        <a:solidFill>
                          <a:srgbClr val="222831"/>
                        </a:solidFill>
                        <a:latin typeface="Times New Roman" panose="02020603050405020304" pitchFamily="18" charset="0"/>
                        <a:cs typeface="Times New Roman" panose="02020603050405020304" pitchFamily="18" charset="0"/>
                      </a:rPr>
                      <a:t>Bridges can help in addressing the previous challenges </a:t>
                    </a:r>
                  </a:p>
                  <a:p>
                    <a:pPr algn="just"/>
                    <a:r>
                      <a:rPr lang="en-US" sz="1700" dirty="0">
                        <a:solidFill>
                          <a:srgbClr val="222831"/>
                        </a:solidFill>
                        <a:latin typeface="Times New Roman" panose="02020603050405020304" pitchFamily="18" charset="0"/>
                        <a:cs typeface="Times New Roman" panose="02020603050405020304" pitchFamily="18" charset="0"/>
                      </a:rPr>
                      <a:t>in an efficient way. One of the most famous bascule</a:t>
                    </a:r>
                  </a:p>
                  <a:p>
                    <a:pPr algn="just"/>
                    <a:r>
                      <a:rPr lang="en-US" sz="1700" dirty="0">
                        <a:solidFill>
                          <a:srgbClr val="222831"/>
                        </a:solidFill>
                        <a:latin typeface="Times New Roman" panose="02020603050405020304" pitchFamily="18" charset="0"/>
                        <a:cs typeface="Times New Roman" panose="02020603050405020304" pitchFamily="18" charset="0"/>
                      </a:rPr>
                      <a:t>and suspension bridges in London is Tower Bridge. It</a:t>
                    </a:r>
                  </a:p>
                  <a:p>
                    <a:pPr algn="just"/>
                    <a:r>
                      <a:rPr lang="en-US" sz="1700" dirty="0">
                        <a:solidFill>
                          <a:srgbClr val="222831"/>
                        </a:solidFill>
                        <a:latin typeface="Times New Roman" panose="02020603050405020304" pitchFamily="18" charset="0"/>
                        <a:cs typeface="Times New Roman" panose="02020603050405020304" pitchFamily="18" charset="0"/>
                      </a:rPr>
                      <a:t>was completed in 1894. Spanning across the River Thames,</a:t>
                    </a:r>
                  </a:p>
                  <a:p>
                    <a:pPr algn="just"/>
                    <a:r>
                      <a:rPr lang="en-US" sz="1700" dirty="0">
                        <a:solidFill>
                          <a:srgbClr val="222831"/>
                        </a:solidFill>
                        <a:latin typeface="Times New Roman" panose="02020603050405020304" pitchFamily="18" charset="0"/>
                        <a:cs typeface="Times New Roman" panose="02020603050405020304" pitchFamily="18" charset="0"/>
                      </a:rPr>
                      <a:t>Tower Bridge is also an iconic bridge as it maintains a lot of positive aspects, such as the combination of bascule and suspension, durability and strength, efficient use of space, and establishing a connection between landmarks. These strengths maximize the bridge's functionality. However, Tower Bridge suffers a lot due to some drawbacks that shrink its performance, such as flooding risks and the complexity of the mechanism of moving. Another example of astonishing bridges is the Van Buren Street Bridge. It is a historic bascule lift bridge. It is located in Chicago, crossing the Chicago River. It was built in 1913. Some of its key strengths are the use of a hydraulic system and counterweights,</a:t>
                    </a:r>
                  </a:p>
                  <a:p>
                    <a:pPr algn="just"/>
                    <a:r>
                      <a:rPr lang="en-US" sz="1700" dirty="0">
                        <a:solidFill>
                          <a:srgbClr val="222831"/>
                        </a:solidFill>
                        <a:latin typeface="Times New Roman" panose="02020603050405020304" pitchFamily="18" charset="0"/>
                        <a:cs typeface="Times New Roman" panose="02020603050405020304" pitchFamily="18" charset="0"/>
                      </a:rPr>
                      <a:t>making it a simple bridge with low requirements. On the other hand,</a:t>
                    </a:r>
                  </a:p>
                  <a:p>
                    <a:pPr algn="just"/>
                    <a:r>
                      <a:rPr lang="en-US" sz="1700" dirty="0">
                        <a:solidFill>
                          <a:srgbClr val="222831"/>
                        </a:solidFill>
                        <a:latin typeface="Times New Roman" panose="02020603050405020304" pitchFamily="18" charset="0"/>
                        <a:cs typeface="Times New Roman" panose="02020603050405020304" pitchFamily="18" charset="0"/>
                      </a:rPr>
                      <a:t>the Van Buren Street Bridge that is shown in </a:t>
                    </a:r>
                    <a:r>
                      <a:rPr lang="en-US" sz="1700" b="1" dirty="0">
                        <a:solidFill>
                          <a:srgbClr val="222831"/>
                        </a:solidFill>
                        <a:latin typeface="Times New Roman" panose="02020603050405020304" pitchFamily="18" charset="0"/>
                        <a:cs typeface="Times New Roman" panose="02020603050405020304" pitchFamily="18" charset="0"/>
                      </a:rPr>
                      <a:t>fig. (2) </a:t>
                    </a:r>
                    <a:r>
                      <a:rPr lang="en-US" sz="1700" dirty="0">
                        <a:solidFill>
                          <a:srgbClr val="222831"/>
                        </a:solidFill>
                        <a:latin typeface="Times New Roman" panose="02020603050405020304" pitchFamily="18" charset="0"/>
                        <a:cs typeface="Times New Roman" panose="02020603050405020304" pitchFamily="18" charset="0"/>
                      </a:rPr>
                      <a:t>has some issues like</a:t>
                    </a:r>
                  </a:p>
                  <a:p>
                    <a:pPr algn="just"/>
                    <a:r>
                      <a:rPr lang="en-US" sz="1700" dirty="0">
                        <a:solidFill>
                          <a:srgbClr val="222831"/>
                        </a:solidFill>
                        <a:latin typeface="Times New Roman" panose="02020603050405020304" pitchFamily="18" charset="0"/>
                        <a:cs typeface="Times New Roman" panose="02020603050405020304" pitchFamily="18" charset="0"/>
                      </a:rPr>
                      <a:t>vulnerability to earthquakes, tough pedestrian accessibility, and traffic </a:t>
                    </a:r>
                  </a:p>
                  <a:p>
                    <a:pPr algn="just"/>
                    <a:r>
                      <a:rPr lang="en-US" sz="1700" dirty="0">
                        <a:solidFill>
                          <a:srgbClr val="222831"/>
                        </a:solidFill>
                        <a:latin typeface="Times New Roman" panose="02020603050405020304" pitchFamily="18" charset="0"/>
                        <a:cs typeface="Times New Roman" panose="02020603050405020304" pitchFamily="18" charset="0"/>
                      </a:rPr>
                      <a:t>delays. These Drawbacks mentioned in the previous prior solution can be</a:t>
                    </a:r>
                  </a:p>
                  <a:p>
                    <a:pPr algn="just"/>
                    <a:r>
                      <a:rPr lang="en-US" sz="1700" dirty="0">
                        <a:solidFill>
                          <a:srgbClr val="222831"/>
                        </a:solidFill>
                        <a:latin typeface="Times New Roman" panose="02020603050405020304" pitchFamily="18" charset="0"/>
                        <a:cs typeface="Times New Roman" panose="02020603050405020304" pitchFamily="18" charset="0"/>
                      </a:rPr>
                      <a:t>tackled by several uncomplicated mechanical systems, keeping adequate</a:t>
                    </a:r>
                  </a:p>
                  <a:p>
                    <a:pPr algn="just"/>
                    <a:r>
                      <a:rPr lang="en-US" sz="1700" dirty="0">
                        <a:solidFill>
                          <a:srgbClr val="222831"/>
                        </a:solidFill>
                        <a:latin typeface="Times New Roman" panose="02020603050405020304" pitchFamily="18" charset="0"/>
                        <a:cs typeface="Times New Roman" panose="02020603050405020304" pitchFamily="18" charset="0"/>
                      </a:rPr>
                      <a:t>distance between the bridge and water surface, applying an alternative </a:t>
                    </a:r>
                  </a:p>
                  <a:p>
                    <a:pPr algn="just"/>
                    <a:r>
                      <a:rPr lang="en-US" sz="1700" dirty="0">
                        <a:solidFill>
                          <a:srgbClr val="222831"/>
                        </a:solidFill>
                        <a:latin typeface="Times New Roman" panose="02020603050405020304" pitchFamily="18" charset="0"/>
                        <a:cs typeface="Times New Roman" panose="02020603050405020304" pitchFamily="18" charset="0"/>
                      </a:rPr>
                      <a:t>building material, applying a mechanical advantage system, and </a:t>
                    </a:r>
                  </a:p>
                  <a:p>
                    <a:pPr algn="just"/>
                    <a:r>
                      <a:rPr lang="en-US" sz="1700" dirty="0">
                        <a:solidFill>
                          <a:srgbClr val="222831"/>
                        </a:solidFill>
                        <a:latin typeface="Times New Roman" panose="02020603050405020304" pitchFamily="18" charset="0"/>
                        <a:cs typeface="Times New Roman" panose="02020603050405020304" pitchFamily="18" charset="0"/>
                      </a:rPr>
                      <a:t>well-structured lanes allowing efficient traffic movement.</a:t>
                    </a:r>
                  </a:p>
                  <a:p>
                    <a:pPr algn="just"/>
                    <a:r>
                      <a:rPr lang="en-US" sz="1700" dirty="0">
                        <a:solidFill>
                          <a:srgbClr val="222831"/>
                        </a:solidFill>
                        <a:latin typeface="Times New Roman" panose="02020603050405020304" pitchFamily="18" charset="0"/>
                        <a:cs typeface="Times New Roman" panose="02020603050405020304" pitchFamily="18" charset="0"/>
                      </a:rPr>
                      <a:t>	The proposed bridge design we recommend is a single-leaf bascule bridge. This type of bridge has only one moving section, which is relatively like a seesaw; two stationary sections and one movable are included in the suggested bridge design. Two pillars are connected to the bridge, and a guide pulley is mounted inside the pillars to act as a track for the cable. The mechanical system of the bridge relies on electric motors; these motors are accurately controlled by an Arduino microcontroller board, which operates them through an H-bridge. The bridge also includes mechanisms that provide mechanical advantage. This mechanical advantage is mainly constructed by pulleys, drums, and cables. This mechanical advantage can reduce and change the force needed to lift the deck and increase the torque. The bridge mainly has design requirements of having a great span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𝟗𝟓</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𝟏</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r>
                          <a:rPr lang="en-US" sz="1700" b="1"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in length, and the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𝟐𝟖</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r>
                          <a:rPr lang="en-US" sz="1700" b="1"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span of the bridge provides clearance for the marine traffic to navigate through. It also has a weight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𝟑𝟎𝟎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𝒈</m:t>
                        </m:r>
                      </m:oMath>
                    </a14:m>
                    <a:r>
                      <a:rPr lang="en-US" sz="1700" dirty="0">
                        <a:solidFill>
                          <a:srgbClr val="222831"/>
                        </a:solidFill>
                        <a:latin typeface="Times New Roman" panose="02020603050405020304" pitchFamily="18" charset="0"/>
                        <a:cs typeface="Times New Roman" panose="02020603050405020304" pitchFamily="18" charset="0"/>
                      </a:rPr>
                      <a:t>. It has a capacity to carry a weight of up to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𝒌𝒈</m:t>
                        </m:r>
                      </m:oMath>
                    </a14:m>
                    <a:r>
                      <a:rPr lang="en-US" sz="1700" dirty="0">
                        <a:solidFill>
                          <a:srgbClr val="222831"/>
                        </a:solidFill>
                        <a:latin typeface="Times New Roman" panose="02020603050405020304" pitchFamily="18" charset="0"/>
                        <a:cs typeface="Times New Roman" panose="02020603050405020304" pitchFamily="18" charset="0"/>
                      </a:rPr>
                      <a:t>. This draws attention to its durability and unwavering stability. Additionally, it features two lanes specified for the vehicle's width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𝟕</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r>
                          <a:rPr lang="en-US" sz="1700" b="1"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for one and the other two lanes for the pedestrian's width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𝟑</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oMath>
                    </a14:m>
                    <a:r>
                      <a:rPr lang="en-US" sz="1700" dirty="0">
                        <a:solidFill>
                          <a:srgbClr val="222831"/>
                        </a:solidFill>
                        <a:latin typeface="Times New Roman" panose="02020603050405020304" pitchFamily="18" charset="0"/>
                        <a:cs typeface="Times New Roman" panose="02020603050405020304" pitchFamily="18" charset="0"/>
                      </a:rPr>
                      <a:t>, with a separating island in the center with a width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𝟐</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𝟑</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oMath>
                    </a14:m>
                    <a:r>
                      <a:rPr lang="en-US" sz="1700" dirty="0">
                        <a:solidFill>
                          <a:srgbClr val="222831"/>
                        </a:solidFill>
                        <a:latin typeface="Times New Roman" panose="02020603050405020304" pitchFamily="18" charset="0"/>
                        <a:cs typeface="Times New Roman" panose="02020603050405020304" pitchFamily="18" charset="0"/>
                      </a:rPr>
                      <a:t>.</a:t>
                    </a:r>
                  </a:p>
                  <a:p>
                    <a:pPr algn="just"/>
                    <a:r>
                      <a:rPr lang="en-US" sz="1700" dirty="0">
                        <a:solidFill>
                          <a:srgbClr val="222831"/>
                        </a:solidFill>
                        <a:latin typeface="Times New Roman" panose="02020603050405020304" pitchFamily="18" charset="0"/>
                        <a:cs typeface="Times New Roman" panose="02020603050405020304" pitchFamily="18" charset="0"/>
                      </a:rPr>
                      <a:t>	This solution meets the specified requirements by ensuring structural integrity and offering the desired outcome. Our bridge can improve traffic flow and cut down travel duration, establishing a direct route for commuters, guaranteeing the safe transmission of ships, helping in addressing arid areas by improving access to water resources in these areas, and promoting urban expansion.</a:t>
                    </a:r>
                  </a:p>
                </p:txBody>
              </p:sp>
            </mc:Choice>
            <mc:Fallback xmlns="">
              <p:sp>
                <p:nvSpPr>
                  <p:cNvPr id="421" name="Rectangle: Rounded Corners 420">
                    <a:extLst>
                      <a:ext uri="{FF2B5EF4-FFF2-40B4-BE49-F238E27FC236}">
                        <a16:creationId xmlns:a16="http://schemas.microsoft.com/office/drawing/2014/main" id="{423BBEC5-5138-2A8E-139D-7C9D4BD58164}"/>
                      </a:ext>
                    </a:extLst>
                  </p:cNvPr>
                  <p:cNvSpPr>
                    <a:spLocks noRot="1" noChangeAspect="1" noMove="1" noResize="1" noEditPoints="1" noAdjustHandles="1" noChangeArrowheads="1" noChangeShapeType="1" noTextEdit="1"/>
                  </p:cNvSpPr>
                  <p:nvPr/>
                </p:nvSpPr>
                <p:spPr>
                  <a:xfrm>
                    <a:off x="275005" y="5306854"/>
                    <a:ext cx="9502478" cy="12852271"/>
                  </a:xfrm>
                  <a:prstGeom prst="roundRect">
                    <a:avLst>
                      <a:gd name="adj" fmla="val 1603"/>
                    </a:avLst>
                  </a:prstGeom>
                  <a:blipFill>
                    <a:blip r:embed="rId11"/>
                    <a:stretch>
                      <a:fillRect b="-558"/>
                    </a:stretch>
                  </a:blipFill>
                  <a:ln>
                    <a:noFill/>
                  </a:ln>
                </p:spPr>
                <p:txBody>
                  <a:bodyPr/>
                  <a:lstStyle/>
                  <a:p>
                    <a:r>
                      <a:rPr lang="en-US">
                        <a:noFill/>
                      </a:rPr>
                      <a:t> </a:t>
                    </a:r>
                  </a:p>
                </p:txBody>
              </p:sp>
            </mc:Fallback>
          </mc:AlternateContent>
          <p:grpSp>
            <p:nvGrpSpPr>
              <p:cNvPr id="422" name="Group 421">
                <a:extLst>
                  <a:ext uri="{FF2B5EF4-FFF2-40B4-BE49-F238E27FC236}">
                    <a16:creationId xmlns:a16="http://schemas.microsoft.com/office/drawing/2014/main" id="{5B54E0CF-AAF7-FE43-302D-56C12A62F6D9}"/>
                  </a:ext>
                </a:extLst>
              </p:cNvPr>
              <p:cNvGrpSpPr/>
              <p:nvPr/>
            </p:nvGrpSpPr>
            <p:grpSpPr>
              <a:xfrm>
                <a:off x="256855" y="4236335"/>
                <a:ext cx="9535727" cy="1038904"/>
                <a:chOff x="242851" y="4396904"/>
                <a:chExt cx="9535727" cy="1038904"/>
              </a:xfrm>
              <a:grpFill/>
            </p:grpSpPr>
            <p:sp>
              <p:nvSpPr>
                <p:cNvPr id="423" name="Rectangle: Rounded Corners 422">
                  <a:extLst>
                    <a:ext uri="{FF2B5EF4-FFF2-40B4-BE49-F238E27FC236}">
                      <a16:creationId xmlns:a16="http://schemas.microsoft.com/office/drawing/2014/main" id="{7B918B13-5213-FDEA-94E9-6AE49DD99E1D}"/>
                    </a:ext>
                  </a:extLst>
                </p:cNvPr>
                <p:cNvSpPr/>
                <p:nvPr/>
              </p:nvSpPr>
              <p:spPr>
                <a:xfrm>
                  <a:off x="242851" y="4396905"/>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Introduction</a:t>
                  </a:r>
                </a:p>
              </p:txBody>
            </p:sp>
            <p:pic>
              <p:nvPicPr>
                <p:cNvPr id="424" name="Picture 423">
                  <a:extLst>
                    <a:ext uri="{FF2B5EF4-FFF2-40B4-BE49-F238E27FC236}">
                      <a16:creationId xmlns:a16="http://schemas.microsoft.com/office/drawing/2014/main" id="{7D4BAA60-AF71-1972-17B9-4AC7404B3BD9}"/>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a:grpFill/>
              </p:spPr>
            </p:pic>
            <p:pic>
              <p:nvPicPr>
                <p:cNvPr id="425" name="Picture 424">
                  <a:extLst>
                    <a:ext uri="{FF2B5EF4-FFF2-40B4-BE49-F238E27FC236}">
                      <a16:creationId xmlns:a16="http://schemas.microsoft.com/office/drawing/2014/main" id="{BADE6B66-6C35-9230-2180-7349B7039887}"/>
                    </a:ext>
                  </a:extLst>
                </p:cNvPr>
                <p:cNvPicPr>
                  <a:picLocks noChangeAspect="1"/>
                </p:cNvPicPr>
                <p:nvPr/>
              </p:nvPicPr>
              <p:blipFill>
                <a:blip r:embed="rId3">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a:grpFill/>
              </p:spPr>
            </p:pic>
          </p:grpSp>
        </p:grpSp>
        <p:pic>
          <p:nvPicPr>
            <p:cNvPr id="428" name="Picture 427">
              <a:extLst>
                <a:ext uri="{FF2B5EF4-FFF2-40B4-BE49-F238E27FC236}">
                  <a16:creationId xmlns:a16="http://schemas.microsoft.com/office/drawing/2014/main" id="{168F1749-FA6F-4916-662C-0A8352DB0966}"/>
                </a:ext>
              </a:extLst>
            </p:cNvPr>
            <p:cNvPicPr>
              <a:picLocks noChangeAspect="1"/>
            </p:cNvPicPr>
            <p:nvPr/>
          </p:nvPicPr>
          <p:blipFill>
            <a:blip r:embed="rId12"/>
            <a:stretch>
              <a:fillRect/>
            </a:stretch>
          </p:blipFill>
          <p:spPr>
            <a:xfrm>
              <a:off x="2132982" y="10133048"/>
              <a:ext cx="990645" cy="990645"/>
            </a:xfrm>
            <a:prstGeom prst="rect">
              <a:avLst/>
            </a:prstGeom>
            <a:grpFill/>
          </p:spPr>
        </p:pic>
      </p:grpSp>
      <p:grpSp>
        <p:nvGrpSpPr>
          <p:cNvPr id="37" name="Group 36">
            <a:extLst>
              <a:ext uri="{FF2B5EF4-FFF2-40B4-BE49-F238E27FC236}">
                <a16:creationId xmlns:a16="http://schemas.microsoft.com/office/drawing/2014/main" id="{637CD800-0392-9A81-D5C6-021C49753BDE}"/>
              </a:ext>
            </a:extLst>
          </p:cNvPr>
          <p:cNvGrpSpPr/>
          <p:nvPr/>
        </p:nvGrpSpPr>
        <p:grpSpPr>
          <a:xfrm>
            <a:off x="258607" y="23837146"/>
            <a:ext cx="9535727" cy="1230951"/>
            <a:chOff x="256855" y="20070583"/>
            <a:chExt cx="9535727" cy="1230951"/>
          </a:xfrm>
        </p:grpSpPr>
        <p:grpSp>
          <p:nvGrpSpPr>
            <p:cNvPr id="440" name="Group 439">
              <a:extLst>
                <a:ext uri="{FF2B5EF4-FFF2-40B4-BE49-F238E27FC236}">
                  <a16:creationId xmlns:a16="http://schemas.microsoft.com/office/drawing/2014/main" id="{C0FE52A5-773B-B81E-2FF5-98799C343DCB}"/>
                </a:ext>
              </a:extLst>
            </p:cNvPr>
            <p:cNvGrpSpPr/>
            <p:nvPr/>
          </p:nvGrpSpPr>
          <p:grpSpPr>
            <a:xfrm>
              <a:off x="256855" y="20158418"/>
              <a:ext cx="9535727" cy="1045876"/>
              <a:chOff x="242851" y="4473820"/>
              <a:chExt cx="9535727" cy="1045876"/>
            </a:xfrm>
          </p:grpSpPr>
          <p:sp>
            <p:nvSpPr>
              <p:cNvPr id="441" name="Rectangle: Rounded Corners 440">
                <a:extLst>
                  <a:ext uri="{FF2B5EF4-FFF2-40B4-BE49-F238E27FC236}">
                    <a16:creationId xmlns:a16="http://schemas.microsoft.com/office/drawing/2014/main" id="{A0603156-E74F-EF99-64AD-23E16133C575}"/>
                  </a:ext>
                </a:extLst>
              </p:cNvPr>
              <p:cNvSpPr/>
              <p:nvPr/>
            </p:nvSpPr>
            <p:spPr>
              <a:xfrm>
                <a:off x="242851" y="4473820"/>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Materials</a:t>
                </a:r>
              </a:p>
            </p:txBody>
          </p:sp>
          <p:pic>
            <p:nvPicPr>
              <p:cNvPr id="442" name="Picture 441">
                <a:extLst>
                  <a:ext uri="{FF2B5EF4-FFF2-40B4-BE49-F238E27FC236}">
                    <a16:creationId xmlns:a16="http://schemas.microsoft.com/office/drawing/2014/main" id="{1AA3A915-A2C5-E629-E5D9-98476D28B993}"/>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58397" y="4483226"/>
                <a:ext cx="1118594" cy="1036470"/>
              </a:xfrm>
              <a:prstGeom prst="rect">
                <a:avLst/>
              </a:prstGeom>
            </p:spPr>
          </p:pic>
          <p:pic>
            <p:nvPicPr>
              <p:cNvPr id="443" name="Picture 442">
                <a:extLst>
                  <a:ext uri="{FF2B5EF4-FFF2-40B4-BE49-F238E27FC236}">
                    <a16:creationId xmlns:a16="http://schemas.microsoft.com/office/drawing/2014/main" id="{066F90EA-EF24-8B10-BB25-CE9C74119A0C}"/>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7419" y="4473820"/>
                <a:ext cx="1118594" cy="1036470"/>
              </a:xfrm>
              <a:prstGeom prst="rect">
                <a:avLst/>
              </a:prstGeom>
            </p:spPr>
          </p:pic>
        </p:grpSp>
        <p:pic>
          <p:nvPicPr>
            <p:cNvPr id="445" name="Picture 444">
              <a:extLst>
                <a:ext uri="{FF2B5EF4-FFF2-40B4-BE49-F238E27FC236}">
                  <a16:creationId xmlns:a16="http://schemas.microsoft.com/office/drawing/2014/main" id="{AF2F9A8B-D472-6E6F-C6BB-9D66D0BA77F4}"/>
                </a:ext>
              </a:extLst>
            </p:cNvPr>
            <p:cNvPicPr>
              <a:picLocks noChangeAspect="1"/>
            </p:cNvPicPr>
            <p:nvPr/>
          </p:nvPicPr>
          <p:blipFill>
            <a:blip r:embed="rId13"/>
            <a:stretch>
              <a:fillRect/>
            </a:stretch>
          </p:blipFill>
          <p:spPr>
            <a:xfrm>
              <a:off x="2297626" y="20070583"/>
              <a:ext cx="1230951" cy="1230951"/>
            </a:xfrm>
            <a:prstGeom prst="rect">
              <a:avLst/>
            </a:prstGeom>
          </p:spPr>
        </p:pic>
      </p:grpSp>
      <p:grpSp>
        <p:nvGrpSpPr>
          <p:cNvPr id="29" name="Group 28">
            <a:extLst>
              <a:ext uri="{FF2B5EF4-FFF2-40B4-BE49-F238E27FC236}">
                <a16:creationId xmlns:a16="http://schemas.microsoft.com/office/drawing/2014/main" id="{24B4C6B1-C6EC-BBBB-227A-802F08B33E67}"/>
              </a:ext>
            </a:extLst>
          </p:cNvPr>
          <p:cNvGrpSpPr/>
          <p:nvPr/>
        </p:nvGrpSpPr>
        <p:grpSpPr>
          <a:xfrm>
            <a:off x="10096441" y="11035401"/>
            <a:ext cx="9535727" cy="1137172"/>
            <a:chOff x="10075255" y="4162132"/>
            <a:chExt cx="9535727" cy="1137172"/>
          </a:xfrm>
        </p:grpSpPr>
        <p:grpSp>
          <p:nvGrpSpPr>
            <p:cNvPr id="404" name="Group 403">
              <a:extLst>
                <a:ext uri="{FF2B5EF4-FFF2-40B4-BE49-F238E27FC236}">
                  <a16:creationId xmlns:a16="http://schemas.microsoft.com/office/drawing/2014/main" id="{0BD4FC53-0C2F-92D5-97C3-AD8DF4EBDF39}"/>
                </a:ext>
              </a:extLst>
            </p:cNvPr>
            <p:cNvGrpSpPr/>
            <p:nvPr/>
          </p:nvGrpSpPr>
          <p:grpSpPr>
            <a:xfrm>
              <a:off x="10075255" y="4241280"/>
              <a:ext cx="9535727" cy="1056158"/>
              <a:chOff x="242851" y="4396904"/>
              <a:chExt cx="9535727" cy="1038903"/>
            </a:xfrm>
            <a:noFill/>
          </p:grpSpPr>
          <p:sp>
            <p:nvSpPr>
              <p:cNvPr id="405" name="Rectangle: Rounded Corners 404">
                <a:extLst>
                  <a:ext uri="{FF2B5EF4-FFF2-40B4-BE49-F238E27FC236}">
                    <a16:creationId xmlns:a16="http://schemas.microsoft.com/office/drawing/2014/main" id="{76E6040C-8497-42CE-D8C8-04184D22E0B1}"/>
                  </a:ext>
                </a:extLst>
              </p:cNvPr>
              <p:cNvSpPr/>
              <p:nvPr/>
            </p:nvSpPr>
            <p:spPr>
              <a:xfrm>
                <a:off x="242851" y="4396904"/>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Methods</a:t>
                </a:r>
              </a:p>
            </p:txBody>
          </p:sp>
          <p:pic>
            <p:nvPicPr>
              <p:cNvPr id="406" name="Picture 405">
                <a:extLst>
                  <a:ext uri="{FF2B5EF4-FFF2-40B4-BE49-F238E27FC236}">
                    <a16:creationId xmlns:a16="http://schemas.microsoft.com/office/drawing/2014/main" id="{292F509E-F50E-14FA-613B-14ECF48C112A}"/>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a:grpFill/>
            </p:spPr>
          </p:pic>
          <p:pic>
            <p:nvPicPr>
              <p:cNvPr id="407" name="Picture 406">
                <a:extLst>
                  <a:ext uri="{FF2B5EF4-FFF2-40B4-BE49-F238E27FC236}">
                    <a16:creationId xmlns:a16="http://schemas.microsoft.com/office/drawing/2014/main" id="{F88AE36D-B86B-4979-F440-E1331A89E364}"/>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a:grpFill/>
            </p:spPr>
          </p:pic>
        </p:grpSp>
        <p:pic>
          <p:nvPicPr>
            <p:cNvPr id="449" name="Picture 448">
              <a:extLst>
                <a:ext uri="{FF2B5EF4-FFF2-40B4-BE49-F238E27FC236}">
                  <a16:creationId xmlns:a16="http://schemas.microsoft.com/office/drawing/2014/main" id="{4060012E-C587-1FEF-9981-0098C279902E}"/>
                </a:ext>
              </a:extLst>
            </p:cNvPr>
            <p:cNvPicPr>
              <a:picLocks noChangeAspect="1"/>
            </p:cNvPicPr>
            <p:nvPr/>
          </p:nvPicPr>
          <p:blipFill>
            <a:blip r:embed="rId14"/>
            <a:stretch>
              <a:fillRect/>
            </a:stretch>
          </p:blipFill>
          <p:spPr>
            <a:xfrm>
              <a:off x="12212740" y="4162132"/>
              <a:ext cx="1118594" cy="1137172"/>
            </a:xfrm>
            <a:prstGeom prst="rect">
              <a:avLst/>
            </a:prstGeom>
            <a:noFill/>
          </p:spPr>
        </p:pic>
      </p:grpSp>
      <mc:AlternateContent xmlns:mc="http://schemas.openxmlformats.org/markup-compatibility/2006" xmlns:a14="http://schemas.microsoft.com/office/drawing/2010/main">
        <mc:Choice Requires="a14">
          <p:sp>
            <p:nvSpPr>
              <p:cNvPr id="450" name="Rectangle: Rounded Corners 449">
                <a:extLst>
                  <a:ext uri="{FF2B5EF4-FFF2-40B4-BE49-F238E27FC236}">
                    <a16:creationId xmlns:a16="http://schemas.microsoft.com/office/drawing/2014/main" id="{5FB9A7BA-029B-7CC4-5EF5-A42748AC4EE4}"/>
                  </a:ext>
                </a:extLst>
              </p:cNvPr>
              <p:cNvSpPr/>
              <p:nvPr/>
            </p:nvSpPr>
            <p:spPr>
              <a:xfrm>
                <a:off x="10126629" y="12250868"/>
                <a:ext cx="9520627" cy="8691819"/>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700" dirty="0">
                    <a:solidFill>
                      <a:srgbClr val="222831"/>
                    </a:solidFill>
                    <a:latin typeface="Times New Roman" panose="02020603050405020304" pitchFamily="18" charset="0"/>
                    <a:cs typeface="Times New Roman" panose="02020603050405020304" pitchFamily="18" charset="0"/>
                  </a:rPr>
                  <a:t>The construction of the prototype requires sticking to the design requirements and configuring the electric circuit as illustrated in </a:t>
                </a:r>
                <a:r>
                  <a:rPr lang="en-US" sz="1700" b="1" dirty="0">
                    <a:solidFill>
                      <a:srgbClr val="222831"/>
                    </a:solidFill>
                    <a:latin typeface="Times New Roman" panose="02020603050405020304" pitchFamily="18" charset="0"/>
                    <a:cs typeface="Times New Roman" panose="02020603050405020304" pitchFamily="18" charset="0"/>
                  </a:rPr>
                  <a:t>fig. (5)</a:t>
                </a:r>
                <a:r>
                  <a:rPr lang="en-US" sz="1700" dirty="0">
                    <a:solidFill>
                      <a:srgbClr val="222831"/>
                    </a:solidFill>
                    <a:latin typeface="Times New Roman" panose="02020603050405020304" pitchFamily="18" charset="0"/>
                    <a:cs typeface="Times New Roman" panose="02020603050405020304" pitchFamily="18" charset="0"/>
                  </a:rPr>
                  <a:t>. Primarily, the method of how the movable part is going to allow the safe transmission has been chosen, followed by specifying the dimensions through modeling a 3D design that simulates the prototype as shown in </a:t>
                </a:r>
                <a:r>
                  <a:rPr lang="en-US" sz="1700" b="1" dirty="0">
                    <a:solidFill>
                      <a:srgbClr val="222831"/>
                    </a:solidFill>
                    <a:latin typeface="Times New Roman" panose="02020603050405020304" pitchFamily="18" charset="0"/>
                    <a:cs typeface="Times New Roman" panose="02020603050405020304" pitchFamily="18" charset="0"/>
                  </a:rPr>
                  <a:t>fig. (3)</a:t>
                </a:r>
                <a:r>
                  <a:rPr lang="en-US" sz="1700" dirty="0">
                    <a:solidFill>
                      <a:srgbClr val="222831"/>
                    </a:solidFill>
                    <a:latin typeface="Times New Roman" panose="02020603050405020304" pitchFamily="18" charset="0"/>
                    <a:cs typeface="Times New Roman" panose="02020603050405020304" pitchFamily="18" charset="0"/>
                  </a:rPr>
                  <a:t>.</a:t>
                </a:r>
              </a:p>
              <a:p>
                <a:pPr algn="just"/>
                <a:r>
                  <a:rPr lang="en-US" sz="1700" b="1" dirty="0">
                    <a:solidFill>
                      <a:srgbClr val="222831"/>
                    </a:solidFill>
                    <a:latin typeface="Times New Roman" panose="02020603050405020304" pitchFamily="18" charset="0"/>
                    <a:cs typeface="Times New Roman" panose="02020603050405020304" pitchFamily="18" charset="0"/>
                  </a:rPr>
                  <a:t>Steps of installation: </a:t>
                </a:r>
                <a:endParaRPr lang="en-US" sz="1700" dirty="0">
                  <a:solidFill>
                    <a:srgbClr val="222831"/>
                  </a:solidFill>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en-US" sz="1700" dirty="0">
                    <a:solidFill>
                      <a:srgbClr val="222831"/>
                    </a:solidFill>
                    <a:latin typeface="Times New Roman" panose="02020603050405020304" pitchFamily="18" charset="0"/>
                    <a:cs typeface="Times New Roman" panose="02020603050405020304" pitchFamily="18" charset="0"/>
                  </a:rPr>
                  <a:t>Cutting down palm trees into equally divided limbs while utilizing a machete, the bridge was mainly sliced into three parts: two movable parts and one fixed. The three parts are the same in width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(26 ± 0.5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𝑖𝑛</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𝑤𝑖𝑑𝑡h</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but the first part, unlike the other two parts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(35 ± 0.5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𝑖𝑛</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𝑙𝑒𝑛𝑔𝑡h</m:t>
                    </m:r>
                    <m:r>
                      <a:rPr lang="en-US" sz="1700" i="1" dirty="0" smtClean="0">
                        <a:solidFill>
                          <a:srgbClr val="222831"/>
                        </a:solidFill>
                        <a:latin typeface="Cambria Math" panose="02040503050406030204" pitchFamily="18" charset="0"/>
                        <a:cs typeface="Times New Roman" panose="02020603050405020304" pitchFamily="18" charset="0"/>
                      </a:rPr>
                      <m:t>)</m:t>
                    </m:r>
                  </m:oMath>
                </a14:m>
                <a:r>
                  <a:rPr lang="en-US" sz="1700" dirty="0">
                    <a:solidFill>
                      <a:srgbClr val="222831"/>
                    </a:solidFill>
                    <a:latin typeface="Times New Roman" panose="02020603050405020304" pitchFamily="18" charset="0"/>
                    <a:cs typeface="Times New Roman" panose="02020603050405020304" pitchFamily="18" charset="0"/>
                  </a:rPr>
                  <a:t>, the other two parts are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(30 ± 0.5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𝑖𝑛</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𝑙𝑒𝑛𝑔𝑡h</m:t>
                    </m:r>
                    <m:r>
                      <a:rPr lang="en-US" sz="1700" i="1" dirty="0" smtClean="0">
                        <a:solidFill>
                          <a:srgbClr val="222831"/>
                        </a:solidFill>
                        <a:latin typeface="Cambria Math" panose="02040503050406030204" pitchFamily="18" charset="0"/>
                        <a:cs typeface="Times New Roman" panose="02020603050405020304" pitchFamily="18" charset="0"/>
                      </a:rPr>
                      <m:t>).</m:t>
                    </m:r>
                  </m:oMath>
                </a14:m>
                <a:endParaRPr lang="en-US" sz="1700" dirty="0">
                  <a:solidFill>
                    <a:srgbClr val="222831"/>
                  </a:solidFill>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en-US" sz="1700" dirty="0">
                    <a:solidFill>
                      <a:srgbClr val="222831"/>
                    </a:solidFill>
                    <a:latin typeface="Times New Roman" panose="02020603050405020304" pitchFamily="18" charset="0"/>
                    <a:cs typeface="Times New Roman" panose="02020603050405020304" pitchFamily="18" charset="0"/>
                  </a:rPr>
                  <a:t>The palm tree midribs were inserted inside each other, making a hole inside one and fitting the other inside, as shown in </a:t>
                </a:r>
                <a:r>
                  <a:rPr lang="en-US" sz="1700" b="1" dirty="0">
                    <a:solidFill>
                      <a:srgbClr val="222831"/>
                    </a:solidFill>
                    <a:latin typeface="Times New Roman" panose="02020603050405020304" pitchFamily="18" charset="0"/>
                    <a:cs typeface="Times New Roman" panose="02020603050405020304" pitchFamily="18" charset="0"/>
                  </a:rPr>
                  <a:t>fig. (4)</a:t>
                </a:r>
                <a:r>
                  <a:rPr lang="en-US" sz="1700" dirty="0">
                    <a:solidFill>
                      <a:srgbClr val="222831"/>
                    </a:solidFill>
                    <a:latin typeface="Times New Roman" panose="02020603050405020304" pitchFamily="18" charset="0"/>
                    <a:cs typeface="Times New Roman" panose="02020603050405020304" pitchFamily="18" charset="0"/>
                  </a:rPr>
                  <a:t>. This process happened with the aid of the FABLAB using a driller.</a:t>
                </a:r>
              </a:p>
              <a:p>
                <a:pPr marL="400050" indent="-400050" algn="just">
                  <a:buFont typeface="+mj-lt"/>
                  <a:buAutoNum type="romanUcPeriod"/>
                </a:pPr>
                <a:r>
                  <a:rPr lang="en-US" sz="1700" dirty="0">
                    <a:solidFill>
                      <a:srgbClr val="222831"/>
                    </a:solidFill>
                    <a:latin typeface="Times New Roman" panose="02020603050405020304" pitchFamily="18" charset="0"/>
                    <a:cs typeface="Times New Roman" panose="02020603050405020304" pitchFamily="18" charset="0"/>
                  </a:rPr>
                  <a:t>We started adhering the parts to each other via screws and wood glue, forming the backbone of our bridge, like: (deck - abutments - piers - pillars); then building the truss comes after; we decide to construct a Pratt truss; we talk into account building a base that serves as a platform for the motors and compose a stage of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(2 ± 0.3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𝑖𝑛</m:t>
                    </m:r>
                    <m:r>
                      <a:rPr lang="en-US" sz="1700" i="1" dirty="0" smtClean="0">
                        <a:solidFill>
                          <a:srgbClr val="222831"/>
                        </a:solidFill>
                        <a:latin typeface="Cambria Math" panose="02040503050406030204" pitchFamily="18" charset="0"/>
                        <a:cs typeface="Times New Roman" panose="02020603050405020304" pitchFamily="18" charset="0"/>
                      </a:rPr>
                      <m:t> </m:t>
                    </m:r>
                    <m:r>
                      <a:rPr lang="en-US" sz="1700" i="1" dirty="0" smtClean="0">
                        <a:solidFill>
                          <a:srgbClr val="222831"/>
                        </a:solidFill>
                        <a:latin typeface="Cambria Math" panose="02040503050406030204" pitchFamily="18" charset="0"/>
                        <a:cs typeface="Times New Roman" panose="02020603050405020304" pitchFamily="18" charset="0"/>
                      </a:rPr>
                      <m:t>𝑤𝑖𝑑𝑡h</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so when the bridge lowers, it can lie upon a base.</a:t>
                </a:r>
              </a:p>
              <a:p>
                <a:pPr marL="400050" indent="-400050" algn="just">
                  <a:buFont typeface="+mj-lt"/>
                  <a:buAutoNum type="romanUcPeriod"/>
                </a:pPr>
                <a:r>
                  <a:rPr lang="en-US" sz="1700" dirty="0">
                    <a:solidFill>
                      <a:srgbClr val="222831"/>
                    </a:solidFill>
                    <a:latin typeface="Times New Roman" panose="02020603050405020304" pitchFamily="18" charset="0"/>
                    <a:cs typeface="Times New Roman" panose="02020603050405020304" pitchFamily="18" charset="0"/>
                  </a:rPr>
                  <a:t>Motors, ropes, drums, guide pulleys, and hinges have been installed precisely.</a:t>
                </a:r>
              </a:p>
              <a:p>
                <a:pPr marL="400050" indent="-400050" algn="just">
                  <a:buFont typeface="+mj-lt"/>
                  <a:buAutoNum type="romanUcPeriod"/>
                </a:pPr>
                <a:r>
                  <a:rPr lang="en-US" sz="1700" dirty="0">
                    <a:solidFill>
                      <a:srgbClr val="222831"/>
                    </a:solidFill>
                    <a:latin typeface="Times New Roman" panose="02020603050405020304" pitchFamily="18" charset="0"/>
                    <a:cs typeface="Times New Roman" panose="02020603050405020304" pitchFamily="18" charset="0"/>
                  </a:rPr>
                  <a:t>Arduino circuit and its components, including the H-Bridge motor driver, have been properly assembled and configured; this wouldn’t be easy without setting up a circuit model.</a:t>
                </a:r>
              </a:p>
              <a:p>
                <a:pPr algn="just"/>
                <a:r>
                  <a:rPr lang="en-US" sz="1700" b="1" dirty="0">
                    <a:solidFill>
                      <a:srgbClr val="222831"/>
                    </a:solidFill>
                    <a:latin typeface="Times New Roman" panose="02020603050405020304" pitchFamily="18" charset="0"/>
                    <a:cs typeface="Times New Roman" panose="02020603050405020304" pitchFamily="18" charset="0"/>
                  </a:rPr>
                  <a:t>Test plan to estimate deflection:</a:t>
                </a:r>
              </a:p>
              <a:p>
                <a:pPr marL="342900" indent="-342900" algn="just">
                  <a:buFont typeface="+mj-lt"/>
                  <a:buAutoNum type="arabicPeriod"/>
                </a:pPr>
                <a:r>
                  <a:rPr lang="en-US" sz="1700" dirty="0">
                    <a:solidFill>
                      <a:srgbClr val="222831"/>
                    </a:solidFill>
                    <a:latin typeface="Times New Roman" panose="02020603050405020304" pitchFamily="18" charset="0"/>
                    <a:cs typeface="Times New Roman" panose="02020603050405020304" pitchFamily="18" charset="0"/>
                  </a:rPr>
                  <a:t>Every process in the test plan has been done through safety regulations and right precautions as putting on masks and gloves, waring lab coats, avoid getting hurt while using any dangerous equipment.</a:t>
                </a:r>
              </a:p>
              <a:p>
                <a:pPr marL="342900" indent="-342900" algn="just">
                  <a:buFont typeface="+mj-lt"/>
                  <a:buAutoNum type="arabicPeriod"/>
                </a:pPr>
                <a:r>
                  <a:rPr lang="en-US" sz="1700" dirty="0">
                    <a:solidFill>
                      <a:srgbClr val="222831"/>
                    </a:solidFill>
                    <a:latin typeface="Times New Roman" panose="02020603050405020304" pitchFamily="18" charset="0"/>
                    <a:cs typeface="Times New Roman" panose="02020603050405020304" pitchFamily="18" charset="0"/>
                  </a:rPr>
                  <a:t>We drop by degrees a weight, over time we increase the weight; therefore, the distance between the bridge after putting weight and before increase, then measuring this difference utilizing a vernier caliper. This operation was supervised by the mechanics teacher in the mechanics lab.</a:t>
                </a:r>
              </a:p>
              <a:p>
                <a:pPr marL="342900" indent="-342900" algn="just">
                  <a:buFont typeface="+mj-lt"/>
                  <a:buAutoNum type="arabicPeriod"/>
                </a:pPr>
                <a:r>
                  <a:rPr lang="en-US" sz="1700" dirty="0">
                    <a:solidFill>
                      <a:srgbClr val="222831"/>
                    </a:solidFill>
                    <a:latin typeface="Times New Roman" panose="02020603050405020304" pitchFamily="18" charset="0"/>
                    <a:cs typeface="Times New Roman" panose="02020603050405020304" pitchFamily="18" charset="0"/>
                  </a:rPr>
                  <a:t>Documenting data we observed in the form of tables.</a:t>
                </a:r>
              </a:p>
            </p:txBody>
          </p:sp>
        </mc:Choice>
        <mc:Fallback xmlns="">
          <p:sp>
            <p:nvSpPr>
              <p:cNvPr id="450" name="Rectangle: Rounded Corners 449">
                <a:extLst>
                  <a:ext uri="{FF2B5EF4-FFF2-40B4-BE49-F238E27FC236}">
                    <a16:creationId xmlns:a16="http://schemas.microsoft.com/office/drawing/2014/main" id="{5FB9A7BA-029B-7CC4-5EF5-A42748AC4EE4}"/>
                  </a:ext>
                </a:extLst>
              </p:cNvPr>
              <p:cNvSpPr>
                <a:spLocks noRot="1" noChangeAspect="1" noMove="1" noResize="1" noEditPoints="1" noAdjustHandles="1" noChangeArrowheads="1" noChangeShapeType="1" noTextEdit="1"/>
              </p:cNvSpPr>
              <p:nvPr/>
            </p:nvSpPr>
            <p:spPr>
              <a:xfrm>
                <a:off x="10126629" y="12250868"/>
                <a:ext cx="9520627" cy="8691819"/>
              </a:xfrm>
              <a:prstGeom prst="roundRect">
                <a:avLst>
                  <a:gd name="adj" fmla="val 1603"/>
                </a:avLst>
              </a:prstGeom>
              <a:blipFill>
                <a:blip r:embed="rId15"/>
                <a:stretch>
                  <a:fillRect/>
                </a:stretch>
              </a:blipFill>
              <a:ln>
                <a:noFill/>
              </a:ln>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902DD9B2-35C4-4303-BB16-5EF18FD1B0AB}"/>
              </a:ext>
            </a:extLst>
          </p:cNvPr>
          <p:cNvGrpSpPr/>
          <p:nvPr/>
        </p:nvGrpSpPr>
        <p:grpSpPr>
          <a:xfrm>
            <a:off x="10246311" y="21011042"/>
            <a:ext cx="9539852" cy="7335352"/>
            <a:chOff x="10137785" y="21011042"/>
            <a:chExt cx="9539852" cy="7335352"/>
          </a:xfrm>
        </p:grpSpPr>
        <p:sp>
          <p:nvSpPr>
            <p:cNvPr id="455" name="Rectangle: Rounded Corners 454">
              <a:extLst>
                <a:ext uri="{FF2B5EF4-FFF2-40B4-BE49-F238E27FC236}">
                  <a16:creationId xmlns:a16="http://schemas.microsoft.com/office/drawing/2014/main" id="{282F8072-A4AF-09D9-59B9-37E8E9CB673D}"/>
                </a:ext>
              </a:extLst>
            </p:cNvPr>
            <p:cNvSpPr/>
            <p:nvPr/>
          </p:nvSpPr>
          <p:spPr>
            <a:xfrm>
              <a:off x="10178057" y="22145145"/>
              <a:ext cx="9483591" cy="6201249"/>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dirty="0">
                <a:solidFill>
                  <a:srgbClr val="222831"/>
                </a:solidFill>
              </a:endParaRPr>
            </a:p>
          </p:txBody>
        </p:sp>
        <p:grpSp>
          <p:nvGrpSpPr>
            <p:cNvPr id="27" name="Group 26">
              <a:extLst>
                <a:ext uri="{FF2B5EF4-FFF2-40B4-BE49-F238E27FC236}">
                  <a16:creationId xmlns:a16="http://schemas.microsoft.com/office/drawing/2014/main" id="{83AED3D8-2BCC-CF86-F87A-0DE5C63BA987}"/>
                </a:ext>
              </a:extLst>
            </p:cNvPr>
            <p:cNvGrpSpPr/>
            <p:nvPr/>
          </p:nvGrpSpPr>
          <p:grpSpPr>
            <a:xfrm>
              <a:off x="10137785" y="21011042"/>
              <a:ext cx="9539852" cy="1054029"/>
              <a:chOff x="9984329" y="18082110"/>
              <a:chExt cx="9539852" cy="1054029"/>
            </a:xfrm>
          </p:grpSpPr>
          <p:grpSp>
            <p:nvGrpSpPr>
              <p:cNvPr id="453" name="Group 452">
                <a:extLst>
                  <a:ext uri="{FF2B5EF4-FFF2-40B4-BE49-F238E27FC236}">
                    <a16:creationId xmlns:a16="http://schemas.microsoft.com/office/drawing/2014/main" id="{C8DCDC8A-900A-2FBE-4A44-83C531B6F815}"/>
                  </a:ext>
                </a:extLst>
              </p:cNvPr>
              <p:cNvGrpSpPr/>
              <p:nvPr/>
            </p:nvGrpSpPr>
            <p:grpSpPr>
              <a:xfrm>
                <a:off x="9984329" y="18082110"/>
                <a:ext cx="9539852" cy="1054029"/>
                <a:chOff x="168681" y="6756487"/>
                <a:chExt cx="9539852" cy="1054029"/>
              </a:xfrm>
            </p:grpSpPr>
            <p:sp>
              <p:nvSpPr>
                <p:cNvPr id="456" name="Rectangle: Rounded Corners 455">
                  <a:extLst>
                    <a:ext uri="{FF2B5EF4-FFF2-40B4-BE49-F238E27FC236}">
                      <a16:creationId xmlns:a16="http://schemas.microsoft.com/office/drawing/2014/main" id="{17DB6452-5107-517C-F081-B9A658994D8E}"/>
                    </a:ext>
                  </a:extLst>
                </p:cNvPr>
                <p:cNvSpPr/>
                <p:nvPr/>
              </p:nvSpPr>
              <p:spPr>
                <a:xfrm>
                  <a:off x="172806" y="6771613"/>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Results</a:t>
                  </a:r>
                </a:p>
              </p:txBody>
            </p:sp>
            <p:pic>
              <p:nvPicPr>
                <p:cNvPr id="457" name="Picture 456">
                  <a:extLst>
                    <a:ext uri="{FF2B5EF4-FFF2-40B4-BE49-F238E27FC236}">
                      <a16:creationId xmlns:a16="http://schemas.microsoft.com/office/drawing/2014/main" id="{B6E905F8-54DD-4BD6-8DD3-CA16DEEA6906}"/>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168681" y="6756487"/>
                  <a:ext cx="1118594" cy="1036470"/>
                </a:xfrm>
                <a:prstGeom prst="rect">
                  <a:avLst/>
                </a:prstGeom>
              </p:spPr>
            </p:pic>
            <p:pic>
              <p:nvPicPr>
                <p:cNvPr id="458" name="Picture 457">
                  <a:extLst>
                    <a:ext uri="{FF2B5EF4-FFF2-40B4-BE49-F238E27FC236}">
                      <a16:creationId xmlns:a16="http://schemas.microsoft.com/office/drawing/2014/main" id="{58C13C73-3B86-3981-BA7A-7CB7635ECE7F}"/>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550356" y="6764659"/>
                  <a:ext cx="1118594" cy="1036470"/>
                </a:xfrm>
                <a:prstGeom prst="rect">
                  <a:avLst/>
                </a:prstGeom>
              </p:spPr>
            </p:pic>
          </p:grpSp>
          <p:pic>
            <p:nvPicPr>
              <p:cNvPr id="460" name="Picture 459">
                <a:extLst>
                  <a:ext uri="{FF2B5EF4-FFF2-40B4-BE49-F238E27FC236}">
                    <a16:creationId xmlns:a16="http://schemas.microsoft.com/office/drawing/2014/main" id="{A167A517-E009-0551-F74D-9C3D5F114E8C}"/>
                  </a:ext>
                </a:extLst>
              </p:cNvPr>
              <p:cNvPicPr>
                <a:picLocks noChangeAspect="1"/>
              </p:cNvPicPr>
              <p:nvPr/>
            </p:nvPicPr>
            <p:blipFill>
              <a:blip r:embed="rId16"/>
              <a:stretch>
                <a:fillRect/>
              </a:stretch>
            </p:blipFill>
            <p:spPr>
              <a:xfrm>
                <a:off x="12664853" y="18143866"/>
                <a:ext cx="912959" cy="912959"/>
              </a:xfrm>
              <a:prstGeom prst="rect">
                <a:avLst/>
              </a:prstGeom>
            </p:spPr>
          </p:pic>
        </p:grpSp>
      </p:grpSp>
      <mc:AlternateContent xmlns:mc="http://schemas.openxmlformats.org/markup-compatibility/2006" xmlns:a14="http://schemas.microsoft.com/office/drawing/2010/main">
        <mc:Choice Requires="a14">
          <p:sp>
            <p:nvSpPr>
              <p:cNvPr id="462" name="Rectangle: Rounded Corners 461">
                <a:extLst>
                  <a:ext uri="{FF2B5EF4-FFF2-40B4-BE49-F238E27FC236}">
                    <a16:creationId xmlns:a16="http://schemas.microsoft.com/office/drawing/2014/main" id="{C0F4828D-D057-47B8-9E69-AD0A062B1B5F}"/>
                  </a:ext>
                </a:extLst>
              </p:cNvPr>
              <p:cNvSpPr/>
              <p:nvPr/>
            </p:nvSpPr>
            <p:spPr>
              <a:xfrm>
                <a:off x="19963513" y="5310160"/>
                <a:ext cx="9502478" cy="22967490"/>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700" dirty="0">
                    <a:solidFill>
                      <a:srgbClr val="222831"/>
                    </a:solidFill>
                    <a:latin typeface="Times New Roman" panose="02020603050405020304" pitchFamily="18" charset="0"/>
                    <a:cs typeface="Times New Roman" panose="02020603050405020304" pitchFamily="18" charset="0"/>
                  </a:rPr>
                  <a:t>	On spotting the light on Egypt's grand challenges, especially urban congestion and arid areas, these two are key drivers of environmental problems, economic losses, public health risks, and a variety of other challenges that confront Egypt. In an act of addressing urban congestion, our bridge is quite effective as it helps to ease traffic, enable alternative routes, and allow for better city planning. Bridges support the operation of integrated public transport systems such as bus or rail systems. Our bridge reduces road congestion and enhances the efficiency of public transport, making it faster and more economical. Thus, it may be possible to reduce vehicle pressure on roadways.</a:t>
                </a:r>
              </a:p>
              <a:p>
                <a:pPr algn="just"/>
                <a:r>
                  <a:rPr lang="en-US" sz="1700" dirty="0">
                    <a:solidFill>
                      <a:srgbClr val="222831"/>
                    </a:solidFill>
                    <a:latin typeface="Times New Roman" panose="02020603050405020304" pitchFamily="18" charset="0"/>
                    <a:cs typeface="Times New Roman" panose="02020603050405020304" pitchFamily="18" charset="0"/>
                  </a:rPr>
                  <a:t>	About one-third of the Earth's surface is made up of dry areas that face problems like drought, land erosion, and poor use of resources. These issues are made worse by population growth and tough environmental conditions. Our bridge helps by moving people to less crowded areas, encouraging their development. It also improves water distribution by allowing pipelines or channels to transport water, helping agriculture and other needs. Additionally, it supports building water storage systems like dams and reservoirs to manage resources better in these areas.</a:t>
                </a:r>
              </a:p>
              <a:p>
                <a:pPr algn="just"/>
                <a:r>
                  <a:rPr lang="en-US" sz="1700" dirty="0">
                    <a:solidFill>
                      <a:srgbClr val="222831"/>
                    </a:solidFill>
                    <a:latin typeface="Times New Roman" panose="02020603050405020304" pitchFamily="18" charset="0"/>
                    <a:cs typeface="Times New Roman" panose="02020603050405020304" pitchFamily="18" charset="0"/>
                  </a:rPr>
                  <a:t>	Every prototype has its flaws, and our prototype is no exception. It demonstrates a combination of strong points and areas for improvement, as it has a distinctive balance of pros and cons. We achieved results that go beyond most of our design requirements. For instance, our bridge managed to bear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𝟓𝟎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𝑲𝒈</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while showing a deflection of only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𝟗</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𝟏𝟓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𝒎𝒎</m:t>
                    </m:r>
                  </m:oMath>
                </a14:m>
                <a:r>
                  <a:rPr lang="en-US" sz="1700" dirty="0">
                    <a:solidFill>
                      <a:srgbClr val="222831"/>
                    </a:solidFill>
                    <a:latin typeface="Times New Roman" panose="02020603050405020304" pitchFamily="18" charset="0"/>
                    <a:cs typeface="Times New Roman" panose="02020603050405020304" pitchFamily="18" charset="0"/>
                  </a:rPr>
                  <a:t>, falling below the limitation of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5 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deflection that could lead to cracking the bridge. It wasn’t limited to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𝑲𝒈</m:t>
                    </m:r>
                  </m:oMath>
                </a14:m>
                <a:r>
                  <a:rPr lang="en-US" sz="1700" dirty="0">
                    <a:solidFill>
                      <a:srgbClr val="222831"/>
                    </a:solidFill>
                    <a:latin typeface="Times New Roman" panose="02020603050405020304" pitchFamily="18" charset="0"/>
                    <a:cs typeface="Times New Roman" panose="02020603050405020304" pitchFamily="18" charset="0"/>
                  </a:rPr>
                  <a:t>; it could carry up to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20 </m:t>
                    </m:r>
                    <m:r>
                      <a:rPr lang="en-US" sz="1700" i="1" dirty="0" smtClean="0">
                        <a:solidFill>
                          <a:srgbClr val="222831"/>
                        </a:solidFill>
                        <a:latin typeface="Cambria Math" panose="02040503050406030204" pitchFamily="18" charset="0"/>
                        <a:cs typeface="Times New Roman" panose="02020603050405020304" pitchFamily="18" charset="0"/>
                      </a:rPr>
                      <m:t>𝑘𝑔</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When operating our bridge using DC motors, we observed that our bridge opened and closed properly, as it could open up to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90°, </m:t>
                    </m:r>
                  </m:oMath>
                </a14:m>
                <a:r>
                  <a:rPr lang="en-US" sz="1700" dirty="0">
                    <a:solidFill>
                      <a:srgbClr val="222831"/>
                    </a:solidFill>
                    <a:latin typeface="Times New Roman" panose="02020603050405020304" pitchFamily="18" charset="0"/>
                    <a:cs typeface="Times New Roman" panose="02020603050405020304" pitchFamily="18" charset="0"/>
                  </a:rPr>
                  <a:t>but this attribute isn’t particularly beneficial because opening the bridge to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90°</m:t>
                    </m:r>
                  </m:oMath>
                </a14:m>
                <a:r>
                  <a:rPr lang="en-US" sz="1700" dirty="0">
                    <a:solidFill>
                      <a:srgbClr val="222831"/>
                    </a:solidFill>
                    <a:latin typeface="Times New Roman" panose="02020603050405020304" pitchFamily="18" charset="0"/>
                    <a:cs typeface="Times New Roman" panose="02020603050405020304" pitchFamily="18" charset="0"/>
                  </a:rPr>
                  <a:t> could cause the movable part to fall on the pillars, leading to the prototype's collapse. This prompted us to adjust the bridge to open up to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75°</m:t>
                    </m:r>
                  </m:oMath>
                </a14:m>
                <a:r>
                  <a:rPr lang="en-US" sz="1700" dirty="0">
                    <a:solidFill>
                      <a:srgbClr val="222831"/>
                    </a:solidFill>
                    <a:latin typeface="Times New Roman" panose="02020603050405020304" pitchFamily="18" charset="0"/>
                    <a:cs typeface="Times New Roman" panose="02020603050405020304" pitchFamily="18" charset="0"/>
                  </a:rPr>
                  <a:t>, which is a safer angle. Our prototype also featured a Pratt truss, as it characterize by stability and durability</a:t>
                </a:r>
              </a:p>
              <a:p>
                <a:pPr algn="just"/>
                <a:r>
                  <a:rPr lang="en-US" sz="1700" dirty="0">
                    <a:solidFill>
                      <a:srgbClr val="222831"/>
                    </a:solidFill>
                    <a:latin typeface="Times New Roman" panose="02020603050405020304" pitchFamily="18" charset="0"/>
                    <a:cs typeface="Times New Roman" panose="02020603050405020304" pitchFamily="18" charset="0"/>
                  </a:rPr>
                  <a:t>And ability to carry dead and traffic loads, hinge</a:t>
                </a:r>
              </a:p>
              <a:p>
                <a:pPr algn="just"/>
                <a:r>
                  <a:rPr lang="en-US" sz="1700" dirty="0">
                    <a:solidFill>
                      <a:srgbClr val="222831"/>
                    </a:solidFill>
                    <a:latin typeface="Times New Roman" panose="02020603050405020304" pitchFamily="18" charset="0"/>
                    <a:cs typeface="Times New Roman" panose="02020603050405020304" pitchFamily="18" charset="0"/>
                  </a:rPr>
                  <a:t>connections at all nodes, </a:t>
                </a:r>
                <a:r>
                  <a:rPr lang="en-US" sz="1700" b="1" dirty="0">
                    <a:solidFill>
                      <a:srgbClr val="222831"/>
                    </a:solidFill>
                    <a:latin typeface="Times New Roman" panose="02020603050405020304" pitchFamily="18" charset="0"/>
                    <a:cs typeface="Times New Roman" panose="02020603050405020304" pitchFamily="18" charset="0"/>
                  </a:rPr>
                  <a:t>fig. (9) </a:t>
                </a:r>
                <a:r>
                  <a:rPr lang="en-US" sz="1700" dirty="0">
                    <a:solidFill>
                      <a:srgbClr val="222831"/>
                    </a:solidFill>
                    <a:latin typeface="Times New Roman" panose="02020603050405020304" pitchFamily="18" charset="0"/>
                    <a:cs typeface="Times New Roman" panose="02020603050405020304" pitchFamily="18" charset="0"/>
                  </a:rPr>
                  <a:t>shows Pratt truss </a:t>
                </a:r>
              </a:p>
              <a:p>
                <a:pPr algn="just"/>
                <a:r>
                  <a:rPr lang="en-US" sz="1700" dirty="0">
                    <a:solidFill>
                      <a:srgbClr val="222831"/>
                    </a:solidFill>
                    <a:latin typeface="Times New Roman" panose="02020603050405020304" pitchFamily="18" charset="0"/>
                    <a:cs typeface="Times New Roman" panose="02020603050405020304" pitchFamily="18" charset="0"/>
                  </a:rPr>
                  <a:t>diagram. Our bridge is distinguished by its rapid</a:t>
                </a:r>
              </a:p>
              <a:p>
                <a:pPr algn="just"/>
                <a:r>
                  <a:rPr lang="en-US" sz="1700" dirty="0">
                    <a:solidFill>
                      <a:srgbClr val="222831"/>
                    </a:solidFill>
                    <a:latin typeface="Times New Roman" panose="02020603050405020304" pitchFamily="18" charset="0"/>
                    <a:cs typeface="Times New Roman" panose="02020603050405020304" pitchFamily="18" charset="0"/>
                  </a:rPr>
                  <a:t>operation, enabling it to speed up traffic flow. This</a:t>
                </a:r>
              </a:p>
              <a:p>
                <a:pPr algn="just"/>
                <a:r>
                  <a:rPr lang="en-US" sz="1700" dirty="0">
                    <a:solidFill>
                      <a:srgbClr val="222831"/>
                    </a:solidFill>
                    <a:latin typeface="Times New Roman" panose="02020603050405020304" pitchFamily="18" charset="0"/>
                    <a:cs typeface="Times New Roman" panose="02020603050405020304" pitchFamily="18" charset="0"/>
                  </a:rPr>
                  <a:t>is achieved using DC gear motors, which can</a:t>
                </a:r>
              </a:p>
              <a:p>
                <a:pPr algn="just"/>
                <a:r>
                  <a:rPr lang="en-US" sz="1700" dirty="0">
                    <a:solidFill>
                      <a:srgbClr val="222831"/>
                    </a:solidFill>
                    <a:latin typeface="Times New Roman" panose="02020603050405020304" pitchFamily="18" charset="0"/>
                    <a:cs typeface="Times New Roman" panose="02020603050405020304" pitchFamily="18" charset="0"/>
                  </a:rPr>
                  <a:t>raise the bridge at a velocity of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3.915 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m:t>
                    </m:r>
                    <m:r>
                      <m:rPr>
                        <m:sty m:val="p"/>
                      </m:rPr>
                      <a:rPr lang="en-US" sz="1700" i="1" dirty="0" smtClean="0">
                        <a:solidFill>
                          <a:srgbClr val="222831"/>
                        </a:solidFill>
                        <a:latin typeface="Cambria Math" panose="02040503050406030204" pitchFamily="18" charset="0"/>
                        <a:cs typeface="Times New Roman" panose="02020603050405020304" pitchFamily="18" charset="0"/>
                      </a:rPr>
                      <m:t>sec</m:t>
                    </m:r>
                    <m:r>
                      <a:rPr lang="en-US" sz="1700" i="1" dirty="0" smtClean="0">
                        <a:solidFill>
                          <a:srgbClr val="222831"/>
                        </a:solidFill>
                        <a:latin typeface="Cambria Math" panose="02040503050406030204" pitchFamily="18" charset="0"/>
                        <a:cs typeface="Times New Roman" panose="02020603050405020304" pitchFamily="18" charset="0"/>
                      </a:rPr>
                      <m:t>⁡</m:t>
                    </m:r>
                  </m:oMath>
                </a14:m>
                <a:r>
                  <a:rPr lang="en-US" sz="1700" dirty="0">
                    <a:solidFill>
                      <a:srgbClr val="222831"/>
                    </a:solidFill>
                    <a:latin typeface="Times New Roman" panose="02020603050405020304" pitchFamily="18" charset="0"/>
                    <a:cs typeface="Times New Roman" panose="02020603050405020304" pitchFamily="18" charset="0"/>
                  </a:rPr>
                  <a:t>. </a:t>
                </a:r>
              </a:p>
              <a:p>
                <a:pPr algn="just"/>
                <a:r>
                  <a:rPr lang="en-US" sz="1700" dirty="0">
                    <a:solidFill>
                      <a:srgbClr val="222831"/>
                    </a:solidFill>
                    <a:latin typeface="Times New Roman" panose="02020603050405020304" pitchFamily="18" charset="0"/>
                    <a:cs typeface="Times New Roman" panose="02020603050405020304" pitchFamily="18" charset="0"/>
                  </a:rPr>
                  <a:t>This remarkable velocity allows the bridge to lift </a:t>
                </a:r>
              </a:p>
              <a:p>
                <a:pPr algn="just"/>
                <a:r>
                  <a:rPr lang="en-US" sz="1700" dirty="0">
                    <a:solidFill>
                      <a:srgbClr val="222831"/>
                    </a:solidFill>
                    <a:latin typeface="Times New Roman" panose="02020603050405020304" pitchFamily="18" charset="0"/>
                    <a:cs typeface="Times New Roman" panose="02020603050405020304" pitchFamily="18" charset="0"/>
                  </a:rPr>
                  <a:t>quickly. A clearance of </a:t>
                </a:r>
                <a14:m>
                  <m:oMath xmlns:m="http://schemas.openxmlformats.org/officeDocument/2006/math">
                    <m:r>
                      <a:rPr lang="en-US" sz="1700" i="1" dirty="0" smtClean="0">
                        <a:solidFill>
                          <a:srgbClr val="222831"/>
                        </a:solidFill>
                        <a:latin typeface="Cambria Math" panose="02040503050406030204" pitchFamily="18" charset="0"/>
                        <a:cs typeface="Times New Roman" panose="02020603050405020304" pitchFamily="18" charset="0"/>
                      </a:rPr>
                      <m:t>10 </m:t>
                    </m:r>
                    <m:r>
                      <a:rPr lang="en-US" sz="1700" i="1" dirty="0" smtClean="0">
                        <a:solidFill>
                          <a:srgbClr val="222831"/>
                        </a:solidFill>
                        <a:latin typeface="Cambria Math" panose="02040503050406030204" pitchFamily="18" charset="0"/>
                        <a:cs typeface="Times New Roman" panose="02020603050405020304" pitchFamily="18" charset="0"/>
                      </a:rPr>
                      <m:t>𝑐𝑚</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was designed </a:t>
                </a:r>
              </a:p>
              <a:p>
                <a:pPr algn="just"/>
                <a:r>
                  <a:rPr lang="en-US" sz="1700" dirty="0">
                    <a:solidFill>
                      <a:srgbClr val="222831"/>
                    </a:solidFill>
                    <a:latin typeface="Times New Roman" panose="02020603050405020304" pitchFamily="18" charset="0"/>
                    <a:cs typeface="Times New Roman" panose="02020603050405020304" pitchFamily="18" charset="0"/>
                  </a:rPr>
                  <a:t>between the deck and the water surface. The bridge also </a:t>
                </a:r>
              </a:p>
              <a:p>
                <a:pPr algn="just"/>
                <a:r>
                  <a:rPr lang="en-US" sz="1700" dirty="0">
                    <a:solidFill>
                      <a:srgbClr val="222831"/>
                    </a:solidFill>
                    <a:latin typeface="Times New Roman" panose="02020603050405020304" pitchFamily="18" charset="0"/>
                    <a:cs typeface="Times New Roman" panose="02020603050405020304" pitchFamily="18" charset="0"/>
                  </a:rPr>
                  <a:t>exhibits great durability and stability. Two lanes for </a:t>
                </a:r>
              </a:p>
              <a:p>
                <a:pPr algn="just"/>
                <a:r>
                  <a:rPr lang="en-US" sz="1700" dirty="0">
                    <a:solidFill>
                      <a:srgbClr val="222831"/>
                    </a:solidFill>
                    <a:latin typeface="Times New Roman" panose="02020603050405020304" pitchFamily="18" charset="0"/>
                    <a:cs typeface="Times New Roman" panose="02020603050405020304" pitchFamily="18" charset="0"/>
                  </a:rPr>
                  <a:t>vehicles and pedestrians are included to ease traffic flow. </a:t>
                </a:r>
              </a:p>
              <a:p>
                <a:pPr algn="just"/>
                <a:endParaRPr lang="en-US" sz="1700" dirty="0">
                  <a:solidFill>
                    <a:srgbClr val="222831"/>
                  </a:solidFill>
                  <a:latin typeface="Times New Roman" panose="02020603050405020304" pitchFamily="18" charset="0"/>
                  <a:cs typeface="Times New Roman" panose="02020603050405020304" pitchFamily="18" charset="0"/>
                </a:endParaRPr>
              </a:p>
              <a:p>
                <a:pPr algn="just"/>
                <a:r>
                  <a:rPr lang="en-US" sz="1700" dirty="0">
                    <a:solidFill>
                      <a:srgbClr val="222831"/>
                    </a:solidFill>
                    <a:latin typeface="Times New Roman" panose="02020603050405020304" pitchFamily="18" charset="0"/>
                    <a:cs typeface="Times New Roman" panose="02020603050405020304" pitchFamily="18" charset="0"/>
                  </a:rPr>
                  <a:t>The prototype is equipped with an Arduino system that manipulates the DC gear motors through an H-Bridge, enabling the motors to rotate in both directions and adjust speed. Limit switches are included to indicate the boundary of motor movement. Additionally, the system includes a buzzer, LEDs, a battery, an IR remote, and an IR receiver, ensuring optimal control with high efficiency. The circuit is in </a:t>
                </a:r>
                <a:r>
                  <a:rPr lang="en-US" sz="1700" b="1" dirty="0">
                    <a:solidFill>
                      <a:srgbClr val="222831"/>
                    </a:solidFill>
                    <a:latin typeface="Times New Roman" panose="02020603050405020304" pitchFamily="18" charset="0"/>
                    <a:cs typeface="Times New Roman" panose="02020603050405020304" pitchFamily="18" charset="0"/>
                  </a:rPr>
                  <a:t>fig. (10)</a:t>
                </a:r>
              </a:p>
              <a:p>
                <a:pPr algn="just"/>
                <a:r>
                  <a:rPr lang="en-US" sz="1700" dirty="0">
                    <a:solidFill>
                      <a:srgbClr val="222831"/>
                    </a:solidFill>
                    <a:latin typeface="Times New Roman" panose="02020603050405020304" pitchFamily="18" charset="0"/>
                    <a:cs typeface="Times New Roman" panose="02020603050405020304" pitchFamily="18" charset="0"/>
                  </a:rPr>
                  <a:t>	The </a:t>
                </a:r>
                <a:r>
                  <a:rPr lang="en-US" sz="1700" b="1" dirty="0">
                    <a:solidFill>
                      <a:srgbClr val="222831"/>
                    </a:solidFill>
                    <a:latin typeface="Times New Roman" panose="02020603050405020304" pitchFamily="18" charset="0"/>
                    <a:cs typeface="Times New Roman" panose="02020603050405020304" pitchFamily="18" charset="0"/>
                  </a:rPr>
                  <a:t>force</a:t>
                </a:r>
                <a:r>
                  <a:rPr lang="en-US" sz="1700" dirty="0">
                    <a:solidFill>
                      <a:srgbClr val="222831"/>
                    </a:solidFill>
                    <a:latin typeface="Times New Roman" panose="02020603050405020304" pitchFamily="18" charset="0"/>
                    <a:cs typeface="Times New Roman" panose="02020603050405020304" pitchFamily="18" charset="0"/>
                  </a:rPr>
                  <a:t> is important in bridges because it enables the movement of the bridge’s movable part, allowing the bridge to handle heavy loads. A series of steps should be followed to calculate forces of motors. Firstly, by calculating the </a:t>
                </a:r>
                <a:r>
                  <a:rPr lang="en-US" sz="1700" b="1" dirty="0">
                    <a:solidFill>
                      <a:srgbClr val="222831"/>
                    </a:solidFill>
                    <a:latin typeface="Times New Roman" panose="02020603050405020304" pitchFamily="18" charset="0"/>
                    <a:cs typeface="Times New Roman" panose="02020603050405020304" pitchFamily="18" charset="0"/>
                  </a:rPr>
                  <a:t>torque, </a:t>
                </a:r>
                <a:r>
                  <a:rPr lang="en-US" sz="1700" dirty="0">
                    <a:solidFill>
                      <a:srgbClr val="222831"/>
                    </a:solidFill>
                    <a:latin typeface="Times New Roman" panose="02020603050405020304" pitchFamily="18" charset="0"/>
                    <a:cs typeface="Times New Roman" panose="02020603050405020304" pitchFamily="18" charset="0"/>
                  </a:rPr>
                  <a:t>The torque generated by the motors is crucial for overcoming the gravitational force acting on the movable part. The motors torque is used to turn the bridge and lift the movable part. The more torque the motors provide, the faster and easier the bridge can be lifted. And it can be measured using the following law which is outlined in </a:t>
                </a:r>
                <a:r>
                  <a:rPr lang="en-US" sz="1700" b="1" dirty="0">
                    <a:solidFill>
                      <a:srgbClr val="222831"/>
                    </a:solidFill>
                    <a:latin typeface="Times New Roman" panose="02020603050405020304" pitchFamily="18" charset="0"/>
                    <a:cs typeface="Times New Roman" panose="02020603050405020304" pitchFamily="18" charset="0"/>
                  </a:rPr>
                  <a:t>fig. (11):</a:t>
                </a:r>
              </a:p>
              <a:p>
                <a:pPr algn="just"/>
                <a:r>
                  <a:rPr lang="en-US" sz="1700" dirty="0">
                    <a:solidFill>
                      <a:srgbClr val="222831"/>
                    </a:solidFill>
                    <a:latin typeface="Times New Roman" panose="02020603050405020304" pitchFamily="18" charset="0"/>
                    <a:cs typeface="Times New Roman" panose="02020603050405020304" pitchFamily="18" charset="0"/>
                  </a:rPr>
                  <a:t>Since we have</a:t>
                </a:r>
              </a:p>
              <a:p>
                <a:pPr algn="just"/>
                <a:r>
                  <a:rPr lang="en-US" sz="1700" dirty="0">
                    <a:solidFill>
                      <a:srgbClr val="222831"/>
                    </a:solidFill>
                    <a:latin typeface="Times New Roman" panose="02020603050405020304" pitchFamily="18" charset="0"/>
                    <a:cs typeface="Times New Roman" panose="02020603050405020304" pitchFamily="18" charset="0"/>
                  </a:rPr>
                  <a:t>torque, radius, and</a:t>
                </a:r>
              </a:p>
              <a:p>
                <a:pPr algn="just"/>
                <a:r>
                  <a:rPr lang="en-US" sz="1700" dirty="0">
                    <a:solidFill>
                      <a:srgbClr val="222831"/>
                    </a:solidFill>
                    <a:latin typeface="Times New Roman" panose="02020603050405020304" pitchFamily="18" charset="0"/>
                    <a:cs typeface="Times New Roman" panose="02020603050405020304" pitchFamily="18" charset="0"/>
                  </a:rPr>
                  <a:t>Sine of theta</a:t>
                </a:r>
              </a:p>
              <a:p>
                <a:pPr algn="just"/>
                <a:r>
                  <a:rPr lang="en-US" sz="1700" dirty="0">
                    <a:solidFill>
                      <a:srgbClr val="222831"/>
                    </a:solidFill>
                    <a:latin typeface="Times New Roman" panose="02020603050405020304" pitchFamily="18" charset="0"/>
                    <a:cs typeface="Times New Roman" panose="02020603050405020304" pitchFamily="18" charset="0"/>
                  </a:rPr>
                  <a:t>We can obtain the force from the equation, then force formula is represented in </a:t>
                </a:r>
                <a:r>
                  <a:rPr lang="en-US" sz="1700" b="1" dirty="0">
                    <a:solidFill>
                      <a:srgbClr val="222831"/>
                    </a:solidFill>
                    <a:latin typeface="Times New Roman" panose="02020603050405020304" pitchFamily="18" charset="0"/>
                    <a:cs typeface="Times New Roman" panose="02020603050405020304" pitchFamily="18" charset="0"/>
                  </a:rPr>
                  <a:t>fig. (12). </a:t>
                </a:r>
                <a:r>
                  <a:rPr lang="en-US" sz="1700" dirty="0">
                    <a:solidFill>
                      <a:srgbClr val="222831"/>
                    </a:solidFill>
                    <a:latin typeface="Times New Roman" panose="02020603050405020304" pitchFamily="18" charset="0"/>
                    <a:cs typeface="Times New Roman" panose="02020603050405020304" pitchFamily="18" charset="0"/>
                  </a:rPr>
                  <a:t>Hence, force</a:t>
                </a:r>
              </a:p>
              <a:p>
                <a:pPr algn="just"/>
                <a:r>
                  <a:rPr lang="en-US" sz="1700" dirty="0">
                    <a:solidFill>
                      <a:srgbClr val="222831"/>
                    </a:solidFill>
                    <a:latin typeface="Times New Roman" panose="02020603050405020304" pitchFamily="18" charset="0"/>
                    <a:cs typeface="Times New Roman" panose="02020603050405020304" pitchFamily="18" charset="0"/>
                  </a:rPr>
                  <a:t>equal </a:t>
                </a:r>
                <a14:m>
                  <m:oMath xmlns:m="http://schemas.openxmlformats.org/officeDocument/2006/math">
                    <m:f>
                      <m:fPr>
                        <m:type m:val="lin"/>
                        <m:ctrlPr>
                          <a:rPr lang="en-US" sz="1700" b="1" i="1" dirty="0" smtClean="0">
                            <a:solidFill>
                              <a:srgbClr val="222831"/>
                            </a:solidFill>
                            <a:latin typeface="Cambria Math" panose="02040503050406030204" pitchFamily="18" charset="0"/>
                            <a:cs typeface="Times New Roman" panose="02020603050405020304" pitchFamily="18" charset="0"/>
                          </a:rPr>
                        </m:ctrlPr>
                      </m:fPr>
                      <m:num>
                        <m:r>
                          <a:rPr lang="en-US" sz="1700" b="1" i="1" dirty="0">
                            <a:solidFill>
                              <a:srgbClr val="222831"/>
                            </a:solidFill>
                            <a:latin typeface="Cambria Math" panose="02040503050406030204" pitchFamily="18" charset="0"/>
                            <a:cs typeface="Times New Roman" panose="02020603050405020304" pitchFamily="18" charset="0"/>
                          </a:rPr>
                          <m:t>𝟐</m:t>
                        </m:r>
                        <m:r>
                          <a:rPr lang="en-US" sz="1700" b="1" i="1" dirty="0">
                            <a:solidFill>
                              <a:srgbClr val="222831"/>
                            </a:solidFill>
                            <a:latin typeface="Cambria Math" panose="02040503050406030204" pitchFamily="18" charset="0"/>
                            <a:cs typeface="Times New Roman" panose="02020603050405020304" pitchFamily="18" charset="0"/>
                          </a:rPr>
                          <m:t>.</m:t>
                        </m:r>
                        <m:r>
                          <a:rPr lang="en-US" sz="1700" b="1" i="1" dirty="0">
                            <a:solidFill>
                              <a:srgbClr val="222831"/>
                            </a:solidFill>
                            <a:latin typeface="Cambria Math" panose="02040503050406030204" pitchFamily="18" charset="0"/>
                            <a:cs typeface="Times New Roman" panose="02020603050405020304" pitchFamily="18" charset="0"/>
                          </a:rPr>
                          <m:t>𝟒𝟓</m:t>
                        </m:r>
                        <m:r>
                          <a:rPr lang="en-US" sz="1700" b="1" i="1" dirty="0" smtClean="0">
                            <a:solidFill>
                              <a:srgbClr val="222831"/>
                            </a:solidFill>
                            <a:latin typeface="Cambria Math" panose="02040503050406030204" pitchFamily="18" charset="0"/>
                            <a:cs typeface="Times New Roman" panose="02020603050405020304" pitchFamily="18" charset="0"/>
                          </a:rPr>
                          <m:t> </m:t>
                        </m:r>
                        <m:r>
                          <m:rPr>
                            <m:nor/>
                          </m:rPr>
                          <a:rPr lang="en-US" sz="1700" b="1" i="1" dirty="0" smtClean="0">
                            <a:solidFill>
                              <a:srgbClr val="222831"/>
                            </a:solidFill>
                            <a:latin typeface="Times New Roman" panose="02020603050405020304" pitchFamily="18" charset="0"/>
                            <a:cs typeface="Times New Roman" panose="02020603050405020304" pitchFamily="18" charset="0"/>
                          </a:rPr>
                          <m:t>Nm</m:t>
                        </m:r>
                        <m:r>
                          <m:rPr>
                            <m:nor/>
                          </m:rPr>
                          <a:rPr lang="en-US" sz="1700" b="1" i="1" dirty="0">
                            <a:solidFill>
                              <a:srgbClr val="222831"/>
                            </a:solidFill>
                            <a:latin typeface="Times New Roman" panose="02020603050405020304" pitchFamily="18" charset="0"/>
                            <a:cs typeface="Times New Roman" panose="02020603050405020304" pitchFamily="18" charset="0"/>
                          </a:rPr>
                          <m:t> </m:t>
                        </m:r>
                      </m:num>
                      <m:den>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𝟖𝟓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𝒎</m:t>
                        </m:r>
                        <m:r>
                          <a:rPr lang="en-US" sz="1700" b="1" i="1" dirty="0" smtClean="0">
                            <a:solidFill>
                              <a:srgbClr val="222831"/>
                            </a:solidFill>
                            <a:latin typeface="Cambria Math" panose="02040503050406030204" pitchFamily="18" charset="0"/>
                            <a:cs typeface="Times New Roman" panose="02020603050405020304" pitchFamily="18" charset="0"/>
                          </a:rPr>
                          <m:t> ∙</m:t>
                        </m:r>
                        <m:func>
                          <m:funcPr>
                            <m:ctrlPr>
                              <a:rPr lang="en-US" sz="1700" b="1" i="1" dirty="0" smtClean="0">
                                <a:solidFill>
                                  <a:srgbClr val="222831"/>
                                </a:solidFill>
                                <a:latin typeface="Cambria Math" panose="02040503050406030204" pitchFamily="18" charset="0"/>
                                <a:ea typeface="Cambria Math" panose="02040503050406030204" pitchFamily="18" charset="0"/>
                                <a:cs typeface="Times New Roman" panose="02020603050405020304" pitchFamily="18" charset="0"/>
                              </a:rPr>
                            </m:ctrlPr>
                          </m:funcPr>
                          <m:fName>
                            <m:r>
                              <a:rPr lang="en-US" sz="1700" b="1" i="1" dirty="0" smtClean="0">
                                <a:solidFill>
                                  <a:srgbClr val="222831"/>
                                </a:solidFill>
                                <a:latin typeface="Cambria Math" panose="02040503050406030204" pitchFamily="18" charset="0"/>
                                <a:ea typeface="Cambria Math" panose="02040503050406030204" pitchFamily="18" charset="0"/>
                                <a:cs typeface="Times New Roman" panose="02020603050405020304" pitchFamily="18" charset="0"/>
                              </a:rPr>
                              <m:t>𝒔𝒊𝒏</m:t>
                            </m:r>
                          </m:fName>
                          <m:e>
                            <m:r>
                              <a:rPr lang="en-US" sz="1700" b="1" i="1" dirty="0" smtClean="0">
                                <a:solidFill>
                                  <a:srgbClr val="222831"/>
                                </a:solidFill>
                                <a:latin typeface="Cambria Math" panose="02040503050406030204" pitchFamily="18" charset="0"/>
                                <a:ea typeface="Cambria Math" panose="02040503050406030204" pitchFamily="18" charset="0"/>
                                <a:cs typeface="Times New Roman" panose="02020603050405020304" pitchFamily="18" charset="0"/>
                              </a:rPr>
                              <m:t>𝟗𝟎</m:t>
                            </m:r>
                            <m:r>
                              <a:rPr lang="en-US" sz="1700" b="1" i="1" dirty="0" smtClean="0">
                                <a:solidFill>
                                  <a:srgbClr val="222831"/>
                                </a:solidFill>
                                <a:latin typeface="Cambria Math" panose="02040503050406030204" pitchFamily="18" charset="0"/>
                                <a:ea typeface="Cambria Math" panose="02040503050406030204" pitchFamily="18" charset="0"/>
                                <a:cs typeface="Times New Roman" panose="02020603050405020304" pitchFamily="18" charset="0"/>
                              </a:rPr>
                              <m:t> °</m:t>
                            </m:r>
                          </m:e>
                        </m:func>
                      </m:den>
                    </m:f>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𝟐</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𝟖𝟖</m:t>
                    </m:r>
                    <m:r>
                      <m:rPr>
                        <m:nor/>
                      </m:rPr>
                      <a:rPr lang="en-US" sz="1700" b="1" i="1" dirty="0" smtClean="0">
                        <a:solidFill>
                          <a:srgbClr val="222831"/>
                        </a:solidFill>
                        <a:latin typeface="Times New Roman" panose="02020603050405020304" pitchFamily="18" charset="0"/>
                        <a:cs typeface="Times New Roman" panose="02020603050405020304" pitchFamily="18" charset="0"/>
                      </a:rPr>
                      <m:t> </m:t>
                    </m:r>
                    <m:r>
                      <m:rPr>
                        <m:nor/>
                      </m:rPr>
                      <a:rPr lang="en-US" sz="1700" b="1" i="1" dirty="0">
                        <a:solidFill>
                          <a:srgbClr val="222831"/>
                        </a:solidFill>
                        <a:latin typeface="Times New Roman" panose="02020603050405020304" pitchFamily="18" charset="0"/>
                        <a:cs typeface="Times New Roman" panose="02020603050405020304" pitchFamily="18" charset="0"/>
                      </a:rPr>
                      <m:t>N</m:t>
                    </m:r>
                  </m:oMath>
                </a14:m>
                <a:r>
                  <a:rPr lang="en-US" sz="1700" b="1" i="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this represents the force of one motor.</a:t>
                </a:r>
              </a:p>
              <a:p>
                <a:pPr algn="just"/>
                <a:r>
                  <a:rPr lang="en-US" sz="1700" b="1" i="1" dirty="0">
                    <a:solidFill>
                      <a:srgbClr val="222831"/>
                    </a:solidFill>
                    <a:latin typeface="Times New Roman" panose="02020603050405020304" pitchFamily="18" charset="0"/>
                    <a:cs typeface="Times New Roman" panose="02020603050405020304" pitchFamily="18" charset="0"/>
                  </a:rPr>
                  <a:t>The total force of the two motors is 5.765</a:t>
                </a:r>
                <a14:m>
                  <m:oMath xmlns:m="http://schemas.openxmlformats.org/officeDocument/2006/math">
                    <m:r>
                      <m:rPr>
                        <m:nor/>
                      </m:rPr>
                      <a:rPr lang="en-US" sz="1700" b="1" i="1" dirty="0" smtClean="0">
                        <a:solidFill>
                          <a:srgbClr val="222831"/>
                        </a:solidFill>
                        <a:latin typeface="Times New Roman" panose="02020603050405020304" pitchFamily="18" charset="0"/>
                        <a:cs typeface="Times New Roman" panose="02020603050405020304" pitchFamily="18" charset="0"/>
                      </a:rPr>
                      <m:t>N</m:t>
                    </m:r>
                  </m:oMath>
                </a14:m>
                <a:r>
                  <a:rPr lang="en-US" sz="1700" b="1" i="1" dirty="0">
                    <a:solidFill>
                      <a:srgbClr val="222831"/>
                    </a:solidFill>
                    <a:latin typeface="Times New Roman" panose="02020603050405020304" pitchFamily="18" charset="0"/>
                    <a:cs typeface="Times New Roman" panose="02020603050405020304" pitchFamily="18" charset="0"/>
                  </a:rPr>
                  <a:t> </a:t>
                </a:r>
              </a:p>
              <a:p>
                <a:pPr algn="just"/>
                <a:r>
                  <a:rPr lang="en-US" sz="1700" b="1" i="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For a  bridge, </a:t>
                </a:r>
                <a:r>
                  <a:rPr lang="en-US" sz="1700" b="1" dirty="0">
                    <a:solidFill>
                      <a:srgbClr val="222831"/>
                    </a:solidFill>
                    <a:latin typeface="Times New Roman" panose="02020603050405020304" pitchFamily="18" charset="0"/>
                    <a:cs typeface="Times New Roman" panose="02020603050405020304" pitchFamily="18" charset="0"/>
                  </a:rPr>
                  <a:t>angular velocity </a:t>
                </a:r>
                <a:r>
                  <a:rPr lang="en-US" sz="1700" dirty="0">
                    <a:solidFill>
                      <a:srgbClr val="222831"/>
                    </a:solidFill>
                    <a:latin typeface="Times New Roman" panose="02020603050405020304" pitchFamily="18" charset="0"/>
                    <a:cs typeface="Times New Roman" panose="02020603050405020304" pitchFamily="18" charset="0"/>
                  </a:rPr>
                  <a:t>is vital to determining the speed of rotation.</a:t>
                </a:r>
              </a:p>
              <a:p>
                <a:pPr algn="just"/>
                <a:r>
                  <a:rPr lang="en-US" sz="1700" dirty="0">
                    <a:solidFill>
                      <a:srgbClr val="222831"/>
                    </a:solidFill>
                    <a:latin typeface="Times New Roman" panose="02020603050405020304" pitchFamily="18" charset="0"/>
                    <a:cs typeface="Times New Roman" panose="02020603050405020304" pitchFamily="18" charset="0"/>
                  </a:rPr>
                  <a:t>around  the axis how quickly the bridge opens and closes. To calculate the angular</a:t>
                </a:r>
              </a:p>
              <a:p>
                <a:pPr algn="just"/>
                <a:r>
                  <a:rPr lang="en-US" sz="1700" dirty="0">
                    <a:solidFill>
                      <a:srgbClr val="222831"/>
                    </a:solidFill>
                    <a:latin typeface="Times New Roman" panose="02020603050405020304" pitchFamily="18" charset="0"/>
                    <a:cs typeface="Times New Roman" panose="02020603050405020304" pitchFamily="18" charset="0"/>
                  </a:rPr>
                  <a:t>Velocity We should calculate </a:t>
                </a:r>
                <a:r>
                  <a:rPr lang="en-US" sz="1700" b="1" dirty="0">
                    <a:solidFill>
                      <a:srgbClr val="222831"/>
                    </a:solidFill>
                    <a:latin typeface="Times New Roman" panose="02020603050405020304" pitchFamily="18" charset="0"/>
                    <a:cs typeface="Times New Roman" panose="02020603050405020304" pitchFamily="18" charset="0"/>
                  </a:rPr>
                  <a:t>velocity</a:t>
                </a:r>
                <a:r>
                  <a:rPr lang="en-US" sz="1700" dirty="0">
                    <a:solidFill>
                      <a:srgbClr val="222831"/>
                    </a:solidFill>
                    <a:latin typeface="Times New Roman" panose="02020603050405020304" pitchFamily="18" charset="0"/>
                    <a:cs typeface="Times New Roman" panose="02020603050405020304" pitchFamily="18" charset="0"/>
                  </a:rPr>
                  <a:t> as shown in </a:t>
                </a:r>
                <a:r>
                  <a:rPr lang="en-US" sz="1700" b="1" dirty="0">
                    <a:solidFill>
                      <a:srgbClr val="222831"/>
                    </a:solidFill>
                    <a:latin typeface="Times New Roman" panose="02020603050405020304" pitchFamily="18" charset="0"/>
                    <a:cs typeface="Times New Roman" panose="02020603050405020304" pitchFamily="18" charset="0"/>
                  </a:rPr>
                  <a:t>fig. (13). </a:t>
                </a:r>
                <a:r>
                  <a:rPr lang="en-US" sz="1700" dirty="0">
                    <a:solidFill>
                      <a:srgbClr val="222831"/>
                    </a:solidFill>
                    <a:latin typeface="Times New Roman" panose="02020603050405020304" pitchFamily="18" charset="0"/>
                    <a:cs typeface="Times New Roman" panose="02020603050405020304" pitchFamily="18" charset="0"/>
                  </a:rPr>
                  <a:t>The displacement represents</a:t>
                </a:r>
              </a:p>
              <a:p>
                <a:pPr algn="just"/>
                <a:r>
                  <a:rPr lang="en-US" sz="1700" dirty="0">
                    <a:solidFill>
                      <a:srgbClr val="222831"/>
                    </a:solidFill>
                    <a:latin typeface="Times New Roman" panose="02020603050405020304" pitchFamily="18" charset="0"/>
                    <a:cs typeface="Times New Roman" panose="02020603050405020304" pitchFamily="18" charset="0"/>
                  </a:rPr>
                  <a:t>the distance between the bridge when at rest and when opened, to calculate this </a:t>
                </a:r>
              </a:p>
              <a:p>
                <a:pPr algn="just"/>
                <a:r>
                  <a:rPr lang="en-US" sz="1700" dirty="0">
                    <a:solidFill>
                      <a:srgbClr val="222831"/>
                    </a:solidFill>
                    <a:latin typeface="Times New Roman" panose="02020603050405020304" pitchFamily="18" charset="0"/>
                    <a:cs typeface="Times New Roman" panose="02020603050405020304" pitchFamily="18" charset="0"/>
                  </a:rPr>
                  <a:t>distance we need to calculate the arc, its formula is represented in </a:t>
                </a:r>
                <a:r>
                  <a:rPr lang="en-US" sz="1700" b="1" dirty="0">
                    <a:solidFill>
                      <a:srgbClr val="222831"/>
                    </a:solidFill>
                    <a:latin typeface="Times New Roman" panose="02020603050405020304" pitchFamily="18" charset="0"/>
                    <a:cs typeface="Times New Roman" panose="02020603050405020304" pitchFamily="18" charset="0"/>
                  </a:rPr>
                  <a:t>fig. (14)</a:t>
                </a:r>
              </a:p>
              <a:p>
                <a:pPr algn="just"/>
                <a14:m>
                  <m:oMath xmlns:m="http://schemas.openxmlformats.org/officeDocument/2006/math">
                    <m:r>
                      <m:rPr>
                        <m:nor/>
                      </m:rPr>
                      <a:rPr lang="pt-BR" sz="1700" b="1" i="1" smtClean="0">
                        <a:solidFill>
                          <a:srgbClr val="222831"/>
                        </a:solidFill>
                        <a:latin typeface="Times New Roman" panose="02020603050405020304" pitchFamily="18" charset="0"/>
                        <a:cs typeface="Times New Roman" panose="02020603050405020304" pitchFamily="18" charset="0"/>
                      </a:rPr>
                      <m:t>r</m:t>
                    </m:r>
                  </m:oMath>
                </a14:m>
                <a:r>
                  <a:rPr lang="en-US" sz="1700" dirty="0">
                    <a:solidFill>
                      <a:srgbClr val="222831"/>
                    </a:solidFill>
                    <a:latin typeface="Times New Roman" panose="02020603050405020304" pitchFamily="18" charset="0"/>
                    <a:cs typeface="Times New Roman" panose="02020603050405020304" pitchFamily="18" charset="0"/>
                  </a:rPr>
                  <a:t>  represents here the distance of the movable part, which is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𝟑𝟎</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m:t>
                    </m:r>
                    <m:r>
                      <a:rPr lang="en-US" sz="1700" b="1" i="1" dirty="0">
                        <a:solidFill>
                          <a:srgbClr val="222831"/>
                        </a:solidFill>
                        <a:latin typeface="Cambria Math" panose="02040503050406030204" pitchFamily="18" charset="0"/>
                        <a:cs typeface="Times New Roman" panose="02020603050405020304" pitchFamily="18" charset="0"/>
                      </a:rPr>
                      <m:t>𝒎</m:t>
                    </m:r>
                  </m:oMath>
                </a14:m>
                <a:r>
                  <a:rPr lang="en-US" sz="1700" dirty="0">
                    <a:solidFill>
                      <a:srgbClr val="222831"/>
                    </a:solidFill>
                    <a:latin typeface="Times New Roman" panose="02020603050405020304" pitchFamily="18" charset="0"/>
                    <a:cs typeface="Times New Roman" panose="02020603050405020304" pitchFamily="18" charset="0"/>
                  </a:rPr>
                  <a:t>, then arc length.</a:t>
                </a:r>
              </a:p>
              <a:p>
                <a:pPr algn="just"/>
                <a:r>
                  <a:rPr lang="en-US" sz="1700" dirty="0">
                    <a:solidFill>
                      <a:srgbClr val="222831"/>
                    </a:solidFill>
                    <a:latin typeface="Times New Roman" panose="02020603050405020304" pitchFamily="18" charset="0"/>
                    <a:cs typeface="Times New Roman" panose="02020603050405020304" pitchFamily="18" charset="0"/>
                  </a:rPr>
                  <a:t>=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𝟑𝟗</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𝟐𝟕</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m:t>
                    </m:r>
                    <m:r>
                      <a:rPr lang="en-US" sz="1700" b="1" i="1" dirty="0">
                        <a:solidFill>
                          <a:srgbClr val="222831"/>
                        </a:solidFill>
                        <a:latin typeface="Cambria Math" panose="02040503050406030204" pitchFamily="18" charset="0"/>
                        <a:cs typeface="Times New Roman" panose="02020603050405020304" pitchFamily="18" charset="0"/>
                      </a:rPr>
                      <m:t>𝒎</m:t>
                    </m:r>
                    <m:r>
                      <a:rPr lang="en-US" sz="1700" b="1" i="1" dirty="0" smtClean="0">
                        <a:solidFill>
                          <a:srgbClr val="222831"/>
                        </a:solidFill>
                        <a:latin typeface="Cambria Math" panose="02040503050406030204" pitchFamily="18" charset="0"/>
                        <a:cs typeface="Times New Roman" panose="02020603050405020304" pitchFamily="18" charset="0"/>
                      </a:rPr>
                      <m:t>,</m:t>
                    </m:r>
                  </m:oMath>
                </a14:m>
                <a:r>
                  <a:rPr lang="en-US" sz="1700" dirty="0">
                    <a:solidFill>
                      <a:srgbClr val="222831"/>
                    </a:solidFill>
                    <a:latin typeface="Times New Roman" panose="02020603050405020304" pitchFamily="18" charset="0"/>
                    <a:cs typeface="Times New Roman" panose="02020603050405020304" pitchFamily="18" charset="0"/>
                  </a:rPr>
                  <a:t> hence velocity equals </a:t>
                </a:r>
                <a14:m>
                  <m:oMath xmlns:m="http://schemas.openxmlformats.org/officeDocument/2006/math">
                    <m:f>
                      <m:fPr>
                        <m:type m:val="lin"/>
                        <m:ctrlPr>
                          <a:rPr lang="en-US" sz="1700" b="1" i="1">
                            <a:solidFill>
                              <a:srgbClr val="222831"/>
                            </a:solidFill>
                            <a:latin typeface="Cambria Math" panose="02040503050406030204" pitchFamily="18" charset="0"/>
                            <a:cs typeface="Times New Roman" panose="02020603050405020304" pitchFamily="18" charset="0"/>
                          </a:rPr>
                        </m:ctrlPr>
                      </m:fPr>
                      <m:num>
                        <m:r>
                          <a:rPr lang="en-US" sz="1700" b="1" i="1">
                            <a:solidFill>
                              <a:srgbClr val="222831"/>
                            </a:solidFill>
                            <a:latin typeface="Cambria Math" panose="02040503050406030204" pitchFamily="18" charset="0"/>
                            <a:cs typeface="Times New Roman" panose="02020603050405020304" pitchFamily="18" charset="0"/>
                          </a:rPr>
                          <m:t>𝟑𝟗</m:t>
                        </m:r>
                        <m:r>
                          <a:rPr lang="en-US" sz="1700" b="1" i="1" smtClean="0">
                            <a:solidFill>
                              <a:srgbClr val="222831"/>
                            </a:solidFill>
                            <a:latin typeface="Cambria Math" panose="02040503050406030204" pitchFamily="18" charset="0"/>
                            <a:cs typeface="Times New Roman" panose="02020603050405020304" pitchFamily="18" charset="0"/>
                          </a:rPr>
                          <m:t>.</m:t>
                        </m:r>
                        <m:r>
                          <a:rPr lang="en-US" sz="1700" b="1" i="1">
                            <a:solidFill>
                              <a:srgbClr val="222831"/>
                            </a:solidFill>
                            <a:latin typeface="Cambria Math" panose="02040503050406030204" pitchFamily="18" charset="0"/>
                            <a:cs typeface="Times New Roman" panose="02020603050405020304" pitchFamily="18" charset="0"/>
                          </a:rPr>
                          <m:t>𝟐𝟕</m:t>
                        </m:r>
                      </m:num>
                      <m:den>
                        <m:r>
                          <a:rPr lang="en-US" sz="1700" b="1" i="1">
                            <a:solidFill>
                              <a:srgbClr val="222831"/>
                            </a:solidFill>
                            <a:latin typeface="Cambria Math" panose="02040503050406030204" pitchFamily="18" charset="0"/>
                            <a:cs typeface="Times New Roman" panose="02020603050405020304" pitchFamily="18" charset="0"/>
                          </a:rPr>
                          <m:t>𝟏𝟎</m:t>
                        </m:r>
                        <m:r>
                          <a:rPr lang="en-US" sz="1700" b="1" i="1">
                            <a:solidFill>
                              <a:srgbClr val="222831"/>
                            </a:solidFill>
                            <a:latin typeface="Cambria Math" panose="02040503050406030204" pitchFamily="18" charset="0"/>
                            <a:cs typeface="Times New Roman" panose="02020603050405020304" pitchFamily="18" charset="0"/>
                          </a:rPr>
                          <m:t>.</m:t>
                        </m:r>
                        <m:r>
                          <a:rPr lang="en-US" sz="1700" b="1" i="1">
                            <a:solidFill>
                              <a:srgbClr val="222831"/>
                            </a:solidFill>
                            <a:latin typeface="Cambria Math" panose="02040503050406030204" pitchFamily="18" charset="0"/>
                            <a:cs typeface="Times New Roman" panose="02020603050405020304" pitchFamily="18" charset="0"/>
                          </a:rPr>
                          <m:t>𝟎𝟑</m:t>
                        </m:r>
                      </m:den>
                    </m:f>
                  </m:oMath>
                </a14:m>
                <a:r>
                  <a:rPr lang="en-US" sz="1700" b="1" i="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equals </a:t>
                </a:r>
                <a:r>
                  <a:rPr lang="en-US" sz="1700" b="1" dirty="0">
                    <a:solidFill>
                      <a:srgbClr val="222831"/>
                    </a:solidFill>
                    <a:latin typeface="Times New Roman" panose="02020603050405020304" pitchFamily="18" charset="0"/>
                    <a:cs typeface="Times New Roman" panose="02020603050405020304" pitchFamily="18" charset="0"/>
                  </a:rPr>
                  <a:t>3.915 m/sec .</a:t>
                </a:r>
              </a:p>
              <a:p>
                <a:pPr algn="just"/>
                <a:r>
                  <a:rPr lang="en-US" sz="1700" b="1" dirty="0">
                    <a:solidFill>
                      <a:srgbClr val="222831"/>
                    </a:solidFill>
                    <a:latin typeface="Times New Roman" panose="02020603050405020304" pitchFamily="18" charset="0"/>
                    <a:cs typeface="Times New Roman" panose="02020603050405020304" pitchFamily="18" charset="0"/>
                  </a:rPr>
                  <a:t>Angular velocity</a:t>
                </a:r>
                <a:r>
                  <a:rPr lang="en-US" sz="1700" dirty="0">
                    <a:solidFill>
                      <a:srgbClr val="222831"/>
                    </a:solidFill>
                    <a:latin typeface="Times New Roman" panose="02020603050405020304" pitchFamily="18" charset="0"/>
                    <a:cs typeface="Times New Roman" panose="02020603050405020304" pitchFamily="18" charset="0"/>
                  </a:rPr>
                  <a:t> should be calculated by linear velocity over radius of </a:t>
                </a:r>
              </a:p>
              <a:p>
                <a:pPr algn="just"/>
                <a:r>
                  <a:rPr lang="en-US" sz="1700" dirty="0">
                    <a:solidFill>
                      <a:srgbClr val="222831"/>
                    </a:solidFill>
                    <a:latin typeface="Times New Roman" panose="02020603050405020304" pitchFamily="18" charset="0"/>
                    <a:cs typeface="Times New Roman" panose="02020603050405020304" pitchFamily="18" charset="0"/>
                  </a:rPr>
                  <a:t>circle. velocity equals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𝟗𝟏𝟓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𝒎</m:t>
                    </m:r>
                    <m:r>
                      <a:rPr lang="en-US" sz="1700" b="1" i="1" dirty="0" smtClean="0">
                        <a:solidFill>
                          <a:srgbClr val="222831"/>
                        </a:solidFill>
                        <a:latin typeface="Cambria Math" panose="02040503050406030204" pitchFamily="18" charset="0"/>
                        <a:cs typeface="Times New Roman" panose="02020603050405020304" pitchFamily="18" charset="0"/>
                      </a:rPr>
                      <m:t>/</m:t>
                    </m:r>
                  </m:oMath>
                </a14:m>
                <a:r>
                  <a:rPr lang="en-US" sz="1700" b="1" i="0" dirty="0">
                    <a:solidFill>
                      <a:srgbClr val="222831"/>
                    </a:solidFill>
                    <a:latin typeface="Times New Roman" panose="02020603050405020304" pitchFamily="18" charset="0"/>
                    <a:cs typeface="Times New Roman" panose="02020603050405020304" pitchFamily="18" charset="0"/>
                  </a:rPr>
                  <a:t>sec</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m:t>
                    </m:r>
                  </m:oMath>
                </a14:m>
                <a:r>
                  <a:rPr lang="en-US" sz="1700" dirty="0">
                    <a:solidFill>
                      <a:srgbClr val="222831"/>
                    </a:solidFill>
                    <a:latin typeface="Times New Roman" panose="02020603050405020304" pitchFamily="18" charset="0"/>
                    <a:cs typeface="Times New Roman" panose="02020603050405020304" pitchFamily="18" charset="0"/>
                  </a:rPr>
                  <a:t>and radius is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oMath>
                </a14:m>
                <a:r>
                  <a:rPr lang="en-US" sz="1700" b="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then angular </a:t>
                </a:r>
              </a:p>
              <a:p>
                <a:pPr algn="just"/>
                <a:r>
                  <a:rPr lang="en-US" sz="1700" dirty="0">
                    <a:solidFill>
                      <a:srgbClr val="222831"/>
                    </a:solidFill>
                    <a:latin typeface="Times New Roman" panose="02020603050405020304" pitchFamily="18" charset="0"/>
                    <a:cs typeface="Times New Roman" panose="02020603050405020304" pitchFamily="18" charset="0"/>
                  </a:rPr>
                  <a:t>velocity equals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𝟏𝟑𝟎𝟓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𝒓𝒂𝒅</m:t>
                    </m:r>
                    <m:r>
                      <a:rPr lang="en-US" sz="1700" b="1" i="1" dirty="0" smtClean="0">
                        <a:solidFill>
                          <a:srgbClr val="222831"/>
                        </a:solidFill>
                        <a:latin typeface="Cambria Math" panose="02040503050406030204" pitchFamily="18" charset="0"/>
                        <a:cs typeface="Times New Roman" panose="02020603050405020304" pitchFamily="18" charset="0"/>
                      </a:rPr>
                      <m:t> / </m:t>
                    </m:r>
                  </m:oMath>
                </a14:m>
                <a:r>
                  <a:rPr lang="en-US" sz="1700" b="1" i="1" dirty="0">
                    <a:solidFill>
                      <a:srgbClr val="222831"/>
                    </a:solidFill>
                    <a:latin typeface="Times New Roman" panose="02020603050405020304" pitchFamily="18" charset="0"/>
                    <a:cs typeface="Times New Roman" panose="02020603050405020304" pitchFamily="18" charset="0"/>
                  </a:rPr>
                  <a:t>sec</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m:t>
                    </m:r>
                  </m:oMath>
                </a14:m>
                <a:r>
                  <a:rPr lang="en-US" sz="1700" b="1"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angular formulas have been represented </a:t>
                </a:r>
                <a:r>
                  <a:rPr lang="en-US" sz="1700" b="1" dirty="0">
                    <a:solidFill>
                      <a:srgbClr val="222831"/>
                    </a:solidFill>
                    <a:latin typeface="Times New Roman" panose="02020603050405020304" pitchFamily="18" charset="0"/>
                    <a:cs typeface="Times New Roman" panose="02020603050405020304" pitchFamily="18" charset="0"/>
                  </a:rPr>
                  <a:t> fig. (15)</a:t>
                </a:r>
              </a:p>
              <a:p>
                <a:pPr algn="just"/>
                <a:r>
                  <a:rPr lang="en-US" sz="1700" dirty="0">
                    <a:solidFill>
                      <a:srgbClr val="222831"/>
                    </a:solidFill>
                    <a:latin typeface="Times New Roman" panose="02020603050405020304" pitchFamily="18" charset="0"/>
                    <a:cs typeface="Times New Roman" panose="02020603050405020304" pitchFamily="18" charset="0"/>
                  </a:rPr>
                  <a:t>	Our bridge managed to cause a deflection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smtClean="0">
                        <a:solidFill>
                          <a:srgbClr val="222831"/>
                        </a:solidFill>
                        <a:latin typeface="Cambria Math" panose="02040503050406030204" pitchFamily="18" charset="0"/>
                        <a:cs typeface="Times New Roman" panose="02020603050405020304" pitchFamily="18" charset="0"/>
                      </a:rPr>
                      <m:t> ± </m:t>
                    </m:r>
                    <m:r>
                      <a:rPr lang="en-US" sz="1700" b="1" i="1" dirty="0" smtClean="0">
                        <a:solidFill>
                          <a:srgbClr val="222831"/>
                        </a:solidFill>
                        <a:latin typeface="Cambria Math" panose="02040503050406030204" pitchFamily="18" charset="0"/>
                        <a:cs typeface="Times New Roman" panose="02020603050405020304" pitchFamily="18" charset="0"/>
                      </a:rPr>
                      <m:t>𝟎</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r>
                      <a:rPr lang="en-US" sz="1700"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when laying</a:t>
                </a:r>
              </a:p>
              <a:p>
                <a:pPr algn="just"/>
                <a:r>
                  <a:rPr lang="en-US" sz="1700" dirty="0">
                    <a:solidFill>
                      <a:srgbClr val="222831"/>
                    </a:solidFill>
                    <a:latin typeface="Times New Roman" panose="02020603050405020304" pitchFamily="18" charset="0"/>
                    <a:cs typeface="Times New Roman" panose="02020603050405020304" pitchFamily="18" charset="0"/>
                  </a:rPr>
                  <a:t>a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𝒌𝒈</m:t>
                    </m:r>
                    <m:r>
                      <a:rPr lang="en-US" sz="1700" b="1" i="1" dirty="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weight, so we want to know the maximum deflection of the</a:t>
                </a:r>
              </a:p>
              <a:p>
                <a:pPr algn="just"/>
                <a:r>
                  <a:rPr lang="en-US" sz="1700" dirty="0">
                    <a:solidFill>
                      <a:srgbClr val="222831"/>
                    </a:solidFill>
                    <a:latin typeface="Times New Roman" panose="02020603050405020304" pitchFamily="18" charset="0"/>
                    <a:cs typeface="Times New Roman" panose="02020603050405020304" pitchFamily="18" charset="0"/>
                  </a:rPr>
                  <a:t>bridge we can use a statistical method called linear regression to predict the</a:t>
                </a:r>
              </a:p>
              <a:p>
                <a:pPr algn="just"/>
                <a:r>
                  <a:rPr lang="en-US" sz="1700" dirty="0">
                    <a:solidFill>
                      <a:srgbClr val="222831"/>
                    </a:solidFill>
                    <a:latin typeface="Times New Roman" panose="02020603050405020304" pitchFamily="18" charset="0"/>
                    <a:cs typeface="Times New Roman" panose="02020603050405020304" pitchFamily="18" charset="0"/>
                  </a:rPr>
                  <a:t>maximum deflection. We can predict the </a:t>
                </a:r>
                <a:r>
                  <a:rPr lang="en-US" sz="1700" b="1" dirty="0">
                    <a:solidFill>
                      <a:srgbClr val="222831"/>
                    </a:solidFill>
                    <a:latin typeface="Times New Roman" panose="02020603050405020304" pitchFamily="18" charset="0"/>
                    <a:cs typeface="Times New Roman" panose="02020603050405020304" pitchFamily="18" charset="0"/>
                  </a:rPr>
                  <a:t>y</a:t>
                </a:r>
                <a:r>
                  <a:rPr lang="en-US" sz="1700" dirty="0">
                    <a:solidFill>
                      <a:srgbClr val="222831"/>
                    </a:solidFill>
                    <a:latin typeface="Times New Roman" panose="02020603050405020304" pitchFamily="18" charset="0"/>
                    <a:cs typeface="Times New Roman" panose="02020603050405020304" pitchFamily="18" charset="0"/>
                  </a:rPr>
                  <a:t> value (deflection) with 3 equations</a:t>
                </a:r>
              </a:p>
              <a:p>
                <a:pPr algn="just"/>
                <a:r>
                  <a:rPr lang="en-US" sz="1700" dirty="0">
                    <a:solidFill>
                      <a:srgbClr val="222831"/>
                    </a:solidFill>
                    <a:latin typeface="Times New Roman" panose="02020603050405020304" pitchFamily="18" charset="0"/>
                    <a:cs typeface="Times New Roman" panose="02020603050405020304" pitchFamily="18" charset="0"/>
                  </a:rPr>
                  <a:t>represented in </a:t>
                </a:r>
                <a:r>
                  <a:rPr lang="en-US" sz="1700" b="1" dirty="0">
                    <a:solidFill>
                      <a:srgbClr val="222831"/>
                    </a:solidFill>
                    <a:latin typeface="Times New Roman" panose="02020603050405020304" pitchFamily="18" charset="0"/>
                    <a:cs typeface="Times New Roman" panose="02020603050405020304" pitchFamily="18" charset="0"/>
                  </a:rPr>
                  <a:t>fig. (16). </a:t>
                </a:r>
                <a14:m>
                  <m:oMath xmlns:m="http://schemas.openxmlformats.org/officeDocument/2006/math">
                    <m:r>
                      <a:rPr lang="en-US" sz="1700" b="1" i="1" smtClean="0">
                        <a:solidFill>
                          <a:srgbClr val="000000"/>
                        </a:solidFill>
                        <a:latin typeface="Cambria Math" panose="02040503050406030204" pitchFamily="18" charset="0"/>
                      </a:rPr>
                      <m:t>𝒎</m:t>
                    </m:r>
                  </m:oMath>
                </a14:m>
                <a:r>
                  <a:rPr lang="en-US" sz="1700" dirty="0">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represents the slope while </a:t>
                </a:r>
                <a14:m>
                  <m:oMath xmlns:m="http://schemas.openxmlformats.org/officeDocument/2006/math">
                    <m:r>
                      <a:rPr lang="en-US" sz="1700" b="1" i="1">
                        <a:solidFill>
                          <a:srgbClr val="000000"/>
                        </a:solidFill>
                        <a:latin typeface="Cambria Math" panose="02040503050406030204" pitchFamily="18" charset="0"/>
                      </a:rPr>
                      <m:t>𝒃</m:t>
                    </m:r>
                  </m:oMath>
                </a14:m>
                <a:r>
                  <a:rPr lang="en-US" sz="1700" dirty="0">
                    <a:solidFill>
                      <a:srgbClr val="222831"/>
                    </a:solidFill>
                    <a:latin typeface="Times New Roman" panose="02020603050405020304" pitchFamily="18" charset="0"/>
                    <a:cs typeface="Times New Roman" panose="02020603050405020304" pitchFamily="18" charset="0"/>
                  </a:rPr>
                  <a:t> represents</a:t>
                </a:r>
              </a:p>
              <a:p>
                <a:pPr algn="just"/>
                <a:r>
                  <a:rPr lang="en-US" sz="1700" dirty="0">
                    <a:solidFill>
                      <a:srgbClr val="222831"/>
                    </a:solidFill>
                    <a:latin typeface="Times New Roman" panose="02020603050405020304" pitchFamily="18" charset="0"/>
                    <a:cs typeface="Times New Roman" panose="02020603050405020304" pitchFamily="18" charset="0"/>
                  </a:rPr>
                  <a:t>the y-intercept.</a:t>
                </a:r>
              </a:p>
              <a:p>
                <a:pPr algn="just"/>
                <a:r>
                  <a:rPr lang="en-US" sz="1700" dirty="0">
                    <a:solidFill>
                      <a:srgbClr val="222831"/>
                    </a:solidFill>
                    <a:latin typeface="Times New Roman" panose="02020603050405020304" pitchFamily="18" charset="0"/>
                    <a:cs typeface="Times New Roman" panose="02020603050405020304" pitchFamily="18" charset="0"/>
                  </a:rPr>
                  <a:t>after importing</a:t>
                </a:r>
              </a:p>
              <a:p>
                <a:pPr algn="just"/>
                <a:r>
                  <a:rPr lang="en-US" sz="1700" dirty="0">
                    <a:solidFill>
                      <a:srgbClr val="222831"/>
                    </a:solidFill>
                    <a:latin typeface="Times New Roman" panose="02020603050405020304" pitchFamily="18" charset="0"/>
                    <a:cs typeface="Times New Roman" panose="02020603050405020304" pitchFamily="18" charset="0"/>
                  </a:rPr>
                  <a:t>the values</a:t>
                </a:r>
              </a:p>
              <a:p>
                <a:pPr algn="just"/>
                <a:r>
                  <a:rPr lang="en-US" sz="1700" b="1" dirty="0">
                    <a:solidFill>
                      <a:srgbClr val="222831"/>
                    </a:solidFill>
                    <a:latin typeface="Times New Roman" panose="02020603050405020304" pitchFamily="18" charset="0"/>
                    <a:cs typeface="Times New Roman" panose="02020603050405020304" pitchFamily="18" charset="0"/>
                  </a:rPr>
                  <a:t>fig. (7) </a:t>
                </a:r>
                <a:r>
                  <a:rPr lang="en-US" sz="1700" dirty="0">
                    <a:solidFill>
                      <a:srgbClr val="222831"/>
                    </a:solidFill>
                    <a:latin typeface="Times New Roman" panose="02020603050405020304" pitchFamily="18" charset="0"/>
                    <a:cs typeface="Times New Roman" panose="02020603050405020304" pitchFamily="18" charset="0"/>
                  </a:rPr>
                  <a:t>to those</a:t>
                </a:r>
              </a:p>
              <a:p>
                <a:pPr algn="just"/>
                <a:r>
                  <a:rPr lang="en-US" sz="1700" dirty="0">
                    <a:solidFill>
                      <a:srgbClr val="222831"/>
                    </a:solidFill>
                    <a:latin typeface="Times New Roman" panose="02020603050405020304" pitchFamily="18" charset="0"/>
                    <a:cs typeface="Times New Roman" panose="02020603050405020304" pitchFamily="18" charset="0"/>
                  </a:rPr>
                  <a:t>equations, we</a:t>
                </a:r>
              </a:p>
              <a:p>
                <a:pPr algn="just"/>
                <a:r>
                  <a:rPr lang="en-US" sz="1700" dirty="0">
                    <a:solidFill>
                      <a:srgbClr val="222831"/>
                    </a:solidFill>
                    <a:latin typeface="Times New Roman" panose="02020603050405020304" pitchFamily="18" charset="0"/>
                    <a:cs typeface="Times New Roman" panose="02020603050405020304" pitchFamily="18" charset="0"/>
                  </a:rPr>
                  <a:t>could figure out the</a:t>
                </a:r>
              </a:p>
              <a:p>
                <a:pPr algn="just"/>
                <a:r>
                  <a:rPr lang="en-US" sz="1700" dirty="0">
                    <a:solidFill>
                      <a:srgbClr val="222831"/>
                    </a:solidFill>
                    <a:latin typeface="Times New Roman" panose="02020603050405020304" pitchFamily="18" charset="0"/>
                    <a:cs typeface="Times New Roman" panose="02020603050405020304" pitchFamily="18" charset="0"/>
                  </a:rPr>
                  <a:t>slope and y-interception and award us the following.</a:t>
                </a:r>
              </a:p>
              <a:p>
                <a:pPr algn="just"/>
                <a:endParaRPr lang="en-US" sz="1700" dirty="0">
                  <a:solidFill>
                    <a:srgbClr val="222831"/>
                  </a:solidFill>
                  <a:latin typeface="Times New Roman" panose="02020603050405020304" pitchFamily="18" charset="0"/>
                  <a:cs typeface="Times New Roman" panose="02020603050405020304" pitchFamily="18" charset="0"/>
                </a:endParaRPr>
              </a:p>
              <a:p>
                <a:pPr algn="just"/>
                <a:endParaRPr lang="en-US" sz="1700" dirty="0">
                  <a:solidFill>
                    <a:srgbClr val="222831"/>
                  </a:solidFill>
                  <a:latin typeface="Times New Roman" panose="02020603050405020304" pitchFamily="18" charset="0"/>
                  <a:cs typeface="Times New Roman" panose="02020603050405020304" pitchFamily="18" charset="0"/>
                </a:endParaRPr>
              </a:p>
              <a:p>
                <a:pPr algn="just"/>
                <a:endParaRPr lang="en-US" sz="1700" dirty="0">
                  <a:solidFill>
                    <a:srgbClr val="222831"/>
                  </a:solidFill>
                  <a:latin typeface="Times New Roman" panose="02020603050405020304" pitchFamily="18" charset="0"/>
                  <a:cs typeface="Times New Roman" panose="02020603050405020304" pitchFamily="18" charset="0"/>
                </a:endParaRPr>
              </a:p>
              <a:p>
                <a:pPr algn="just"/>
                <a:r>
                  <a:rPr lang="en-US" sz="1700" dirty="0">
                    <a:solidFill>
                      <a:srgbClr val="222831"/>
                    </a:solidFill>
                    <a:latin typeface="Times New Roman" panose="02020603050405020304" pitchFamily="18" charset="0"/>
                    <a:cs typeface="Times New Roman" panose="02020603050405020304" pitchFamily="18" charset="0"/>
                  </a:rPr>
                  <a:t>A graph of the linear regression is visible in </a:t>
                </a:r>
                <a:r>
                  <a:rPr lang="en-US" sz="1700" b="1" dirty="0">
                    <a:solidFill>
                      <a:srgbClr val="222831"/>
                    </a:solidFill>
                    <a:latin typeface="Times New Roman" panose="02020603050405020304" pitchFamily="18" charset="0"/>
                    <a:cs typeface="Times New Roman" panose="02020603050405020304" pitchFamily="18" charset="0"/>
                  </a:rPr>
                  <a:t>fig. (17).</a:t>
                </a:r>
              </a:p>
              <a:p>
                <a:pPr algn="just"/>
                <a:r>
                  <a:rPr lang="en-US" sz="1700" dirty="0">
                    <a:solidFill>
                      <a:srgbClr val="222831"/>
                    </a:solidFill>
                    <a:latin typeface="Times New Roman" panose="02020603050405020304" pitchFamily="18" charset="0"/>
                    <a:cs typeface="Times New Roman" panose="02020603050405020304" pitchFamily="18" charset="0"/>
                  </a:rPr>
                  <a:t>Hence, to predict the weight that the bridge can bear</a:t>
                </a:r>
              </a:p>
              <a:p>
                <a:pPr algn="just"/>
                <a:r>
                  <a:rPr lang="en-US" sz="1700" dirty="0">
                    <a:solidFill>
                      <a:srgbClr val="222831"/>
                    </a:solidFill>
                    <a:latin typeface="Times New Roman" panose="02020603050405020304" pitchFamily="18" charset="0"/>
                    <a:cs typeface="Times New Roman" panose="02020603050405020304" pitchFamily="18" charset="0"/>
                  </a:rPr>
                  <a:t>before it begins to crack. as the limitations of deflection</a:t>
                </a:r>
              </a:p>
              <a:p>
                <a:pPr algn="just"/>
                <a:r>
                  <a:rPr lang="en-US" sz="1700" dirty="0">
                    <a:solidFill>
                      <a:srgbClr val="222831"/>
                    </a:solidFill>
                    <a:latin typeface="Times New Roman" panose="02020603050405020304" pitchFamily="18" charset="0"/>
                    <a:cs typeface="Times New Roman" panose="02020603050405020304" pitchFamily="18" charset="0"/>
                  </a:rPr>
                  <a:t>is </a:t>
                </a:r>
                <a:r>
                  <a:rPr lang="en-US" sz="1700" b="1" dirty="0">
                    <a:solidFill>
                      <a:srgbClr val="222831"/>
                    </a:solidFill>
                    <a:latin typeface="Times New Roman" panose="02020603050405020304" pitchFamily="18" charset="0"/>
                    <a:cs typeface="Times New Roman" panose="02020603050405020304" pitchFamily="18" charset="0"/>
                  </a:rPr>
                  <a:t>5 cm. </a:t>
                </a:r>
                <a:r>
                  <a:rPr lang="en-US" sz="1700" dirty="0">
                    <a:solidFill>
                      <a:srgbClr val="222831"/>
                    </a:solidFill>
                    <a:latin typeface="Times New Roman" panose="02020603050405020304" pitchFamily="18" charset="0"/>
                    <a:cs typeface="Times New Roman" panose="02020603050405020304" pitchFamily="18" charset="0"/>
                  </a:rPr>
                  <a:t>So now we can calculate the weight when the</a:t>
                </a:r>
              </a:p>
              <a:p>
                <a:pPr algn="just"/>
                <a:r>
                  <a:rPr lang="en-US" sz="1700" dirty="0">
                    <a:solidFill>
                      <a:srgbClr val="222831"/>
                    </a:solidFill>
                    <a:latin typeface="Times New Roman" panose="02020603050405020304" pitchFamily="18" charset="0"/>
                    <a:cs typeface="Times New Roman" panose="02020603050405020304" pitchFamily="18" charset="0"/>
                  </a:rPr>
                  <a:t>deflection is </a:t>
                </a:r>
                <a:r>
                  <a:rPr lang="en-US" sz="1700" b="1" dirty="0">
                    <a:solidFill>
                      <a:srgbClr val="222831"/>
                    </a:solidFill>
                    <a:latin typeface="Times New Roman" panose="02020603050405020304" pitchFamily="18" charset="0"/>
                    <a:cs typeface="Times New Roman" panose="02020603050405020304" pitchFamily="18" charset="0"/>
                  </a:rPr>
                  <a:t>5 cm, </a:t>
                </a:r>
                <a:r>
                  <a:rPr lang="en-US" sz="1700" dirty="0">
                    <a:solidFill>
                      <a:srgbClr val="222831"/>
                    </a:solidFill>
                    <a:latin typeface="Times New Roman" panose="02020603050405020304" pitchFamily="18" charset="0"/>
                    <a:cs typeface="Times New Roman" panose="02020603050405020304" pitchFamily="18" charset="0"/>
                  </a:rPr>
                  <a:t>as</a:t>
                </a:r>
                <a:r>
                  <a:rPr lang="en-US" sz="1700" b="1" dirty="0">
                    <a:solidFill>
                      <a:srgbClr val="222831"/>
                    </a:solidFill>
                    <a:latin typeface="Times New Roman" panose="02020603050405020304" pitchFamily="18" charset="0"/>
                    <a:cs typeface="Times New Roman" panose="02020603050405020304" pitchFamily="18" charset="0"/>
                  </a:rPr>
                  <a:t> </a:t>
                </a:r>
                <a14:m>
                  <m:oMath xmlns:m="http://schemas.openxmlformats.org/officeDocument/2006/math">
                    <m:r>
                      <m:rPr>
                        <m:nor/>
                      </m:rPr>
                      <a:rPr lang="en-US" sz="17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y</m:t>
                    </m:r>
                    <m:r>
                      <m:rPr>
                        <m:nor/>
                      </m:rPr>
                      <a:rPr lang="en-US" sz="17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 </m:t>
                    </m:r>
                    <m:r>
                      <a:rPr lang="en-US" sz="17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1700" i="1" dirty="0">
                        <a:solidFill>
                          <a:schemeClr val="dk1"/>
                        </a:solidFill>
                        <a:latin typeface="Cambria Math" panose="02040503050406030204" pitchFamily="18" charset="0"/>
                      </a:rPr>
                      <m:t>0.07299</m:t>
                    </m:r>
                    <m:r>
                      <a:rPr lang="en-US" sz="1700" b="1" i="1" smtClean="0">
                        <a:solidFill>
                          <a:srgbClr val="000000"/>
                        </a:solidFill>
                        <a:latin typeface="Cambria Math" panose="02040503050406030204" pitchFamily="18" charset="0"/>
                      </a:rPr>
                      <m:t>𝒙</m:t>
                    </m:r>
                    <m:r>
                      <a:rPr lang="en-US" sz="1700" b="1" i="1">
                        <a:solidFill>
                          <a:srgbClr val="000000"/>
                        </a:solidFill>
                        <a:latin typeface="Cambria Math" panose="02040503050406030204" pitchFamily="18" charset="0"/>
                      </a:rPr>
                      <m:t>+</m:t>
                    </m:r>
                    <m:r>
                      <m:rPr>
                        <m:nor/>
                      </m:rPr>
                      <a:rPr lang="en-US" sz="1700" dirty="0">
                        <a:solidFill>
                          <a:schemeClr val="dk1"/>
                        </a:solidFill>
                        <a:latin typeface="Times New Roman" panose="02020603050405020304" pitchFamily="18" charset="0"/>
                        <a:cs typeface="Times New Roman" panose="02020603050405020304" pitchFamily="18" charset="0"/>
                      </a:rPr>
                      <m:t>0.09697</m:t>
                    </m:r>
                  </m:oMath>
                </a14:m>
                <a:r>
                  <a:rPr lang="en-US" sz="1700" b="1" i="1" dirty="0">
                    <a:solidFill>
                      <a:srgbClr val="000000"/>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then</a:t>
                </a:r>
              </a:p>
              <a:p>
                <a:pPr algn="just"/>
                <a:r>
                  <a:rPr lang="en-US" sz="1700" dirty="0">
                    <a:latin typeface="Times New Roman" panose="02020603050405020304" pitchFamily="18" charset="0"/>
                    <a:cs typeface="Times New Roman" panose="02020603050405020304" pitchFamily="18" charset="0"/>
                  </a:rPr>
                  <a:t>​</a:t>
                </a:r>
                <a14:m>
                  <m:oMath xmlns:m="http://schemas.openxmlformats.org/officeDocument/2006/math">
                    <m:r>
                      <a:rPr lang="en-US" sz="1700" i="1" dirty="0">
                        <a:solidFill>
                          <a:schemeClr val="dk1"/>
                        </a:solidFill>
                        <a:latin typeface="Cambria Math" panose="02040503050406030204" pitchFamily="18" charset="0"/>
                      </a:rPr>
                      <m:t>𝒙</m:t>
                    </m:r>
                    <m:r>
                      <a:rPr lang="en-US" sz="1700" i="1" dirty="0">
                        <a:solidFill>
                          <a:schemeClr val="dk1"/>
                        </a:solidFill>
                        <a:latin typeface="Cambria Math" panose="02040503050406030204" pitchFamily="18" charset="0"/>
                      </a:rPr>
                      <m:t>=</m:t>
                    </m:r>
                    <m:f>
                      <m:fPr>
                        <m:ctrlPr>
                          <a:rPr lang="en-US" sz="1700" i="1" dirty="0">
                            <a:solidFill>
                              <a:schemeClr val="dk1"/>
                            </a:solidFill>
                            <a:latin typeface="Cambria Math" panose="02040503050406030204" pitchFamily="18" charset="0"/>
                          </a:rPr>
                        </m:ctrlPr>
                      </m:fPr>
                      <m:num>
                        <m:r>
                          <m:rPr>
                            <m:nor/>
                          </m:rPr>
                          <a:rPr lang="en-US" sz="1700" i="1" dirty="0">
                            <a:solidFill>
                              <a:schemeClr val="dk1"/>
                            </a:solidFill>
                            <a:latin typeface="Times New Roman" panose="02020603050405020304" pitchFamily="18" charset="0"/>
                            <a:cs typeface="Times New Roman" panose="02020603050405020304" pitchFamily="18" charset="0"/>
                          </a:rPr>
                          <m:t>y</m:t>
                        </m:r>
                        <m:r>
                          <a:rPr lang="en-US" sz="1700" i="1" dirty="0">
                            <a:solidFill>
                              <a:schemeClr val="dk1"/>
                            </a:solidFill>
                            <a:latin typeface="Cambria Math" panose="02040503050406030204" pitchFamily="18" charset="0"/>
                          </a:rPr>
                          <m:t> − </m:t>
                        </m:r>
                        <m:r>
                          <a:rPr lang="en-US" sz="1700" i="1" dirty="0">
                            <a:solidFill>
                              <a:schemeClr val="dk1"/>
                            </a:solidFill>
                            <a:latin typeface="Cambria Math" panose="02040503050406030204" pitchFamily="18" charset="0"/>
                          </a:rPr>
                          <m:t>𝟎</m:t>
                        </m:r>
                        <m:r>
                          <a:rPr lang="en-US" sz="1700" i="1" dirty="0">
                            <a:solidFill>
                              <a:schemeClr val="dk1"/>
                            </a:solidFill>
                            <a:latin typeface="Cambria Math" panose="02040503050406030204" pitchFamily="18" charset="0"/>
                          </a:rPr>
                          <m:t>.</m:t>
                        </m:r>
                        <m:r>
                          <a:rPr lang="en-US" sz="1700" i="1" dirty="0">
                            <a:solidFill>
                              <a:schemeClr val="dk1"/>
                            </a:solidFill>
                            <a:latin typeface="Cambria Math" panose="02040503050406030204" pitchFamily="18" charset="0"/>
                          </a:rPr>
                          <m:t>𝟎𝟗𝟔𝟗𝟕</m:t>
                        </m:r>
                      </m:num>
                      <m:den>
                        <m:r>
                          <a:rPr lang="en-US" sz="1700" i="1" dirty="0">
                            <a:solidFill>
                              <a:schemeClr val="dk1"/>
                            </a:solidFill>
                            <a:latin typeface="Cambria Math" panose="02040503050406030204" pitchFamily="18" charset="0"/>
                          </a:rPr>
                          <m:t>𝟎</m:t>
                        </m:r>
                        <m:r>
                          <a:rPr lang="en-US" sz="1700" i="1" dirty="0">
                            <a:solidFill>
                              <a:schemeClr val="dk1"/>
                            </a:solidFill>
                            <a:latin typeface="Cambria Math" panose="02040503050406030204" pitchFamily="18" charset="0"/>
                          </a:rPr>
                          <m:t>.</m:t>
                        </m:r>
                        <m:r>
                          <a:rPr lang="en-US" sz="1700" i="1" dirty="0">
                            <a:solidFill>
                              <a:schemeClr val="dk1"/>
                            </a:solidFill>
                            <a:latin typeface="Cambria Math" panose="02040503050406030204" pitchFamily="18" charset="0"/>
                          </a:rPr>
                          <m:t>𝟎𝟕𝟐𝟗𝟗</m:t>
                        </m:r>
                      </m:den>
                    </m:f>
                    <m:r>
                      <a:rPr lang="en-US" sz="1700" b="0" i="1" dirty="0" smtClean="0">
                        <a:solidFill>
                          <a:schemeClr val="dk1"/>
                        </a:solidFill>
                        <a:latin typeface="Cambria Math" panose="02040503050406030204" pitchFamily="18" charset="0"/>
                      </a:rPr>
                      <m:t> </m:t>
                    </m:r>
                    <m:r>
                      <a:rPr lang="en-US" sz="1700" b="0" i="1" dirty="0" smtClean="0">
                        <a:solidFill>
                          <a:schemeClr val="dk1"/>
                        </a:solidFill>
                        <a:latin typeface="Cambria Math" panose="02040503050406030204" pitchFamily="18" charset="0"/>
                        <a:ea typeface="Cambria Math" panose="02040503050406030204" pitchFamily="18" charset="0"/>
                      </a:rPr>
                      <m:t>≈67.174</m:t>
                    </m:r>
                  </m:oMath>
                </a14:m>
                <a:r>
                  <a:rPr lang="en-US" sz="1700" i="1" dirty="0">
                    <a:solidFill>
                      <a:schemeClr val="dk1"/>
                    </a:solidFill>
                    <a:latin typeface="Times New Roman" panose="02020603050405020304" pitchFamily="18" charset="0"/>
                    <a:cs typeface="Times New Roman" panose="02020603050405020304" pitchFamily="18" charset="0"/>
                  </a:rPr>
                  <a:t> </a:t>
                </a:r>
                <a:r>
                  <a:rPr lang="en-US" sz="1700" dirty="0">
                    <a:solidFill>
                      <a:schemeClr val="dk1"/>
                    </a:solidFill>
                    <a:latin typeface="Times New Roman" panose="02020603050405020304" pitchFamily="18" charset="0"/>
                    <a:cs typeface="Times New Roman" panose="02020603050405020304" pitchFamily="18" charset="0"/>
                  </a:rPr>
                  <a:t>t</a:t>
                </a:r>
                <a:r>
                  <a:rPr lang="en-US" sz="1700" dirty="0">
                    <a:solidFill>
                      <a:srgbClr val="222831"/>
                    </a:solidFill>
                    <a:latin typeface="Times New Roman" panose="02020603050405020304" pitchFamily="18" charset="0"/>
                    <a:cs typeface="Times New Roman" panose="02020603050405020304" pitchFamily="18" charset="0"/>
                  </a:rPr>
                  <a:t>his means that the bridge</a:t>
                </a:r>
              </a:p>
              <a:p>
                <a:pPr algn="just"/>
                <a:r>
                  <a:rPr lang="en-US" sz="1700" dirty="0">
                    <a:solidFill>
                      <a:srgbClr val="222831"/>
                    </a:solidFill>
                    <a:latin typeface="Times New Roman" panose="02020603050405020304" pitchFamily="18" charset="0"/>
                    <a:cs typeface="Times New Roman" panose="02020603050405020304" pitchFamily="18" charset="0"/>
                  </a:rPr>
                  <a:t>can lift up to </a:t>
                </a:r>
                <a:r>
                  <a:rPr lang="en-US" sz="1700" b="1" dirty="0">
                    <a:solidFill>
                      <a:srgbClr val="222831"/>
                    </a:solidFill>
                    <a:latin typeface="Times New Roman" panose="02020603050405020304" pitchFamily="18" charset="0"/>
                    <a:cs typeface="Times New Roman" panose="02020603050405020304" pitchFamily="18" charset="0"/>
                  </a:rPr>
                  <a:t>67 kg. </a:t>
                </a:r>
                <a:r>
                  <a:rPr lang="en-US" sz="1700" dirty="0">
                    <a:solidFill>
                      <a:srgbClr val="222831"/>
                    </a:solidFill>
                    <a:latin typeface="Times New Roman" panose="02020603050405020304" pitchFamily="18" charset="0"/>
                    <a:cs typeface="Times New Roman" panose="02020603050405020304" pitchFamily="18" charset="0"/>
                  </a:rPr>
                  <a:t>this is a tremendous number that</a:t>
                </a:r>
              </a:p>
              <a:p>
                <a:pPr algn="just"/>
                <a:r>
                  <a:rPr lang="en-US" sz="1700" dirty="0">
                    <a:solidFill>
                      <a:srgbClr val="222831"/>
                    </a:solidFill>
                    <a:latin typeface="Times New Roman" panose="02020603050405020304" pitchFamily="18" charset="0"/>
                    <a:cs typeface="Times New Roman" panose="02020603050405020304" pitchFamily="18" charset="0"/>
                  </a:rPr>
                  <a:t>Bridge can bear. Another essential calculation is pressure; it ensures the </a:t>
                </a:r>
              </a:p>
              <a:p>
                <a:pPr algn="just"/>
                <a:r>
                  <a:rPr lang="en-US" sz="1700" dirty="0">
                    <a:solidFill>
                      <a:srgbClr val="222831"/>
                    </a:solidFill>
                    <a:latin typeface="Times New Roman" panose="02020603050405020304" pitchFamily="18" charset="0"/>
                    <a:cs typeface="Times New Roman" panose="02020603050405020304" pitchFamily="18" charset="0"/>
                  </a:rPr>
                  <a:t>structural stability and the ability to resist weight, pressure mainly </a:t>
                </a:r>
              </a:p>
              <a:p>
                <a:pPr algn="just"/>
                <a:r>
                  <a:rPr lang="en-US" sz="1700" dirty="0">
                    <a:solidFill>
                      <a:srgbClr val="222831"/>
                    </a:solidFill>
                    <a:latin typeface="Times New Roman" panose="02020603050405020304" pitchFamily="18" charset="0"/>
                    <a:cs typeface="Times New Roman" panose="02020603050405020304" pitchFamily="18" charset="0"/>
                  </a:rPr>
                  <a:t>measured by the equation in </a:t>
                </a:r>
                <a:r>
                  <a:rPr lang="en-US" sz="1700" b="1" dirty="0">
                    <a:solidFill>
                      <a:srgbClr val="222831"/>
                    </a:solidFill>
                    <a:latin typeface="Times New Roman" panose="02020603050405020304" pitchFamily="18" charset="0"/>
                    <a:cs typeface="Times New Roman" panose="02020603050405020304" pitchFamily="18" charset="0"/>
                  </a:rPr>
                  <a:t>fig. (18). </a:t>
                </a:r>
                <a:r>
                  <a:rPr lang="en-US" sz="1700" dirty="0">
                    <a:solidFill>
                      <a:srgbClr val="222831"/>
                    </a:solidFill>
                    <a:latin typeface="Times New Roman" panose="02020603050405020304" pitchFamily="18" charset="0"/>
                    <a:cs typeface="Times New Roman" panose="02020603050405020304" pitchFamily="18" charset="0"/>
                  </a:rPr>
                  <a:t>Pressure equals force over area. </a:t>
                </a:r>
              </a:p>
              <a:p>
                <a:pPr algn="just"/>
                <a:r>
                  <a:rPr lang="en-US" sz="1700" dirty="0">
                    <a:solidFill>
                      <a:srgbClr val="222831"/>
                    </a:solidFill>
                    <a:latin typeface="Times New Roman" panose="02020603050405020304" pitchFamily="18" charset="0"/>
                    <a:cs typeface="Times New Roman" panose="02020603050405020304" pitchFamily="18" charset="0"/>
                  </a:rPr>
                  <a:t>In our test plan, the area that covered by weight was </a:t>
                </a:r>
                <a14:m>
                  <m:oMath xmlns:m="http://schemas.openxmlformats.org/officeDocument/2006/math">
                    <m:r>
                      <a:rPr lang="en-US" sz="1700" b="0" i="1" dirty="0" smtClean="0">
                        <a:solidFill>
                          <a:srgbClr val="222831"/>
                        </a:solidFill>
                        <a:latin typeface="Cambria Math" panose="02040503050406030204" pitchFamily="18" charset="0"/>
                        <a:cs typeface="Times New Roman" panose="02020603050405020304" pitchFamily="18" charset="0"/>
                      </a:rPr>
                      <m:t>0.066</m:t>
                    </m:r>
                    <m:r>
                      <a:rPr lang="en-US" sz="1700" i="1" dirty="0">
                        <a:solidFill>
                          <a:srgbClr val="222831"/>
                        </a:solidFill>
                        <a:latin typeface="Cambria Math" panose="02040503050406030204" pitchFamily="18" charset="0"/>
                        <a:cs typeface="Times New Roman" panose="02020603050405020304" pitchFamily="18" charset="0"/>
                      </a:rPr>
                      <m:t> </m:t>
                    </m:r>
                    <m:sSup>
                      <m:sSupPr>
                        <m:ctrlPr>
                          <a:rPr lang="en-US" sz="1700" i="1" dirty="0" smtClean="0">
                            <a:solidFill>
                              <a:srgbClr val="222831"/>
                            </a:solidFill>
                            <a:latin typeface="Cambria Math" panose="02040503050406030204" pitchFamily="18" charset="0"/>
                            <a:cs typeface="Times New Roman" panose="02020603050405020304" pitchFamily="18" charset="0"/>
                          </a:rPr>
                        </m:ctrlPr>
                      </m:sSupPr>
                      <m:e>
                        <m:r>
                          <a:rPr lang="en-US" sz="1700" b="0" i="1" dirty="0" smtClean="0">
                            <a:solidFill>
                              <a:srgbClr val="222831"/>
                            </a:solidFill>
                            <a:latin typeface="Cambria Math" panose="02040503050406030204" pitchFamily="18" charset="0"/>
                            <a:cs typeface="Times New Roman" panose="02020603050405020304" pitchFamily="18" charset="0"/>
                          </a:rPr>
                          <m:t>𝑚</m:t>
                        </m:r>
                      </m:e>
                      <m:sup>
                        <m:r>
                          <a:rPr lang="en-US" sz="1700" b="0" i="1" dirty="0" smtClean="0">
                            <a:solidFill>
                              <a:srgbClr val="222831"/>
                            </a:solidFill>
                            <a:latin typeface="Cambria Math" panose="02040503050406030204" pitchFamily="18" charset="0"/>
                            <a:cs typeface="Times New Roman" panose="02020603050405020304" pitchFamily="18" charset="0"/>
                          </a:rPr>
                          <m:t>2</m:t>
                        </m:r>
                      </m:sup>
                    </m:sSup>
                  </m:oMath>
                </a14:m>
                <a:r>
                  <a:rPr lang="en-US" sz="1700" dirty="0">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then </a:t>
                </a:r>
              </a:p>
            </p:txBody>
          </p:sp>
        </mc:Choice>
        <mc:Fallback xmlns="">
          <p:sp>
            <p:nvSpPr>
              <p:cNvPr id="462" name="Rectangle: Rounded Corners 461">
                <a:extLst>
                  <a:ext uri="{FF2B5EF4-FFF2-40B4-BE49-F238E27FC236}">
                    <a16:creationId xmlns:a16="http://schemas.microsoft.com/office/drawing/2014/main" id="{C0F4828D-D057-47B8-9E69-AD0A062B1B5F}"/>
                  </a:ext>
                </a:extLst>
              </p:cNvPr>
              <p:cNvSpPr>
                <a:spLocks noRot="1" noChangeAspect="1" noMove="1" noResize="1" noEditPoints="1" noAdjustHandles="1" noChangeArrowheads="1" noChangeShapeType="1" noTextEdit="1"/>
              </p:cNvSpPr>
              <p:nvPr/>
            </p:nvSpPr>
            <p:spPr>
              <a:xfrm>
                <a:off x="19963513" y="5310160"/>
                <a:ext cx="9502478" cy="22967490"/>
              </a:xfrm>
              <a:prstGeom prst="roundRect">
                <a:avLst>
                  <a:gd name="adj" fmla="val 1603"/>
                </a:avLst>
              </a:prstGeom>
              <a:blipFill>
                <a:blip r:embed="rId17"/>
                <a:stretch>
                  <a:fillRect/>
                </a:stretch>
              </a:blipFill>
              <a:ln>
                <a:noFill/>
              </a:ln>
            </p:spPr>
            <p:txBody>
              <a:bodyPr/>
              <a:lstStyle/>
              <a:p>
                <a:r>
                  <a:rPr lang="en-US">
                    <a:noFill/>
                  </a:rPr>
                  <a:t> </a:t>
                </a:r>
              </a:p>
            </p:txBody>
          </p:sp>
        </mc:Fallback>
      </mc:AlternateContent>
      <p:grpSp>
        <p:nvGrpSpPr>
          <p:cNvPr id="470" name="Group 469">
            <a:extLst>
              <a:ext uri="{FF2B5EF4-FFF2-40B4-BE49-F238E27FC236}">
                <a16:creationId xmlns:a16="http://schemas.microsoft.com/office/drawing/2014/main" id="{BA08F4C7-720D-34B1-E7FB-5CA9D8A3DEF3}"/>
              </a:ext>
            </a:extLst>
          </p:cNvPr>
          <p:cNvGrpSpPr/>
          <p:nvPr/>
        </p:nvGrpSpPr>
        <p:grpSpPr>
          <a:xfrm>
            <a:off x="19950980" y="4241455"/>
            <a:ext cx="9535727" cy="1038904"/>
            <a:chOff x="19921414" y="4241455"/>
            <a:chExt cx="9535727" cy="1038904"/>
          </a:xfrm>
        </p:grpSpPr>
        <p:grpSp>
          <p:nvGrpSpPr>
            <p:cNvPr id="414" name="Group 413">
              <a:extLst>
                <a:ext uri="{FF2B5EF4-FFF2-40B4-BE49-F238E27FC236}">
                  <a16:creationId xmlns:a16="http://schemas.microsoft.com/office/drawing/2014/main" id="{F7EE497D-B18E-303B-4C12-2CF68B3C685D}"/>
                </a:ext>
              </a:extLst>
            </p:cNvPr>
            <p:cNvGrpSpPr/>
            <p:nvPr/>
          </p:nvGrpSpPr>
          <p:grpSpPr>
            <a:xfrm>
              <a:off x="19921414" y="4241455"/>
              <a:ext cx="9535727" cy="1038904"/>
              <a:chOff x="242851" y="4396904"/>
              <a:chExt cx="9535727" cy="1038904"/>
            </a:xfrm>
          </p:grpSpPr>
          <p:sp>
            <p:nvSpPr>
              <p:cNvPr id="415" name="Rectangle: Rounded Corners 414">
                <a:extLst>
                  <a:ext uri="{FF2B5EF4-FFF2-40B4-BE49-F238E27FC236}">
                    <a16:creationId xmlns:a16="http://schemas.microsoft.com/office/drawing/2014/main" id="{2D264213-C5A5-7F03-8A9C-2293B54FF34A}"/>
                  </a:ext>
                </a:extLst>
              </p:cNvPr>
              <p:cNvSpPr/>
              <p:nvPr/>
            </p:nvSpPr>
            <p:spPr>
              <a:xfrm>
                <a:off x="242851" y="4396905"/>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Analysis</a:t>
                </a:r>
              </a:p>
            </p:txBody>
          </p:sp>
          <p:pic>
            <p:nvPicPr>
              <p:cNvPr id="416" name="Picture 415">
                <a:extLst>
                  <a:ext uri="{FF2B5EF4-FFF2-40B4-BE49-F238E27FC236}">
                    <a16:creationId xmlns:a16="http://schemas.microsoft.com/office/drawing/2014/main" id="{837702D9-CE27-E81E-461B-FBEE820DAB38}"/>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p:spPr>
          </p:pic>
          <p:pic>
            <p:nvPicPr>
              <p:cNvPr id="417" name="Picture 416">
                <a:extLst>
                  <a:ext uri="{FF2B5EF4-FFF2-40B4-BE49-F238E27FC236}">
                    <a16:creationId xmlns:a16="http://schemas.microsoft.com/office/drawing/2014/main" id="{FC17CEDD-4CB2-79C5-D20B-DB736DBFEEFA}"/>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p:spPr>
          </p:pic>
        </p:grpSp>
        <p:pic>
          <p:nvPicPr>
            <p:cNvPr id="464" name="Picture 463">
              <a:extLst>
                <a:ext uri="{FF2B5EF4-FFF2-40B4-BE49-F238E27FC236}">
                  <a16:creationId xmlns:a16="http://schemas.microsoft.com/office/drawing/2014/main" id="{C25A483E-CCBC-F9ED-0428-2221989DB69E}"/>
                </a:ext>
              </a:extLst>
            </p:cNvPr>
            <p:cNvPicPr>
              <a:picLocks noChangeAspect="1"/>
            </p:cNvPicPr>
            <p:nvPr/>
          </p:nvPicPr>
          <p:blipFill>
            <a:blip r:embed="rId18"/>
            <a:stretch>
              <a:fillRect/>
            </a:stretch>
          </p:blipFill>
          <p:spPr>
            <a:xfrm>
              <a:off x="22302064" y="4333599"/>
              <a:ext cx="856872" cy="856872"/>
            </a:xfrm>
            <a:prstGeom prst="rect">
              <a:avLst/>
            </a:prstGeom>
          </p:spPr>
        </p:pic>
      </p:grpSp>
      <p:grpSp>
        <p:nvGrpSpPr>
          <p:cNvPr id="480" name="Group 479">
            <a:extLst>
              <a:ext uri="{FF2B5EF4-FFF2-40B4-BE49-F238E27FC236}">
                <a16:creationId xmlns:a16="http://schemas.microsoft.com/office/drawing/2014/main" id="{3089558F-0280-19B5-3328-3DEC4C7DF49E}"/>
              </a:ext>
            </a:extLst>
          </p:cNvPr>
          <p:cNvGrpSpPr/>
          <p:nvPr/>
        </p:nvGrpSpPr>
        <p:grpSpPr>
          <a:xfrm>
            <a:off x="29824485" y="8654915"/>
            <a:ext cx="9535727" cy="5095790"/>
            <a:chOff x="29774216" y="4237347"/>
            <a:chExt cx="9535727" cy="5095790"/>
          </a:xfrm>
        </p:grpSpPr>
        <mc:AlternateContent xmlns:mc="http://schemas.openxmlformats.org/markup-compatibility/2006" xmlns:a14="http://schemas.microsoft.com/office/drawing/2010/main">
          <mc:Choice Requires="a14">
            <p:sp>
              <p:nvSpPr>
                <p:cNvPr id="465" name="Rectangle: Rounded Corners 464">
                  <a:extLst>
                    <a:ext uri="{FF2B5EF4-FFF2-40B4-BE49-F238E27FC236}">
                      <a16:creationId xmlns:a16="http://schemas.microsoft.com/office/drawing/2014/main" id="{88F1DFF6-BB56-61E3-DD84-8C088326D17C}"/>
                    </a:ext>
                  </a:extLst>
                </p:cNvPr>
                <p:cNvSpPr/>
                <p:nvPr/>
              </p:nvSpPr>
              <p:spPr>
                <a:xfrm>
                  <a:off x="29775952" y="5348955"/>
                  <a:ext cx="9502478" cy="3984182"/>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700" dirty="0">
                      <a:solidFill>
                        <a:srgbClr val="222831"/>
                      </a:solidFill>
                      <a:latin typeface="Times New Roman" panose="02020603050405020304" pitchFamily="18" charset="0"/>
                      <a:cs typeface="Times New Roman" panose="02020603050405020304" pitchFamily="18" charset="0"/>
                    </a:rPr>
                    <a:t>	To conclude, our prototype offers a practical solution to two significant challenges facing Egypt: like urban congestion and the arid areas. The bridge reduces delays and accidents but also contributes to environmental benefits by improving the efficiency of transport networks. It also adhere to various design requirement. As having less than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r>
                        <a:rPr lang="en-US" sz="1700" b="1" i="1" dirty="0" smtClean="0">
                          <a:solidFill>
                            <a:srgbClr val="222831"/>
                          </a:solidFill>
                          <a:latin typeface="Cambria Math" panose="02040503050406030204" pitchFamily="18" charset="0"/>
                          <a:cs typeface="Times New Roman" panose="02020603050405020304" pitchFamily="18" charset="0"/>
                        </a:rPr>
                        <m:t> </m:t>
                      </m:r>
                    </m:oMath>
                  </a14:m>
                  <a:r>
                    <a:rPr lang="en-US" sz="1700" dirty="0">
                      <a:solidFill>
                        <a:srgbClr val="222831"/>
                      </a:solidFill>
                      <a:latin typeface="Times New Roman" panose="02020603050405020304" pitchFamily="18" charset="0"/>
                      <a:cs typeface="Times New Roman" panose="02020603050405020304" pitchFamily="18" charset="0"/>
                    </a:rPr>
                    <a:t>deflection, clearance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𝟏𝟎</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oMath>
                  </a14:m>
                  <a:r>
                    <a:rPr lang="en-US" sz="1700" dirty="0">
                      <a:solidFill>
                        <a:srgbClr val="222831"/>
                      </a:solidFill>
                      <a:latin typeface="Times New Roman" panose="02020603050405020304" pitchFamily="18" charset="0"/>
                      <a:cs typeface="Times New Roman" panose="02020603050405020304" pitchFamily="18" charset="0"/>
                    </a:rPr>
                    <a:t>, length of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𝟗𝟓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𝒄𝒎</m:t>
                      </m:r>
                    </m:oMath>
                  </a14:m>
                  <a:r>
                    <a:rPr lang="en-US" sz="1700" dirty="0">
                      <a:solidFill>
                        <a:srgbClr val="222831"/>
                      </a:solidFill>
                      <a:latin typeface="Times New Roman" panose="02020603050405020304" pitchFamily="18" charset="0"/>
                      <a:cs typeface="Times New Roman" panose="02020603050405020304" pitchFamily="18" charset="0"/>
                    </a:rPr>
                    <a:t>. </a:t>
                  </a:r>
                </a:p>
                <a:p>
                  <a:r>
                    <a:rPr lang="en-US" sz="1700" dirty="0">
                      <a:solidFill>
                        <a:srgbClr val="222831"/>
                      </a:solidFill>
                      <a:latin typeface="Times New Roman" panose="02020603050405020304" pitchFamily="18" charset="0"/>
                      <a:cs typeface="Times New Roman" panose="02020603050405020304" pitchFamily="18" charset="0"/>
                    </a:rPr>
                    <a:t>	While the prototype shows strong performance, including a high ability and rapid operation. It also shows a deflection of </a:t>
                  </a:r>
                  <a14:m>
                    <m:oMath xmlns:m="http://schemas.openxmlformats.org/officeDocument/2006/math">
                      <m:r>
                        <a:rPr lang="en-US" sz="1700" b="1" i="1" dirty="0">
                          <a:solidFill>
                            <a:srgbClr val="222831"/>
                          </a:solidFill>
                          <a:latin typeface="Cambria Math" panose="02040503050406030204" pitchFamily="18" charset="0"/>
                          <a:cs typeface="Times New Roman" panose="02020603050405020304" pitchFamily="18" charset="0"/>
                        </a:rPr>
                        <m:t>𝟎</m:t>
                      </m:r>
                      <m:r>
                        <a:rPr lang="en-US" sz="1700" b="1" i="1" dirty="0">
                          <a:solidFill>
                            <a:srgbClr val="222831"/>
                          </a:solidFill>
                          <a:latin typeface="Cambria Math" panose="02040503050406030204" pitchFamily="18" charset="0"/>
                          <a:cs typeface="Times New Roman" panose="02020603050405020304" pitchFamily="18" charset="0"/>
                        </a:rPr>
                        <m:t>.</m:t>
                      </m:r>
                      <m:r>
                        <a:rPr lang="en-US" sz="1700" b="1" i="1" dirty="0">
                          <a:solidFill>
                            <a:srgbClr val="222831"/>
                          </a:solidFill>
                          <a:latin typeface="Cambria Math" panose="02040503050406030204" pitchFamily="18" charset="0"/>
                          <a:cs typeface="Times New Roman" panose="02020603050405020304" pitchFamily="18" charset="0"/>
                        </a:rPr>
                        <m:t>𝟗</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𝒎</m:t>
                      </m:r>
                      <m:r>
                        <a:rPr lang="en-US" sz="1700" b="1" i="1" dirty="0">
                          <a:solidFill>
                            <a:srgbClr val="222831"/>
                          </a:solidFill>
                          <a:latin typeface="Cambria Math" panose="02040503050406030204" pitchFamily="18" charset="0"/>
                          <a:cs typeface="Times New Roman" panose="02020603050405020304" pitchFamily="18" charset="0"/>
                        </a:rPr>
                        <m:t>𝒎</m:t>
                      </m:r>
                    </m:oMath>
                  </a14:m>
                  <a:r>
                    <a:rPr lang="en-US" sz="1700" dirty="0">
                      <a:solidFill>
                        <a:srgbClr val="222831"/>
                      </a:solidFill>
                      <a:latin typeface="Times New Roman" panose="02020603050405020304" pitchFamily="18" charset="0"/>
                      <a:cs typeface="Times New Roman" panose="02020603050405020304" pitchFamily="18" charset="0"/>
                    </a:rPr>
                    <a:t> on putting a weight of</a:t>
                  </a:r>
                  <a14:m>
                    <m:oMath xmlns:m="http://schemas.openxmlformats.org/officeDocument/2006/math">
                      <m:r>
                        <a:rPr lang="en-US" sz="1700" b="1" i="0" dirty="0" smtClean="0">
                          <a:solidFill>
                            <a:srgbClr val="222831"/>
                          </a:solidFill>
                          <a:latin typeface="Cambria Math" panose="02040503050406030204" pitchFamily="18" charset="0"/>
                          <a:cs typeface="Times New Roman" panose="02020603050405020304" pitchFamily="18" charset="0"/>
                        </a:rPr>
                        <m:t> </m:t>
                      </m:r>
                      <m:r>
                        <a:rPr lang="en-US" sz="1700" b="1" i="1" dirty="0">
                          <a:solidFill>
                            <a:srgbClr val="222831"/>
                          </a:solidFill>
                          <a:latin typeface="Cambria Math" panose="02040503050406030204" pitchFamily="18" charset="0"/>
                          <a:cs typeface="Times New Roman" panose="02020603050405020304" pitchFamily="18" charset="0"/>
                        </a:rPr>
                        <m:t>𝟏𝟎</m:t>
                      </m:r>
                      <m:r>
                        <a:rPr lang="en-US" sz="1700" b="1" i="1" dirty="0">
                          <a:solidFill>
                            <a:srgbClr val="222831"/>
                          </a:solidFill>
                          <a:latin typeface="Cambria Math" panose="02040503050406030204" pitchFamily="18" charset="0"/>
                          <a:cs typeface="Times New Roman" panose="02020603050405020304" pitchFamily="18" charset="0"/>
                        </a:rPr>
                        <m:t> </m:t>
                      </m:r>
                      <m:r>
                        <a:rPr lang="en-US" sz="1700" b="1" i="1" dirty="0">
                          <a:solidFill>
                            <a:srgbClr val="222831"/>
                          </a:solidFill>
                          <a:latin typeface="Cambria Math" panose="02040503050406030204" pitchFamily="18" charset="0"/>
                          <a:cs typeface="Times New Roman" panose="02020603050405020304" pitchFamily="18" charset="0"/>
                        </a:rPr>
                        <m:t>𝑲𝒈</m:t>
                      </m:r>
                    </m:oMath>
                  </a14:m>
                  <a:r>
                    <a:rPr lang="en-US" sz="1700" dirty="0">
                      <a:solidFill>
                        <a:srgbClr val="222831"/>
                      </a:solidFill>
                      <a:latin typeface="Times New Roman" panose="02020603050405020304" pitchFamily="18" charset="0"/>
                      <a:cs typeface="Times New Roman" panose="02020603050405020304" pitchFamily="18" charset="0"/>
                    </a:rPr>
                    <a:t> .The decision to limit the bridge is opening angle to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𝟕𝟓</m:t>
                      </m:r>
                    </m:oMath>
                  </a14:m>
                  <a:r>
                    <a:rPr lang="en-US" sz="1700" dirty="0">
                      <a:solidFill>
                        <a:srgbClr val="222831"/>
                      </a:solidFill>
                      <a:latin typeface="Times New Roman" panose="02020603050405020304" pitchFamily="18" charset="0"/>
                      <a:cs typeface="Times New Roman" panose="02020603050405020304" pitchFamily="18" charset="0"/>
                    </a:rPr>
                    <a:t> degrees, rather than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𝟗𝟎</m:t>
                      </m:r>
                    </m:oMath>
                  </a14:m>
                  <a:r>
                    <a:rPr lang="en-US" sz="1700" dirty="0">
                      <a:solidFill>
                        <a:srgbClr val="222831"/>
                      </a:solidFill>
                      <a:latin typeface="Times New Roman" panose="02020603050405020304" pitchFamily="18" charset="0"/>
                      <a:cs typeface="Times New Roman" panose="02020603050405020304" pitchFamily="18" charset="0"/>
                    </a:rPr>
                    <a:t> degrees is powerful point. The bridge velocity while opening is </a:t>
                  </a:r>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𝟑</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𝟗𝟏𝟓</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𝒎</m:t>
                      </m:r>
                      <m:r>
                        <a:rPr lang="en-US" sz="1700" b="1" i="1" dirty="0" smtClean="0">
                          <a:solidFill>
                            <a:srgbClr val="222831"/>
                          </a:solidFill>
                          <a:latin typeface="Cambria Math" panose="02040503050406030204" pitchFamily="18" charset="0"/>
                          <a:cs typeface="Times New Roman" panose="02020603050405020304" pitchFamily="18" charset="0"/>
                        </a:rPr>
                        <m:t>/</m:t>
                      </m:r>
                      <m:r>
                        <m:rPr>
                          <m:sty m:val="p"/>
                        </m:rPr>
                        <a:rPr lang="en-US" sz="1700" b="1" i="1" dirty="0" smtClean="0">
                          <a:solidFill>
                            <a:srgbClr val="222831"/>
                          </a:solidFill>
                          <a:latin typeface="Cambria Math" panose="02040503050406030204" pitchFamily="18" charset="0"/>
                          <a:cs typeface="Times New Roman" panose="02020603050405020304" pitchFamily="18" charset="0"/>
                        </a:rPr>
                        <m:t>sec</m:t>
                      </m:r>
                      <m:r>
                        <a:rPr lang="en-US" sz="1700" b="1" i="1" dirty="0" smtClean="0">
                          <a:solidFill>
                            <a:srgbClr val="222831"/>
                          </a:solidFill>
                          <a:latin typeface="Cambria Math" panose="02040503050406030204" pitchFamily="18" charset="0"/>
                          <a:cs typeface="Times New Roman" panose="02020603050405020304" pitchFamily="18" charset="0"/>
                        </a:rPr>
                        <m:t>⁡</m:t>
                      </m:r>
                    </m:oMath>
                  </a14:m>
                  <a:r>
                    <a:rPr lang="en-US" sz="1700" dirty="0">
                      <a:solidFill>
                        <a:srgbClr val="222831"/>
                      </a:solidFill>
                      <a:latin typeface="Times New Roman" panose="02020603050405020304" pitchFamily="18" charset="0"/>
                      <a:cs typeface="Times New Roman" panose="02020603050405020304" pitchFamily="18" charset="0"/>
                    </a:rPr>
                    <a:t>. It also</a:t>
                  </a:r>
                  <a:r>
                    <a:rPr lang="ar-EG" sz="1700" dirty="0">
                      <a:solidFill>
                        <a:srgbClr val="222831"/>
                      </a:solidFill>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provide an Arduino system that is crucial system in operating the bridge utilizing an H-Bridge. The prototype is developed with Pratt truss.</a:t>
                  </a:r>
                </a:p>
                <a:p>
                  <a:r>
                    <a:rPr lang="en-US" sz="1700" dirty="0">
                      <a:solidFill>
                        <a:srgbClr val="222831"/>
                      </a:solidFill>
                      <a:latin typeface="Times New Roman" panose="02020603050405020304" pitchFamily="18" charset="0"/>
                      <a:cs typeface="Times New Roman" panose="02020603050405020304" pitchFamily="18" charset="0"/>
                    </a:rPr>
                    <a:t>The main idea was inspired by reviewing and investigating a lot of  different bridges as: London Tower bridge, Van Buren Street bridge, Mary MacKillop Bridge. These all are one leaf bascule lift bridge make us an inspiration of how the motors lift the bridge. </a:t>
                  </a:r>
                </a:p>
                <a:p>
                  <a:r>
                    <a:rPr lang="en-US" sz="1700" dirty="0">
                      <a:solidFill>
                        <a:srgbClr val="222831"/>
                      </a:solidFill>
                      <a:latin typeface="Times New Roman" panose="02020603050405020304" pitchFamily="18" charset="0"/>
                      <a:cs typeface="Times New Roman" panose="02020603050405020304" pitchFamily="18" charset="0"/>
                    </a:rPr>
                    <a:t>	Additionally, we chose to use Arduino and H-Bridge, IR receiver and various of Arduino circuit components. This system is easy system to controlling and manipulating the bridge.</a:t>
                  </a:r>
                </a:p>
              </p:txBody>
            </p:sp>
          </mc:Choice>
          <mc:Fallback xmlns="">
            <p:sp>
              <p:nvSpPr>
                <p:cNvPr id="465" name="Rectangle: Rounded Corners 464">
                  <a:extLst>
                    <a:ext uri="{FF2B5EF4-FFF2-40B4-BE49-F238E27FC236}">
                      <a16:creationId xmlns:a16="http://schemas.microsoft.com/office/drawing/2014/main" id="{88F1DFF6-BB56-61E3-DD84-8C088326D17C}"/>
                    </a:ext>
                  </a:extLst>
                </p:cNvPr>
                <p:cNvSpPr>
                  <a:spLocks noRot="1" noChangeAspect="1" noMove="1" noResize="1" noEditPoints="1" noAdjustHandles="1" noChangeArrowheads="1" noChangeShapeType="1" noTextEdit="1"/>
                </p:cNvSpPr>
                <p:nvPr/>
              </p:nvSpPr>
              <p:spPr>
                <a:xfrm>
                  <a:off x="29775952" y="5348955"/>
                  <a:ext cx="9502478" cy="3984182"/>
                </a:xfrm>
                <a:prstGeom prst="roundRect">
                  <a:avLst>
                    <a:gd name="adj" fmla="val 1603"/>
                  </a:avLst>
                </a:prstGeom>
                <a:blipFill>
                  <a:blip r:embed="rId19"/>
                  <a:stretch>
                    <a:fillRect l="-257" r="-513"/>
                  </a:stretch>
                </a:blipFill>
                <a:ln>
                  <a:noFill/>
                </a:ln>
              </p:spPr>
              <p:txBody>
                <a:bodyPr/>
                <a:lstStyle/>
                <a:p>
                  <a:r>
                    <a:rPr lang="en-US">
                      <a:noFill/>
                    </a:rPr>
                    <a:t> </a:t>
                  </a:r>
                </a:p>
              </p:txBody>
            </p:sp>
          </mc:Fallback>
        </mc:AlternateContent>
        <p:grpSp>
          <p:nvGrpSpPr>
            <p:cNvPr id="479" name="Group 478">
              <a:extLst>
                <a:ext uri="{FF2B5EF4-FFF2-40B4-BE49-F238E27FC236}">
                  <a16:creationId xmlns:a16="http://schemas.microsoft.com/office/drawing/2014/main" id="{46FE76E5-F004-D77F-B81D-8FE0F1817282}"/>
                </a:ext>
              </a:extLst>
            </p:cNvPr>
            <p:cNvGrpSpPr/>
            <p:nvPr/>
          </p:nvGrpSpPr>
          <p:grpSpPr>
            <a:xfrm>
              <a:off x="29774216" y="4237347"/>
              <a:ext cx="9535727" cy="1038904"/>
              <a:chOff x="29774216" y="4237347"/>
              <a:chExt cx="9535727" cy="1038904"/>
            </a:xfrm>
          </p:grpSpPr>
          <p:grpSp>
            <p:nvGrpSpPr>
              <p:cNvPr id="472" name="Group 471">
                <a:extLst>
                  <a:ext uri="{FF2B5EF4-FFF2-40B4-BE49-F238E27FC236}">
                    <a16:creationId xmlns:a16="http://schemas.microsoft.com/office/drawing/2014/main" id="{1569317E-E930-F9C0-8274-89E8B0200389}"/>
                  </a:ext>
                </a:extLst>
              </p:cNvPr>
              <p:cNvGrpSpPr/>
              <p:nvPr/>
            </p:nvGrpSpPr>
            <p:grpSpPr>
              <a:xfrm>
                <a:off x="29774216" y="4237347"/>
                <a:ext cx="9535727" cy="1038904"/>
                <a:chOff x="242851" y="4396904"/>
                <a:chExt cx="9535727" cy="1038904"/>
              </a:xfrm>
            </p:grpSpPr>
            <p:sp>
              <p:nvSpPr>
                <p:cNvPr id="474" name="Rectangle: Rounded Corners 473">
                  <a:extLst>
                    <a:ext uri="{FF2B5EF4-FFF2-40B4-BE49-F238E27FC236}">
                      <a16:creationId xmlns:a16="http://schemas.microsoft.com/office/drawing/2014/main" id="{A15E828A-2F82-31E3-A003-0DAB1DF0C0A3}"/>
                    </a:ext>
                  </a:extLst>
                </p:cNvPr>
                <p:cNvSpPr/>
                <p:nvPr/>
              </p:nvSpPr>
              <p:spPr>
                <a:xfrm>
                  <a:off x="242851" y="4396905"/>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Conclusion</a:t>
                  </a:r>
                </a:p>
              </p:txBody>
            </p:sp>
            <p:pic>
              <p:nvPicPr>
                <p:cNvPr id="475" name="Picture 474">
                  <a:extLst>
                    <a:ext uri="{FF2B5EF4-FFF2-40B4-BE49-F238E27FC236}">
                      <a16:creationId xmlns:a16="http://schemas.microsoft.com/office/drawing/2014/main" id="{7077FBB9-080A-EF91-8353-8CCDB79CD740}"/>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p:spPr>
            </p:pic>
            <p:pic>
              <p:nvPicPr>
                <p:cNvPr id="476" name="Picture 475">
                  <a:extLst>
                    <a:ext uri="{FF2B5EF4-FFF2-40B4-BE49-F238E27FC236}">
                      <a16:creationId xmlns:a16="http://schemas.microsoft.com/office/drawing/2014/main" id="{3972C8E3-B7D8-F4B3-4EA2-3302C076D29E}"/>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p:spPr>
            </p:pic>
          </p:grpSp>
          <p:pic>
            <p:nvPicPr>
              <p:cNvPr id="478" name="Picture 477">
                <a:extLst>
                  <a:ext uri="{FF2B5EF4-FFF2-40B4-BE49-F238E27FC236}">
                    <a16:creationId xmlns:a16="http://schemas.microsoft.com/office/drawing/2014/main" id="{09F5F26E-CE25-0215-4B5B-366687C470A7}"/>
                  </a:ext>
                </a:extLst>
              </p:cNvPr>
              <p:cNvPicPr>
                <a:picLocks noChangeAspect="1"/>
              </p:cNvPicPr>
              <p:nvPr/>
            </p:nvPicPr>
            <p:blipFill>
              <a:blip r:embed="rId20"/>
              <a:stretch>
                <a:fillRect/>
              </a:stretch>
            </p:blipFill>
            <p:spPr>
              <a:xfrm>
                <a:off x="31904441" y="4333599"/>
                <a:ext cx="865705" cy="865705"/>
              </a:xfrm>
              <a:prstGeom prst="rect">
                <a:avLst/>
              </a:prstGeom>
            </p:spPr>
          </p:pic>
        </p:grpSp>
      </p:grpSp>
      <p:grpSp>
        <p:nvGrpSpPr>
          <p:cNvPr id="481" name="Group 480">
            <a:extLst>
              <a:ext uri="{FF2B5EF4-FFF2-40B4-BE49-F238E27FC236}">
                <a16:creationId xmlns:a16="http://schemas.microsoft.com/office/drawing/2014/main" id="{C670580E-20D4-5F02-708D-075D3190E17C}"/>
              </a:ext>
            </a:extLst>
          </p:cNvPr>
          <p:cNvGrpSpPr/>
          <p:nvPr/>
        </p:nvGrpSpPr>
        <p:grpSpPr>
          <a:xfrm>
            <a:off x="29824485" y="13878214"/>
            <a:ext cx="9535727" cy="6167394"/>
            <a:chOff x="29774216" y="4237347"/>
            <a:chExt cx="9535727" cy="6167394"/>
          </a:xfrm>
        </p:grpSpPr>
        <p:sp>
          <p:nvSpPr>
            <p:cNvPr id="482" name="Rectangle: Rounded Corners 481">
              <a:extLst>
                <a:ext uri="{FF2B5EF4-FFF2-40B4-BE49-F238E27FC236}">
                  <a16:creationId xmlns:a16="http://schemas.microsoft.com/office/drawing/2014/main" id="{1D50E15B-C900-2334-9B5E-3FBFE3BF13FC}"/>
                </a:ext>
              </a:extLst>
            </p:cNvPr>
            <p:cNvSpPr/>
            <p:nvPr/>
          </p:nvSpPr>
          <p:spPr>
            <a:xfrm>
              <a:off x="29775952" y="5348955"/>
              <a:ext cx="9502478" cy="5055786"/>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1600" dirty="0"/>
                <a:t> 	</a:t>
              </a:r>
              <a:r>
                <a:rPr lang="en-US" sz="1700" dirty="0">
                  <a:solidFill>
                    <a:srgbClr val="222831"/>
                  </a:solidFill>
                  <a:latin typeface="Times New Roman" panose="02020603050405020304" pitchFamily="18" charset="0"/>
                  <a:cs typeface="Times New Roman" panose="02020603050405020304" pitchFamily="18" charset="0"/>
                </a:rPr>
                <a:t>There is no perfect prototype, and our prototype is no exception. We recommend some features and attributes that can make major effects in the bridge that could help in improving the application and efficiency of our project. For people who want to follow some footsteps in the improvement of this project, they can do</a:t>
              </a:r>
            </a:p>
            <a:p>
              <a:endParaRPr lang="en-US" sz="1700" dirty="0">
                <a:solidFill>
                  <a:srgbClr val="222831"/>
                </a:solidFill>
                <a:latin typeface="Times New Roman" panose="02020603050405020304" pitchFamily="18" charset="0"/>
                <a:cs typeface="Times New Roman" panose="02020603050405020304" pitchFamily="18" charset="0"/>
              </a:endParaRPr>
            </a:p>
            <a:p>
              <a:r>
                <a:rPr lang="en-US" sz="1700" dirty="0">
                  <a:solidFill>
                    <a:srgbClr val="222831"/>
                  </a:solidFill>
                  <a:latin typeface="Times New Roman" panose="02020603050405020304" pitchFamily="18" charset="0"/>
                  <a:cs typeface="Times New Roman" panose="02020603050405020304" pitchFamily="18" charset="0"/>
                </a:rPr>
                <a:t>1. 	Try to use renewable energy, especially solar panels, to power the motors because this will be better than using batteries. This will save as much electricity as possible.</a:t>
              </a:r>
            </a:p>
            <a:p>
              <a:r>
                <a:rPr lang="en-US" sz="1700" dirty="0">
                  <a:solidFill>
                    <a:srgbClr val="222831"/>
                  </a:solidFill>
                  <a:latin typeface="Times New Roman" panose="02020603050405020304" pitchFamily="18" charset="0"/>
                  <a:cs typeface="Times New Roman" panose="02020603050405020304" pitchFamily="18" charset="0"/>
                </a:rPr>
                <a:t>2. 	Try to use stronger materials than palm midribs, and we suggest using cement and steel. As palm tree midribs are not strong enough  material, take into consideration using recycled materials.</a:t>
              </a:r>
            </a:p>
            <a:p>
              <a:r>
                <a:rPr lang="en-US" sz="1700" dirty="0">
                  <a:solidFill>
                    <a:srgbClr val="222831"/>
                  </a:solidFill>
                  <a:latin typeface="Times New Roman" panose="02020603050405020304" pitchFamily="18" charset="0"/>
                  <a:cs typeface="Times New Roman" panose="02020603050405020304" pitchFamily="18" charset="0"/>
                </a:rPr>
                <a:t>3. 	We suggest using ultrasonic sensors instead of using a remote control. This can make a system of automatic operating that can open only when passing ships.</a:t>
              </a:r>
            </a:p>
            <a:p>
              <a:r>
                <a:rPr lang="en-US" sz="1700" dirty="0">
                  <a:solidFill>
                    <a:srgbClr val="222831"/>
                  </a:solidFill>
                  <a:latin typeface="Times New Roman" panose="02020603050405020304" pitchFamily="18" charset="0"/>
                  <a:cs typeface="Times New Roman" panose="02020603050405020304" pitchFamily="18" charset="0"/>
                </a:rPr>
                <a:t>4. 	Install a drainage system to channel rainwater away to prevent water from damaging parts of the bridge.</a:t>
              </a:r>
            </a:p>
            <a:p>
              <a:r>
                <a:rPr lang="en-US" sz="1700" dirty="0">
                  <a:solidFill>
                    <a:srgbClr val="222831"/>
                  </a:solidFill>
                  <a:latin typeface="Times New Roman" panose="02020603050405020304" pitchFamily="18" charset="0"/>
                  <a:cs typeface="Times New Roman" panose="02020603050405020304" pitchFamily="18" charset="0"/>
                </a:rPr>
                <a:t>5. 	Use smart cameras to monitor traffic or road conditions; this can be effective in recording what happens on the road and shipping water paths; this can also give information on incoming ships and water traffic.</a:t>
              </a:r>
            </a:p>
            <a:p>
              <a:r>
                <a:rPr lang="en-US" sz="1700" dirty="0">
                  <a:solidFill>
                    <a:srgbClr val="222831"/>
                  </a:solidFill>
                  <a:latin typeface="Times New Roman" panose="02020603050405020304" pitchFamily="18" charset="0"/>
                  <a:cs typeface="Times New Roman" panose="02020603050405020304" pitchFamily="18" charset="0"/>
                </a:rPr>
                <a:t>6. 	Provide green spaces. This can happen by planting green areas in pedestrian lanes; this can reduce carbon dioxide gases emitted by cars and vehicles.</a:t>
              </a:r>
            </a:p>
          </p:txBody>
        </p:sp>
        <p:grpSp>
          <p:nvGrpSpPr>
            <p:cNvPr id="484" name="Group 483">
              <a:extLst>
                <a:ext uri="{FF2B5EF4-FFF2-40B4-BE49-F238E27FC236}">
                  <a16:creationId xmlns:a16="http://schemas.microsoft.com/office/drawing/2014/main" id="{6BBEA614-D732-D606-C0CD-4523F1DA3F56}"/>
                </a:ext>
              </a:extLst>
            </p:cNvPr>
            <p:cNvGrpSpPr/>
            <p:nvPr/>
          </p:nvGrpSpPr>
          <p:grpSpPr>
            <a:xfrm>
              <a:off x="29774216" y="4237347"/>
              <a:ext cx="9535727" cy="1038904"/>
              <a:chOff x="242851" y="4396904"/>
              <a:chExt cx="9535727" cy="1038904"/>
            </a:xfrm>
          </p:grpSpPr>
          <p:sp>
            <p:nvSpPr>
              <p:cNvPr id="486" name="Rectangle: Rounded Corners 485">
                <a:extLst>
                  <a:ext uri="{FF2B5EF4-FFF2-40B4-BE49-F238E27FC236}">
                    <a16:creationId xmlns:a16="http://schemas.microsoft.com/office/drawing/2014/main" id="{C2FB21F9-028D-9574-AC48-EEC479724C50}"/>
                  </a:ext>
                </a:extLst>
              </p:cNvPr>
              <p:cNvSpPr/>
              <p:nvPr/>
            </p:nvSpPr>
            <p:spPr>
              <a:xfrm>
                <a:off x="242851" y="4396905"/>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Recommendation</a:t>
                </a:r>
              </a:p>
            </p:txBody>
          </p:sp>
          <p:pic>
            <p:nvPicPr>
              <p:cNvPr id="487" name="Picture 486">
                <a:extLst>
                  <a:ext uri="{FF2B5EF4-FFF2-40B4-BE49-F238E27FC236}">
                    <a16:creationId xmlns:a16="http://schemas.microsoft.com/office/drawing/2014/main" id="{E029AF7B-EA7A-B8EB-3FBE-BF19C3915300}"/>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p:spPr>
          </p:pic>
          <p:pic>
            <p:nvPicPr>
              <p:cNvPr id="488" name="Picture 487">
                <a:extLst>
                  <a:ext uri="{FF2B5EF4-FFF2-40B4-BE49-F238E27FC236}">
                    <a16:creationId xmlns:a16="http://schemas.microsoft.com/office/drawing/2014/main" id="{376B79C2-5426-7C84-3013-3501408C0150}"/>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p:spPr>
          </p:pic>
        </p:grpSp>
      </p:grpSp>
      <p:pic>
        <p:nvPicPr>
          <p:cNvPr id="490" name="Picture 489">
            <a:extLst>
              <a:ext uri="{FF2B5EF4-FFF2-40B4-BE49-F238E27FC236}">
                <a16:creationId xmlns:a16="http://schemas.microsoft.com/office/drawing/2014/main" id="{04BAAED5-9E6E-0A64-018B-030BD00FFCA2}"/>
              </a:ext>
            </a:extLst>
          </p:cNvPr>
          <p:cNvPicPr>
            <a:picLocks noChangeAspect="1"/>
          </p:cNvPicPr>
          <p:nvPr/>
        </p:nvPicPr>
        <p:blipFill>
          <a:blip r:embed="rId21"/>
          <a:stretch>
            <a:fillRect/>
          </a:stretch>
        </p:blipFill>
        <p:spPr>
          <a:xfrm>
            <a:off x="31141330" y="14017554"/>
            <a:ext cx="792676" cy="792676"/>
          </a:xfrm>
          <a:prstGeom prst="rect">
            <a:avLst/>
          </a:prstGeom>
        </p:spPr>
      </p:pic>
      <p:grpSp>
        <p:nvGrpSpPr>
          <p:cNvPr id="505" name="Group 504">
            <a:extLst>
              <a:ext uri="{FF2B5EF4-FFF2-40B4-BE49-F238E27FC236}">
                <a16:creationId xmlns:a16="http://schemas.microsoft.com/office/drawing/2014/main" id="{4E622519-EB11-DE11-AE62-00B2777FC87A}"/>
              </a:ext>
            </a:extLst>
          </p:cNvPr>
          <p:cNvGrpSpPr/>
          <p:nvPr/>
        </p:nvGrpSpPr>
        <p:grpSpPr>
          <a:xfrm>
            <a:off x="29782248" y="20112823"/>
            <a:ext cx="9545346" cy="4551371"/>
            <a:chOff x="29726040" y="19044383"/>
            <a:chExt cx="9545346" cy="4551371"/>
          </a:xfrm>
        </p:grpSpPr>
        <p:grpSp>
          <p:nvGrpSpPr>
            <p:cNvPr id="491" name="Group 490">
              <a:extLst>
                <a:ext uri="{FF2B5EF4-FFF2-40B4-BE49-F238E27FC236}">
                  <a16:creationId xmlns:a16="http://schemas.microsoft.com/office/drawing/2014/main" id="{F228800B-D28D-5C88-A1AA-86B17D07DFA0}"/>
                </a:ext>
              </a:extLst>
            </p:cNvPr>
            <p:cNvGrpSpPr/>
            <p:nvPr/>
          </p:nvGrpSpPr>
          <p:grpSpPr>
            <a:xfrm>
              <a:off x="29726040" y="19044383"/>
              <a:ext cx="9545346" cy="4551371"/>
              <a:chOff x="29775952" y="5853370"/>
              <a:chExt cx="9545346" cy="4551371"/>
            </a:xfrm>
          </p:grpSpPr>
          <p:sp>
            <p:nvSpPr>
              <p:cNvPr id="492" name="Rectangle: Rounded Corners 491">
                <a:extLst>
                  <a:ext uri="{FF2B5EF4-FFF2-40B4-BE49-F238E27FC236}">
                    <a16:creationId xmlns:a16="http://schemas.microsoft.com/office/drawing/2014/main" id="{06916D96-1ACC-D714-60CA-508A2FA2BD59}"/>
                  </a:ext>
                </a:extLst>
              </p:cNvPr>
              <p:cNvSpPr/>
              <p:nvPr/>
            </p:nvSpPr>
            <p:spPr>
              <a:xfrm>
                <a:off x="29775952" y="7045717"/>
                <a:ext cx="9502478" cy="3359024"/>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342900" indent="-342900">
                  <a:buFont typeface="+mj-lt"/>
                  <a:buAutoNum type="arabicPeriod"/>
                </a:pPr>
                <a:r>
                  <a:rPr lang="en-US" sz="1600" b="0" i="0" dirty="0">
                    <a:solidFill>
                      <a:srgbClr val="222222"/>
                    </a:solidFill>
                    <a:effectLst/>
                    <a:latin typeface="Arial" panose="020B0604020202020204" pitchFamily="34" charset="0"/>
                  </a:rPr>
                  <a:t>El-Kadi, A. W. (2013). Suggested solutions for traffic congestion in Greater Cairo. </a:t>
                </a:r>
                <a:r>
                  <a:rPr lang="en-US" sz="1600" b="0" i="1" dirty="0">
                    <a:solidFill>
                      <a:srgbClr val="222222"/>
                    </a:solidFill>
                    <a:effectLst/>
                    <a:latin typeface="Arial" panose="020B0604020202020204" pitchFamily="34" charset="0"/>
                  </a:rPr>
                  <a:t>Journal of sustainable development</a:t>
                </a:r>
                <a:r>
                  <a:rPr lang="en-US" sz="1600" b="0" i="0" dirty="0">
                    <a:solidFill>
                      <a:srgbClr val="222222"/>
                    </a:solidFill>
                    <a:effectLst/>
                    <a:latin typeface="Arial" panose="020B0604020202020204" pitchFamily="34" charset="0"/>
                  </a:rPr>
                  <a:t>, </a:t>
                </a:r>
                <a:r>
                  <a:rPr lang="en-US" sz="1600" b="0" i="1" dirty="0">
                    <a:solidFill>
                      <a:srgbClr val="222222"/>
                    </a:solidFill>
                    <a:effectLst/>
                    <a:latin typeface="Arial" panose="020B0604020202020204" pitchFamily="34" charset="0"/>
                  </a:rPr>
                  <a:t>6</a:t>
                </a:r>
                <a:r>
                  <a:rPr lang="en-US" sz="1600" b="0" i="0" dirty="0">
                    <a:solidFill>
                      <a:srgbClr val="222222"/>
                    </a:solidFill>
                    <a:effectLst/>
                    <a:latin typeface="Arial" panose="020B0604020202020204" pitchFamily="34" charset="0"/>
                  </a:rPr>
                  <a:t>(11), 105. </a:t>
                </a:r>
                <a:r>
                  <a:rPr lang="en-US" sz="1600" dirty="0">
                    <a:solidFill>
                      <a:srgbClr val="222831"/>
                    </a:solidFill>
                    <a:latin typeface="Times New Roman" panose="02020603050405020304" pitchFamily="18" charset="0"/>
                    <a:cs typeface="Times New Roman" panose="02020603050405020304" pitchFamily="18" charset="0"/>
                    <a:hlinkClick r:id="rId22"/>
                  </a:rPr>
                  <a:t>https://pdfs.semanticscholar.org/60bf/4433d86870bc77953d0d88d1d30f0bca3666.pdf</a:t>
                </a:r>
                <a:endParaRPr lang="en-US" sz="1600" dirty="0">
                  <a:solidFill>
                    <a:srgbClr val="22283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0" i="0" dirty="0">
                    <a:solidFill>
                      <a:srgbClr val="222222"/>
                    </a:solidFill>
                    <a:effectLst/>
                    <a:latin typeface="Arial" panose="020B0604020202020204" pitchFamily="34" charset="0"/>
                  </a:rPr>
                  <a:t>McBriarty, P. T. (2013). </a:t>
                </a:r>
                <a:r>
                  <a:rPr lang="en-US" sz="1600" b="0" i="1" dirty="0">
                    <a:solidFill>
                      <a:srgbClr val="222222"/>
                    </a:solidFill>
                    <a:effectLst/>
                    <a:latin typeface="Arial" panose="020B0604020202020204" pitchFamily="34" charset="0"/>
                  </a:rPr>
                  <a:t>Chicago River Bridges</a:t>
                </a:r>
                <a:r>
                  <a:rPr lang="en-US" sz="1600" b="0" i="0" dirty="0">
                    <a:solidFill>
                      <a:srgbClr val="222222"/>
                    </a:solidFill>
                    <a:effectLst/>
                    <a:latin typeface="Arial" panose="020B0604020202020204" pitchFamily="34" charset="0"/>
                  </a:rPr>
                  <a:t>. University of Illinois Press </a:t>
                </a:r>
                <a:r>
                  <a:rPr lang="en-US" sz="1600" dirty="0">
                    <a:solidFill>
                      <a:srgbClr val="222831"/>
                    </a:solidFill>
                    <a:latin typeface="Times New Roman" panose="02020603050405020304" pitchFamily="18" charset="0"/>
                    <a:cs typeface="Times New Roman" panose="02020603050405020304" pitchFamily="18" charset="0"/>
                    <a:hlinkClick r:id="rId23"/>
                  </a:rPr>
                  <a:t>https://books.google.ru/books?id=YAzDCwAAQBAJ&amp;q=chicago+River+Bridges+book</a:t>
                </a:r>
                <a:endParaRPr lang="en-US" sz="1600" dirty="0">
                  <a:solidFill>
                    <a:srgbClr val="22283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0" i="0" dirty="0">
                    <a:solidFill>
                      <a:srgbClr val="222222"/>
                    </a:solidFill>
                    <a:effectLst/>
                    <a:latin typeface="Arial" panose="020B0604020202020204" pitchFamily="34" charset="0"/>
                  </a:rPr>
                  <a:t>Serway, R. A., Jewett, J. W., Wilson, K., &amp; Rowlands, W. (2016). </a:t>
                </a:r>
                <a:r>
                  <a:rPr lang="en-US" sz="1600" b="0" i="1" dirty="0">
                    <a:solidFill>
                      <a:srgbClr val="222222"/>
                    </a:solidFill>
                    <a:effectLst/>
                    <a:latin typeface="Arial" panose="020B0604020202020204" pitchFamily="34" charset="0"/>
                  </a:rPr>
                  <a:t>Physics for Global Scientists and Engineers, Volume 2</a:t>
                </a:r>
                <a:r>
                  <a:rPr lang="en-US" sz="1600" b="0" i="0" dirty="0">
                    <a:solidFill>
                      <a:srgbClr val="222222"/>
                    </a:solidFill>
                    <a:effectLst/>
                    <a:latin typeface="Arial" panose="020B0604020202020204" pitchFamily="34" charset="0"/>
                  </a:rPr>
                  <a:t> (Vol. 2). Cengage AU.</a:t>
                </a:r>
                <a:r>
                  <a:rPr lang="en-US" sz="1600" dirty="0">
                    <a:solidFill>
                      <a:srgbClr val="222831"/>
                    </a:solidFill>
                    <a:latin typeface="Times New Roman" panose="02020603050405020304" pitchFamily="18" charset="0"/>
                    <a:cs typeface="Times New Roman" panose="02020603050405020304" pitchFamily="18" charset="0"/>
                    <a:hlinkClick r:id="rId24"/>
                  </a:rPr>
                  <a:t> https://archive.org/details/SerwayJewettPhysicsForScientistsAndEngineersWithModernPhysics9ed</a:t>
                </a:r>
                <a:endParaRPr lang="en-US" sz="1600" dirty="0">
                  <a:solidFill>
                    <a:srgbClr val="22283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0" i="0" dirty="0">
                    <a:solidFill>
                      <a:srgbClr val="222222"/>
                    </a:solidFill>
                    <a:effectLst/>
                    <a:latin typeface="Arial" panose="020B0604020202020204" pitchFamily="34" charset="0"/>
                  </a:rPr>
                  <a:t>Illowsky, B., &amp; Dean, S. (2013). </a:t>
                </a:r>
                <a:r>
                  <a:rPr lang="en-US" sz="1600" b="0" i="1" dirty="0">
                    <a:solidFill>
                      <a:srgbClr val="222222"/>
                    </a:solidFill>
                    <a:effectLst/>
                    <a:latin typeface="Arial" panose="020B0604020202020204" pitchFamily="34" charset="0"/>
                  </a:rPr>
                  <a:t>Introductory Statistics 2e</a:t>
                </a:r>
                <a:r>
                  <a:rPr lang="en-US" sz="1600" b="0" i="0" dirty="0">
                    <a:solidFill>
                      <a:srgbClr val="222222"/>
                    </a:solidFill>
                    <a:effectLst/>
                    <a:latin typeface="Arial" panose="020B0604020202020204" pitchFamily="34" charset="0"/>
                  </a:rPr>
                  <a:t>. OpenStax</a:t>
                </a:r>
              </a:p>
              <a:p>
                <a:r>
                  <a:rPr lang="en-US" sz="1600" b="0" i="0" dirty="0">
                    <a:solidFill>
                      <a:srgbClr val="222222"/>
                    </a:solidFill>
                    <a:effectLst/>
                    <a:latin typeface="Arial" panose="020B0604020202020204" pitchFamily="34" charset="0"/>
                  </a:rPr>
                  <a:t>      </a:t>
                </a:r>
                <a:r>
                  <a:rPr lang="en-US" sz="1600" dirty="0">
                    <a:solidFill>
                      <a:srgbClr val="222831"/>
                    </a:solidFill>
                    <a:latin typeface="Times New Roman" panose="02020603050405020304" pitchFamily="18" charset="0"/>
                    <a:cs typeface="Times New Roman" panose="02020603050405020304" pitchFamily="18" charset="0"/>
                    <a:hlinkClick r:id="rId25"/>
                  </a:rPr>
                  <a:t>https://assets.openstax.org/oscms-prodcms/media/documents/IntroductoryStatistics-OP_i6tAI7e.pdf</a:t>
                </a:r>
                <a:endParaRPr lang="en-US" sz="1600" b="0" i="0" dirty="0">
                  <a:solidFill>
                    <a:srgbClr val="222222"/>
                  </a:solidFill>
                  <a:effectLst/>
                  <a:latin typeface="Arial" panose="020B0604020202020204" pitchFamily="34" charset="0"/>
                </a:endParaRPr>
              </a:p>
              <a:p>
                <a:r>
                  <a:rPr lang="en-US" sz="1600" dirty="0">
                    <a:solidFill>
                      <a:srgbClr val="222222"/>
                    </a:solidFill>
                    <a:latin typeface="Arial" panose="020B0604020202020204" pitchFamily="34" charset="0"/>
                  </a:rPr>
                  <a:t>5.    Arduino Servo Motor Control with Motor Driver Shield L293D. (n.d.). Arduino Project Hub.</a:t>
                </a:r>
              </a:p>
              <a:p>
                <a:r>
                  <a:rPr lang="en-US" sz="1600" dirty="0">
                    <a:solidFill>
                      <a:srgbClr val="222222"/>
                    </a:solidFill>
                    <a:latin typeface="Arial" panose="020B0604020202020204" pitchFamily="34" charset="0"/>
                  </a:rPr>
                  <a:t>	</a:t>
                </a:r>
                <a:r>
                  <a:rPr lang="en-US" sz="1600" dirty="0">
                    <a:solidFill>
                      <a:srgbClr val="222831"/>
                    </a:solidFill>
                    <a:latin typeface="Times New Roman" panose="02020603050405020304" pitchFamily="18" charset="0"/>
                    <a:cs typeface="Times New Roman" panose="02020603050405020304" pitchFamily="18" charset="0"/>
                    <a:hlinkClick r:id="rId26"/>
                  </a:rPr>
                  <a:t>https://projecthub.arduino.cc/Fouad_Roboticist/arduino-servo-motor-control-with-motor-driver-shield-l293d-beab43</a:t>
                </a:r>
                <a:endParaRPr lang="en-US" sz="1600" dirty="0">
                  <a:solidFill>
                    <a:srgbClr val="222831"/>
                  </a:solidFill>
                  <a:latin typeface="Times New Roman" panose="02020603050405020304" pitchFamily="18" charset="0"/>
                  <a:cs typeface="Times New Roman" panose="02020603050405020304" pitchFamily="18" charset="0"/>
                </a:endParaRPr>
              </a:p>
              <a:p>
                <a:endParaRPr lang="en-US" sz="1600" dirty="0">
                  <a:solidFill>
                    <a:srgbClr val="222831"/>
                  </a:solidFill>
                  <a:latin typeface="Times New Roman" panose="02020603050405020304" pitchFamily="18" charset="0"/>
                  <a:cs typeface="Times New Roman" panose="02020603050405020304" pitchFamily="18" charset="0"/>
                </a:endParaRPr>
              </a:p>
              <a:p>
                <a:endParaRPr lang="en-US" sz="1600" dirty="0">
                  <a:solidFill>
                    <a:srgbClr val="222831"/>
                  </a:solidFill>
                  <a:latin typeface="Times New Roman" panose="02020603050405020304" pitchFamily="18" charset="0"/>
                  <a:cs typeface="Times New Roman" panose="02020603050405020304" pitchFamily="18" charset="0"/>
                </a:endParaRPr>
              </a:p>
            </p:txBody>
          </p:sp>
          <p:grpSp>
            <p:nvGrpSpPr>
              <p:cNvPr id="493" name="Group 492">
                <a:extLst>
                  <a:ext uri="{FF2B5EF4-FFF2-40B4-BE49-F238E27FC236}">
                    <a16:creationId xmlns:a16="http://schemas.microsoft.com/office/drawing/2014/main" id="{5D6B6708-2BFA-EBA1-9496-38BFB60BF747}"/>
                  </a:ext>
                </a:extLst>
              </p:cNvPr>
              <p:cNvGrpSpPr/>
              <p:nvPr/>
            </p:nvGrpSpPr>
            <p:grpSpPr>
              <a:xfrm>
                <a:off x="29785571" y="5853370"/>
                <a:ext cx="9535727" cy="1046630"/>
                <a:chOff x="254206" y="6012927"/>
                <a:chExt cx="9535727" cy="1046630"/>
              </a:xfrm>
            </p:grpSpPr>
            <p:sp>
              <p:nvSpPr>
                <p:cNvPr id="494" name="Rectangle: Rounded Corners 493">
                  <a:extLst>
                    <a:ext uri="{FF2B5EF4-FFF2-40B4-BE49-F238E27FC236}">
                      <a16:creationId xmlns:a16="http://schemas.microsoft.com/office/drawing/2014/main" id="{3F1B8D15-5DC4-C3EC-C7C3-3ADC6DF38830}"/>
                    </a:ext>
                  </a:extLst>
                </p:cNvPr>
                <p:cNvSpPr/>
                <p:nvPr/>
              </p:nvSpPr>
              <p:spPr>
                <a:xfrm>
                  <a:off x="254206" y="6012928"/>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Literature cited</a:t>
                  </a:r>
                </a:p>
              </p:txBody>
            </p:sp>
            <p:pic>
              <p:nvPicPr>
                <p:cNvPr id="495" name="Picture 494">
                  <a:extLst>
                    <a:ext uri="{FF2B5EF4-FFF2-40B4-BE49-F238E27FC236}">
                      <a16:creationId xmlns:a16="http://schemas.microsoft.com/office/drawing/2014/main" id="{CC2E36F6-1397-E34E-8B93-0B5CCA2AEEF4}"/>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72356" y="6023087"/>
                  <a:ext cx="1118594" cy="1036470"/>
                </a:xfrm>
                <a:prstGeom prst="rect">
                  <a:avLst/>
                </a:prstGeom>
              </p:spPr>
            </p:pic>
            <p:pic>
              <p:nvPicPr>
                <p:cNvPr id="496" name="Picture 495">
                  <a:extLst>
                    <a:ext uri="{FF2B5EF4-FFF2-40B4-BE49-F238E27FC236}">
                      <a16:creationId xmlns:a16="http://schemas.microsoft.com/office/drawing/2014/main" id="{C2821B00-55B9-0570-5EF5-C03D0E375E7F}"/>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56240" y="6012927"/>
                  <a:ext cx="1118594" cy="1036470"/>
                </a:xfrm>
                <a:prstGeom prst="rect">
                  <a:avLst/>
                </a:prstGeom>
              </p:spPr>
            </p:pic>
          </p:grpSp>
        </p:grpSp>
        <p:pic>
          <p:nvPicPr>
            <p:cNvPr id="498" name="Picture 497">
              <a:extLst>
                <a:ext uri="{FF2B5EF4-FFF2-40B4-BE49-F238E27FC236}">
                  <a16:creationId xmlns:a16="http://schemas.microsoft.com/office/drawing/2014/main" id="{7C5D6D0B-BA02-F67A-B08C-865EA289AF1A}"/>
                </a:ext>
              </a:extLst>
            </p:cNvPr>
            <p:cNvPicPr>
              <a:picLocks noChangeAspect="1"/>
            </p:cNvPicPr>
            <p:nvPr/>
          </p:nvPicPr>
          <p:blipFill>
            <a:blip r:embed="rId27"/>
            <a:stretch>
              <a:fillRect/>
            </a:stretch>
          </p:blipFill>
          <p:spPr>
            <a:xfrm>
              <a:off x="31067687" y="19053797"/>
              <a:ext cx="964632" cy="964632"/>
            </a:xfrm>
            <a:prstGeom prst="rect">
              <a:avLst/>
            </a:prstGeom>
          </p:spPr>
        </p:pic>
      </p:grpSp>
      <p:sp>
        <p:nvSpPr>
          <p:cNvPr id="509" name="Rectangle: Rounded Corners 508">
            <a:extLst>
              <a:ext uri="{FF2B5EF4-FFF2-40B4-BE49-F238E27FC236}">
                <a16:creationId xmlns:a16="http://schemas.microsoft.com/office/drawing/2014/main" id="{6FAE7C62-BE4D-4249-3704-3073C6806FBC}"/>
              </a:ext>
            </a:extLst>
          </p:cNvPr>
          <p:cNvSpPr/>
          <p:nvPr/>
        </p:nvSpPr>
        <p:spPr>
          <a:xfrm>
            <a:off x="29722357" y="25875874"/>
            <a:ext cx="9502478" cy="2420009"/>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0" i="0" dirty="0">
              <a:solidFill>
                <a:srgbClr val="1F1F1F"/>
              </a:solidFill>
              <a:effectLst/>
              <a:latin typeface="Times New Roman" panose="02020603050405020304" pitchFamily="18" charset="0"/>
              <a:cs typeface="Times New Roman" panose="02020603050405020304" pitchFamily="18" charset="0"/>
              <a:hlinkClick r:id="rId28"/>
            </a:endParaRPr>
          </a:p>
          <a:p>
            <a:pPr algn="ctr"/>
            <a:r>
              <a:rPr lang="en-US" sz="2800" dirty="0">
                <a:solidFill>
                  <a:srgbClr val="1F1F1F"/>
                </a:solidFill>
                <a:latin typeface="Times New Roman" panose="02020603050405020304" pitchFamily="18" charset="0"/>
                <a:cs typeface="Times New Roman" panose="02020603050405020304" pitchFamily="18" charset="0"/>
                <a:hlinkClick r:id="rId28"/>
              </a:rPr>
              <a:t>A</a:t>
            </a:r>
            <a:r>
              <a:rPr lang="en-US" sz="2800" b="0" i="0" dirty="0">
                <a:solidFill>
                  <a:srgbClr val="1F1F1F"/>
                </a:solidFill>
                <a:effectLst/>
                <a:latin typeface="Times New Roman" panose="02020603050405020304" pitchFamily="18" charset="0"/>
                <a:cs typeface="Times New Roman" panose="02020603050405020304" pitchFamily="18" charset="0"/>
                <a:hlinkClick r:id="rId28"/>
              </a:rPr>
              <a:t>nas.2324015@stemqena.moe.edu.eg</a:t>
            </a:r>
          </a:p>
          <a:p>
            <a:pPr algn="ctr"/>
            <a:r>
              <a:rPr lang="en-US" sz="2800" dirty="0">
                <a:solidFill>
                  <a:srgbClr val="1F1F1F"/>
                </a:solidFill>
                <a:latin typeface="Times New Roman" panose="02020603050405020304" pitchFamily="18" charset="0"/>
                <a:cs typeface="Times New Roman" panose="02020603050405020304" pitchFamily="18" charset="0"/>
                <a:hlinkClick r:id="rId28"/>
              </a:rPr>
              <a:t>Ahmed.2324003@stemqena.moe.edu.eg</a:t>
            </a:r>
          </a:p>
          <a:p>
            <a:pPr algn="ctr"/>
            <a:r>
              <a:rPr lang="en-US" sz="2800" dirty="0">
                <a:solidFill>
                  <a:srgbClr val="1F1F1F"/>
                </a:solidFill>
                <a:latin typeface="Times New Roman" panose="02020603050405020304" pitchFamily="18" charset="0"/>
                <a:cs typeface="Times New Roman" panose="02020603050405020304" pitchFamily="18" charset="0"/>
                <a:hlinkClick r:id="rId28"/>
              </a:rPr>
              <a:t>Ahmed.2324004@stemqena.moe.edu.eg</a:t>
            </a:r>
          </a:p>
          <a:p>
            <a:pPr algn="ctr"/>
            <a:r>
              <a:rPr lang="en-US" sz="2800" dirty="0">
                <a:solidFill>
                  <a:srgbClr val="1F1F1F"/>
                </a:solidFill>
                <a:latin typeface="Times New Roman" panose="02020603050405020304" pitchFamily="18" charset="0"/>
                <a:cs typeface="Times New Roman" panose="02020603050405020304" pitchFamily="18" charset="0"/>
                <a:hlinkClick r:id="rId28"/>
              </a:rPr>
              <a:t>P</a:t>
            </a:r>
            <a:r>
              <a:rPr lang="en-US" sz="2800" b="0" i="0" dirty="0">
                <a:solidFill>
                  <a:srgbClr val="1F1F1F"/>
                </a:solidFill>
                <a:effectLst/>
                <a:latin typeface="Times New Roman" panose="02020603050405020304" pitchFamily="18" charset="0"/>
                <a:cs typeface="Times New Roman" panose="02020603050405020304" pitchFamily="18" charset="0"/>
                <a:hlinkClick r:id="rId28"/>
              </a:rPr>
              <a:t>hilopateer.2324039@stemqena.moe.edu.eg</a:t>
            </a:r>
          </a:p>
          <a:p>
            <a:pPr algn="ctr"/>
            <a:r>
              <a:rPr lang="en-US" sz="2800" dirty="0">
                <a:solidFill>
                  <a:srgbClr val="1F1F1F"/>
                </a:solidFill>
                <a:latin typeface="Times New Roman" panose="02020603050405020304" pitchFamily="18" charset="0"/>
                <a:cs typeface="Times New Roman" panose="02020603050405020304" pitchFamily="18" charset="0"/>
                <a:hlinkClick r:id="rId28"/>
              </a:rPr>
              <a:t>M</a:t>
            </a:r>
            <a:r>
              <a:rPr lang="en-US" sz="2800" b="0" i="0" dirty="0">
                <a:solidFill>
                  <a:srgbClr val="1F1F1F"/>
                </a:solidFill>
                <a:effectLst/>
                <a:latin typeface="Times New Roman" panose="02020603050405020304" pitchFamily="18" charset="0"/>
                <a:cs typeface="Times New Roman" panose="02020603050405020304" pitchFamily="18" charset="0"/>
                <a:hlinkClick r:id="rId28"/>
              </a:rPr>
              <a:t>ahmoud.2324055@stemqena.moe.edu.eg</a:t>
            </a:r>
            <a:endParaRPr lang="en-US" sz="2800" b="0" i="0" dirty="0">
              <a:solidFill>
                <a:srgbClr val="1F1F1F"/>
              </a:solidFill>
              <a:effectLst/>
              <a:latin typeface="Times New Roman" panose="02020603050405020304" pitchFamily="18" charset="0"/>
              <a:cs typeface="Times New Roman" panose="02020603050405020304" pitchFamily="18" charset="0"/>
            </a:endParaRPr>
          </a:p>
          <a:p>
            <a:br>
              <a:rPr lang="en-US" dirty="0"/>
            </a:br>
            <a:endParaRPr lang="en-US" dirty="0"/>
          </a:p>
        </p:txBody>
      </p:sp>
      <p:grpSp>
        <p:nvGrpSpPr>
          <p:cNvPr id="510" name="Group 509">
            <a:extLst>
              <a:ext uri="{FF2B5EF4-FFF2-40B4-BE49-F238E27FC236}">
                <a16:creationId xmlns:a16="http://schemas.microsoft.com/office/drawing/2014/main" id="{E24A5B60-2947-21A8-F127-F75F257CD574}"/>
              </a:ext>
            </a:extLst>
          </p:cNvPr>
          <p:cNvGrpSpPr/>
          <p:nvPr/>
        </p:nvGrpSpPr>
        <p:grpSpPr>
          <a:xfrm>
            <a:off x="29722357" y="24753143"/>
            <a:ext cx="9535727" cy="1038904"/>
            <a:chOff x="242851" y="4396904"/>
            <a:chExt cx="9535727" cy="1038904"/>
          </a:xfrm>
        </p:grpSpPr>
        <p:sp>
          <p:nvSpPr>
            <p:cNvPr id="511" name="Rectangle: Rounded Corners 510">
              <a:extLst>
                <a:ext uri="{FF2B5EF4-FFF2-40B4-BE49-F238E27FC236}">
                  <a16:creationId xmlns:a16="http://schemas.microsoft.com/office/drawing/2014/main" id="{408AB467-57F1-41B3-2A1E-B892A32503B1}"/>
                </a:ext>
              </a:extLst>
            </p:cNvPr>
            <p:cNvSpPr/>
            <p:nvPr/>
          </p:nvSpPr>
          <p:spPr>
            <a:xfrm>
              <a:off x="242851" y="4396905"/>
              <a:ext cx="9535727" cy="1038903"/>
            </a:xfrm>
            <a:prstGeom prst="roundRect">
              <a:avLst>
                <a:gd name="adj" fmla="val 19601"/>
              </a:avLst>
            </a:prstGeom>
            <a:solidFill>
              <a:srgbClr val="00ADB5"/>
            </a:solidFill>
            <a:ln>
              <a:noFill/>
            </a:ln>
            <a:effectLst>
              <a:glow>
                <a:srgbClr val="00ADB5"/>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Rockwell" panose="02060603020205020403" pitchFamily="18" charset="0"/>
                </a:rPr>
                <a:t>Contact INFO</a:t>
              </a:r>
            </a:p>
          </p:txBody>
        </p:sp>
        <p:pic>
          <p:nvPicPr>
            <p:cNvPr id="512" name="Picture 511">
              <a:extLst>
                <a:ext uri="{FF2B5EF4-FFF2-40B4-BE49-F238E27FC236}">
                  <a16:creationId xmlns:a16="http://schemas.microsoft.com/office/drawing/2014/main" id="{F40FAE16-A686-5D42-49B5-EF1A21E0FA95}"/>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a:off x="261001" y="4396904"/>
              <a:ext cx="1118594" cy="1036470"/>
            </a:xfrm>
            <a:prstGeom prst="rect">
              <a:avLst/>
            </a:prstGeom>
          </p:spPr>
        </p:pic>
        <p:pic>
          <p:nvPicPr>
            <p:cNvPr id="513" name="Picture 512">
              <a:extLst>
                <a:ext uri="{FF2B5EF4-FFF2-40B4-BE49-F238E27FC236}">
                  <a16:creationId xmlns:a16="http://schemas.microsoft.com/office/drawing/2014/main" id="{283CDE26-E9D3-C6EA-1EA4-E1186B0CE81B}"/>
                </a:ext>
              </a:extLst>
            </p:cNvPr>
            <p:cNvPicPr>
              <a:picLocks noChangeAspect="1"/>
            </p:cNvPicPr>
            <p:nvPr/>
          </p:nvPicPr>
          <p:blipFill>
            <a:blip r:embed="rId2">
              <a:extLst>
                <a:ext uri="{28A0092B-C50C-407E-A947-70E740481C1C}">
                  <a14:useLocalDpi xmlns:a14="http://schemas.microsoft.com/office/drawing/2010/main" val="0"/>
                </a:ext>
              </a:extLst>
            </a:blip>
            <a:srcRect l="3797" t="9017" r="50000" b="2875"/>
            <a:stretch/>
          </p:blipFill>
          <p:spPr>
            <a:xfrm flipH="1">
              <a:off x="8644885" y="4396904"/>
              <a:ext cx="1118594" cy="1036470"/>
            </a:xfrm>
            <a:prstGeom prst="rect">
              <a:avLst/>
            </a:prstGeom>
          </p:spPr>
        </p:pic>
      </p:grpSp>
      <p:pic>
        <p:nvPicPr>
          <p:cNvPr id="522" name="Picture 521">
            <a:extLst>
              <a:ext uri="{FF2B5EF4-FFF2-40B4-BE49-F238E27FC236}">
                <a16:creationId xmlns:a16="http://schemas.microsoft.com/office/drawing/2014/main" id="{5CAD38AA-6ECD-E1E9-DF1F-9BD491BAA176}"/>
              </a:ext>
            </a:extLst>
          </p:cNvPr>
          <p:cNvPicPr>
            <a:picLocks noChangeAspect="1"/>
          </p:cNvPicPr>
          <p:nvPr/>
        </p:nvPicPr>
        <p:blipFill>
          <a:blip r:embed="rId29"/>
          <a:stretch>
            <a:fillRect/>
          </a:stretch>
        </p:blipFill>
        <p:spPr>
          <a:xfrm>
            <a:off x="31495307" y="24832678"/>
            <a:ext cx="877399" cy="877399"/>
          </a:xfrm>
          <a:prstGeom prst="rect">
            <a:avLst/>
          </a:prstGeom>
        </p:spPr>
      </p:pic>
      <p:graphicFrame>
        <p:nvGraphicFramePr>
          <p:cNvPr id="12" name="Table 11">
            <a:extLst>
              <a:ext uri="{FF2B5EF4-FFF2-40B4-BE49-F238E27FC236}">
                <a16:creationId xmlns:a16="http://schemas.microsoft.com/office/drawing/2014/main" id="{9C88B719-4B45-F73C-9C5E-5F524B9AC683}"/>
              </a:ext>
            </a:extLst>
          </p:cNvPr>
          <p:cNvGraphicFramePr>
            <a:graphicFrameLocks noGrp="1"/>
          </p:cNvGraphicFramePr>
          <p:nvPr>
            <p:extLst>
              <p:ext uri="{D42A27DB-BD31-4B8C-83A1-F6EECF244321}">
                <p14:modId xmlns:p14="http://schemas.microsoft.com/office/powerpoint/2010/main" val="3867363184"/>
              </p:ext>
            </p:extLst>
          </p:nvPr>
        </p:nvGraphicFramePr>
        <p:xfrm>
          <a:off x="148553" y="25042540"/>
          <a:ext cx="9870183" cy="3303854"/>
        </p:xfrm>
        <a:graphic>
          <a:graphicData uri="http://schemas.openxmlformats.org/drawingml/2006/table">
            <a:tbl>
              <a:tblPr firstRow="1" bandRow="1">
                <a:tableStyleId>{7DF18680-E054-41AD-8BC1-D1AEF772440D}</a:tableStyleId>
              </a:tblPr>
              <a:tblGrid>
                <a:gridCol w="1308006">
                  <a:extLst>
                    <a:ext uri="{9D8B030D-6E8A-4147-A177-3AD203B41FA5}">
                      <a16:colId xmlns:a16="http://schemas.microsoft.com/office/drawing/2014/main" val="1094405281"/>
                    </a:ext>
                  </a:extLst>
                </a:gridCol>
                <a:gridCol w="1859280">
                  <a:extLst>
                    <a:ext uri="{9D8B030D-6E8A-4147-A177-3AD203B41FA5}">
                      <a16:colId xmlns:a16="http://schemas.microsoft.com/office/drawing/2014/main" val="61608092"/>
                    </a:ext>
                  </a:extLst>
                </a:gridCol>
                <a:gridCol w="1783080">
                  <a:extLst>
                    <a:ext uri="{9D8B030D-6E8A-4147-A177-3AD203B41FA5}">
                      <a16:colId xmlns:a16="http://schemas.microsoft.com/office/drawing/2014/main" val="88278312"/>
                    </a:ext>
                  </a:extLst>
                </a:gridCol>
                <a:gridCol w="1203960">
                  <a:extLst>
                    <a:ext uri="{9D8B030D-6E8A-4147-A177-3AD203B41FA5}">
                      <a16:colId xmlns:a16="http://schemas.microsoft.com/office/drawing/2014/main" val="3290245902"/>
                    </a:ext>
                  </a:extLst>
                </a:gridCol>
                <a:gridCol w="1859280">
                  <a:extLst>
                    <a:ext uri="{9D8B030D-6E8A-4147-A177-3AD203B41FA5}">
                      <a16:colId xmlns:a16="http://schemas.microsoft.com/office/drawing/2014/main" val="3152312433"/>
                    </a:ext>
                  </a:extLst>
                </a:gridCol>
                <a:gridCol w="1856577">
                  <a:extLst>
                    <a:ext uri="{9D8B030D-6E8A-4147-A177-3AD203B41FA5}">
                      <a16:colId xmlns:a16="http://schemas.microsoft.com/office/drawing/2014/main" val="3877664263"/>
                    </a:ext>
                  </a:extLst>
                </a:gridCol>
              </a:tblGrid>
              <a:tr h="530886">
                <a:tc>
                  <a:txBody>
                    <a:bodyPr/>
                    <a:lstStyle/>
                    <a:p>
                      <a:r>
                        <a:rPr lang="en-US" sz="2800" dirty="0"/>
                        <a:t>Item</a:t>
                      </a:r>
                      <a:endParaRPr lang="en-US" sz="2800" dirty="0">
                        <a:latin typeface="Times New Roman" panose="02020603050405020304" pitchFamily="18" charset="0"/>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Usage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Picture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r>
                        <a:rPr lang="en-US" sz="2800" dirty="0"/>
                        <a:t>Item</a:t>
                      </a:r>
                      <a:endParaRPr lang="en-US" sz="2800" dirty="0">
                        <a:latin typeface="Times New Roman" panose="02020603050405020304" pitchFamily="18" charset="0"/>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Usage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Picture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extLst>
                  <a:ext uri="{0D108BD9-81ED-4DB2-BD59-A6C34878D82A}">
                    <a16:rowId xmlns:a16="http://schemas.microsoft.com/office/drawing/2014/main" val="1864090695"/>
                  </a:ext>
                </a:extLst>
              </a:tr>
              <a:tr h="1498972">
                <a:tc>
                  <a:txBody>
                    <a:bodyPr/>
                    <a:lstStyle/>
                    <a:p>
                      <a:pPr algn="ctr"/>
                      <a:r>
                        <a:rPr lang="en-US" sz="1800" dirty="0"/>
                        <a:t>Palm Tree Midribs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It will be utilized to fabricate various components of the bridge.</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Screws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Attach the superstructure and the hinges with the substructure.</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325818761"/>
                  </a:ext>
                </a:extLst>
              </a:tr>
              <a:tr h="1273996">
                <a:tc>
                  <a:txBody>
                    <a:bodyPr/>
                    <a:lstStyle/>
                    <a:p>
                      <a:pPr algn="ctr"/>
                      <a:r>
                        <a:rPr lang="en-US" sz="1800" dirty="0"/>
                        <a:t>Wood glue</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Bond the stalks together and provide strength and durability.</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Hinges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Allow the movable part to rotate around fixed axis.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686992166"/>
                  </a:ext>
                </a:extLst>
              </a:tr>
            </a:tbl>
          </a:graphicData>
        </a:graphic>
      </p:graphicFrame>
      <p:pic>
        <p:nvPicPr>
          <p:cNvPr id="16" name="Picture 15">
            <a:extLst>
              <a:ext uri="{FF2B5EF4-FFF2-40B4-BE49-F238E27FC236}">
                <a16:creationId xmlns:a16="http://schemas.microsoft.com/office/drawing/2014/main" id="{6BCF9B0A-8927-EE39-C828-78B948EBD286}"/>
              </a:ext>
            </a:extLst>
          </p:cNvPr>
          <p:cNvPicPr>
            <a:picLocks noChangeAspect="1"/>
          </p:cNvPicPr>
          <p:nvPr/>
        </p:nvPicPr>
        <p:blipFill>
          <a:blip r:embed="rId30">
            <a:extLst>
              <a:ext uri="{BEBA8EAE-BF5A-486C-A8C5-ECC9F3942E4B}">
                <a14:imgProps xmlns:a14="http://schemas.microsoft.com/office/drawing/2010/main">
                  <a14:imgLayer r:embed="rId31">
                    <a14:imgEffect>
                      <a14:backgroundRemoval t="10000" b="90000" l="10000" r="90000"/>
                    </a14:imgEffect>
                  </a14:imgLayer>
                </a14:imgProps>
              </a:ext>
              <a:ext uri="{28A0092B-C50C-407E-A947-70E740481C1C}">
                <a14:useLocalDpi xmlns:a14="http://schemas.microsoft.com/office/drawing/2010/main" val="0"/>
              </a:ext>
            </a:extLst>
          </a:blip>
          <a:srcRect l="12307" t="23506" r="19581" b="7987"/>
          <a:stretch/>
        </p:blipFill>
        <p:spPr>
          <a:xfrm>
            <a:off x="3331240" y="25875874"/>
            <a:ext cx="1772571" cy="929199"/>
          </a:xfrm>
          <a:prstGeom prst="rect">
            <a:avLst/>
          </a:prstGeom>
        </p:spPr>
      </p:pic>
      <p:pic>
        <p:nvPicPr>
          <p:cNvPr id="21" name="Picture 20">
            <a:extLst>
              <a:ext uri="{FF2B5EF4-FFF2-40B4-BE49-F238E27FC236}">
                <a16:creationId xmlns:a16="http://schemas.microsoft.com/office/drawing/2014/main" id="{972ABE77-1360-A8A5-607B-C8689769CCBD}"/>
              </a:ext>
            </a:extLst>
          </p:cNvPr>
          <p:cNvPicPr>
            <a:picLocks noChangeAspect="1"/>
          </p:cNvPicPr>
          <p:nvPr/>
        </p:nvPicPr>
        <p:blipFill>
          <a:blip r:embed="rId32">
            <a:extLst>
              <a:ext uri="{BEBA8EAE-BF5A-486C-A8C5-ECC9F3942E4B}">
                <a14:imgProps xmlns:a14="http://schemas.microsoft.com/office/drawing/2010/main">
                  <a14:imgLayer r:embed="rId33">
                    <a14:imgEffect>
                      <a14:backgroundRemoval t="9600" b="90667" l="9467" r="90267">
                        <a14:foregroundMark x1="10933" y1="89333" x2="9467" y2="90800"/>
                        <a14:foregroundMark x1="74667" y1="9733" x2="74667" y2="9733"/>
                        <a14:foregroundMark x1="90267" y1="23200" x2="90267" y2="23200"/>
                      </a14:backgroundRemoval>
                    </a14:imgEffect>
                  </a14:imgLayer>
                </a14:imgProps>
              </a:ext>
              <a:ext uri="{28A0092B-C50C-407E-A947-70E740481C1C}">
                <a14:useLocalDpi xmlns:a14="http://schemas.microsoft.com/office/drawing/2010/main" val="0"/>
              </a:ext>
            </a:extLst>
          </a:blip>
          <a:stretch>
            <a:fillRect/>
          </a:stretch>
        </p:blipFill>
        <p:spPr>
          <a:xfrm>
            <a:off x="8512824" y="25661650"/>
            <a:ext cx="1161703" cy="1161703"/>
          </a:xfrm>
          <a:prstGeom prst="rect">
            <a:avLst/>
          </a:prstGeom>
        </p:spPr>
      </p:pic>
      <p:pic>
        <p:nvPicPr>
          <p:cNvPr id="24" name="Picture 23">
            <a:extLst>
              <a:ext uri="{FF2B5EF4-FFF2-40B4-BE49-F238E27FC236}">
                <a16:creationId xmlns:a16="http://schemas.microsoft.com/office/drawing/2014/main" id="{5922CBDB-C517-A492-5A33-88E10231E777}"/>
              </a:ext>
            </a:extLst>
          </p:cNvPr>
          <p:cNvPicPr>
            <a:picLocks noChangeAspect="1"/>
          </p:cNvPicPr>
          <p:nvPr/>
        </p:nvPicPr>
        <p:blipFill>
          <a:blip r:embed="rId34">
            <a:extLst>
              <a:ext uri="{BEBA8EAE-BF5A-486C-A8C5-ECC9F3942E4B}">
                <a14:imgProps xmlns:a14="http://schemas.microsoft.com/office/drawing/2010/main">
                  <a14:imgLayer r:embed="rId35">
                    <a14:imgEffect>
                      <a14:backgroundRemoval t="9983" b="97654" l="3445" r="96660">
                        <a14:foregroundMark x1="41858" y1="23592" x2="41754" y2="45520"/>
                        <a14:foregroundMark x1="67641" y1="26706" x2="67641" y2="46715"/>
                        <a14:foregroundMark x1="71712" y1="41254" x2="73382" y2="62969"/>
                        <a14:foregroundMark x1="78601" y1="53285" x2="79854" y2="69283"/>
                        <a14:foregroundMark x1="59499" y1="53413" x2="59499" y2="63012"/>
                        <a14:foregroundMark x1="64301" y1="54010" x2="64301" y2="61647"/>
                        <a14:foregroundMark x1="65449" y1="60196" x2="65971" y2="65657"/>
                        <a14:foregroundMark x1="83612" y1="56229" x2="85073" y2="71246"/>
                        <a14:foregroundMark x1="88518" y1="63097" x2="91962" y2="74403"/>
                        <a14:foregroundMark x1="71712" y1="64249" x2="72129" y2="73208"/>
                        <a14:foregroundMark x1="49269" y1="58874" x2="49269" y2="70051"/>
                        <a14:foregroundMark x1="87161" y1="59812" x2="87891" y2="65913"/>
                        <a14:foregroundMark x1="44259" y1="60410" x2="55115" y2="64804"/>
                        <a14:foregroundMark x1="53132" y1="58618" x2="53027" y2="64761"/>
                        <a14:foregroundMark x1="13048" y1="94881" x2="31942" y2="95520"/>
                        <a14:foregroundMark x1="49791" y1="95307" x2="74322" y2="95307"/>
                        <a14:foregroundMark x1="3549" y1="93942" x2="9081" y2="97654"/>
                        <a14:foregroundMark x1="80167" y1="93302" x2="96660" y2="93985"/>
                        <a14:foregroundMark x1="48017" y1="65572" x2="46868" y2="67577"/>
                        <a14:foregroundMark x1="73591" y1="36305" x2="85073" y2="32466"/>
                        <a14:foregroundMark x1="45825" y1="50384" x2="45825" y2="50384"/>
                        <a14:foregroundMark x1="57829" y1="50683" x2="50000" y2="50683"/>
                        <a14:backgroundMark x1="32359" y1="43387" x2="32359" y2="44966"/>
                        <a14:backgroundMark x1="98017" y1="42406" x2="99896" y2="88908"/>
                        <a14:backgroundMark x1="34656" y1="60879" x2="34656" y2="60879"/>
                      </a14:backgroundRemoval>
                    </a14:imgEffect>
                  </a14:imgLayer>
                </a14:imgProps>
              </a:ext>
              <a:ext uri="{28A0092B-C50C-407E-A947-70E740481C1C}">
                <a14:useLocalDpi xmlns:a14="http://schemas.microsoft.com/office/drawing/2010/main" val="0"/>
              </a:ext>
            </a:extLst>
          </a:blip>
          <a:stretch>
            <a:fillRect/>
          </a:stretch>
        </p:blipFill>
        <p:spPr>
          <a:xfrm>
            <a:off x="3910085" y="26823353"/>
            <a:ext cx="574548" cy="1405784"/>
          </a:xfrm>
          <a:prstGeom prst="rect">
            <a:avLst/>
          </a:prstGeom>
        </p:spPr>
      </p:pic>
      <p:pic>
        <p:nvPicPr>
          <p:cNvPr id="50" name="Picture 49">
            <a:extLst>
              <a:ext uri="{FF2B5EF4-FFF2-40B4-BE49-F238E27FC236}">
                <a16:creationId xmlns:a16="http://schemas.microsoft.com/office/drawing/2014/main" id="{0049E14D-D579-3AE6-8DF7-ED2E2B662AC3}"/>
              </a:ext>
            </a:extLst>
          </p:cNvPr>
          <p:cNvPicPr>
            <a:picLocks noChangeAspect="1"/>
          </p:cNvPicPr>
          <p:nvPr/>
        </p:nvPicPr>
        <p:blipFill>
          <a:blip r:embed="rId36">
            <a:extLst>
              <a:ext uri="{BEBA8EAE-BF5A-486C-A8C5-ECC9F3942E4B}">
                <a14:imgProps xmlns:a14="http://schemas.microsoft.com/office/drawing/2010/main">
                  <a14:imgLayer r:embed="rId37">
                    <a14:imgEffect>
                      <a14:backgroundRemoval t="10000" b="90000" l="8667" r="91867">
                        <a14:foregroundMark x1="8667" y1="19067" x2="8667" y2="20000"/>
                        <a14:foregroundMark x1="91867" y1="73467" x2="91733" y2="75067"/>
                      </a14:backgroundRemoval>
                    </a14:imgEffect>
                  </a14:imgLayer>
                </a14:imgProps>
              </a:ext>
              <a:ext uri="{28A0092B-C50C-407E-A947-70E740481C1C}">
                <a14:useLocalDpi xmlns:a14="http://schemas.microsoft.com/office/drawing/2010/main" val="0"/>
              </a:ext>
            </a:extLst>
          </a:blip>
          <a:srcRect l="6963" t="9778" r="6370" b="11704"/>
          <a:stretch/>
        </p:blipFill>
        <p:spPr>
          <a:xfrm>
            <a:off x="8626174" y="27280219"/>
            <a:ext cx="935001" cy="847094"/>
          </a:xfrm>
          <a:prstGeom prst="rect">
            <a:avLst/>
          </a:prstGeom>
        </p:spPr>
      </p:pic>
      <p:graphicFrame>
        <p:nvGraphicFramePr>
          <p:cNvPr id="51" name="Table 50">
            <a:extLst>
              <a:ext uri="{FF2B5EF4-FFF2-40B4-BE49-F238E27FC236}">
                <a16:creationId xmlns:a16="http://schemas.microsoft.com/office/drawing/2014/main" id="{FC91F7B5-83D2-20AB-8968-0BC488AA6D14}"/>
              </a:ext>
            </a:extLst>
          </p:cNvPr>
          <p:cNvGraphicFramePr>
            <a:graphicFrameLocks noGrp="1"/>
          </p:cNvGraphicFramePr>
          <p:nvPr>
            <p:extLst>
              <p:ext uri="{D42A27DB-BD31-4B8C-83A1-F6EECF244321}">
                <p14:modId xmlns:p14="http://schemas.microsoft.com/office/powerpoint/2010/main" val="3184365324"/>
              </p:ext>
            </p:extLst>
          </p:nvPr>
        </p:nvGraphicFramePr>
        <p:xfrm>
          <a:off x="9977151" y="4283488"/>
          <a:ext cx="9870183" cy="6666422"/>
        </p:xfrm>
        <a:graphic>
          <a:graphicData uri="http://schemas.openxmlformats.org/drawingml/2006/table">
            <a:tbl>
              <a:tblPr firstRow="1" bandRow="1">
                <a:tableStyleId>{7DF18680-E054-41AD-8BC1-D1AEF772440D}</a:tableStyleId>
              </a:tblPr>
              <a:tblGrid>
                <a:gridCol w="1308006">
                  <a:extLst>
                    <a:ext uri="{9D8B030D-6E8A-4147-A177-3AD203B41FA5}">
                      <a16:colId xmlns:a16="http://schemas.microsoft.com/office/drawing/2014/main" val="1094405281"/>
                    </a:ext>
                  </a:extLst>
                </a:gridCol>
                <a:gridCol w="1859280">
                  <a:extLst>
                    <a:ext uri="{9D8B030D-6E8A-4147-A177-3AD203B41FA5}">
                      <a16:colId xmlns:a16="http://schemas.microsoft.com/office/drawing/2014/main" val="61608092"/>
                    </a:ext>
                  </a:extLst>
                </a:gridCol>
                <a:gridCol w="1783080">
                  <a:extLst>
                    <a:ext uri="{9D8B030D-6E8A-4147-A177-3AD203B41FA5}">
                      <a16:colId xmlns:a16="http://schemas.microsoft.com/office/drawing/2014/main" val="88278312"/>
                    </a:ext>
                  </a:extLst>
                </a:gridCol>
                <a:gridCol w="1203960">
                  <a:extLst>
                    <a:ext uri="{9D8B030D-6E8A-4147-A177-3AD203B41FA5}">
                      <a16:colId xmlns:a16="http://schemas.microsoft.com/office/drawing/2014/main" val="3290245902"/>
                    </a:ext>
                  </a:extLst>
                </a:gridCol>
                <a:gridCol w="1859280">
                  <a:extLst>
                    <a:ext uri="{9D8B030D-6E8A-4147-A177-3AD203B41FA5}">
                      <a16:colId xmlns:a16="http://schemas.microsoft.com/office/drawing/2014/main" val="3152312433"/>
                    </a:ext>
                  </a:extLst>
                </a:gridCol>
                <a:gridCol w="1856577">
                  <a:extLst>
                    <a:ext uri="{9D8B030D-6E8A-4147-A177-3AD203B41FA5}">
                      <a16:colId xmlns:a16="http://schemas.microsoft.com/office/drawing/2014/main" val="3877664263"/>
                    </a:ext>
                  </a:extLst>
                </a:gridCol>
              </a:tblGrid>
              <a:tr h="453112">
                <a:tc>
                  <a:txBody>
                    <a:bodyPr/>
                    <a:lstStyle/>
                    <a:p>
                      <a:r>
                        <a:rPr lang="en-US" sz="2800" dirty="0"/>
                        <a:t>Item</a:t>
                      </a:r>
                      <a:endParaRPr lang="en-US" sz="2800" dirty="0">
                        <a:latin typeface="Times New Roman" panose="02020603050405020304" pitchFamily="18" charset="0"/>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Usage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Picture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r>
                        <a:rPr lang="en-US" sz="2800" dirty="0"/>
                        <a:t>Item</a:t>
                      </a:r>
                      <a:endParaRPr lang="en-US" sz="2800" dirty="0">
                        <a:latin typeface="Times New Roman" panose="02020603050405020304" pitchFamily="18" charset="0"/>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Usage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tc>
                  <a:txBody>
                    <a:bodyPr/>
                    <a:lstStyle/>
                    <a:p>
                      <a:pPr marL="0" algn="l" defTabSz="3840023" rtl="0" eaLnBrk="1" latinLnBrk="0" hangingPunct="1"/>
                      <a:r>
                        <a:rPr lang="en-US" sz="2800" b="1" kern="1200" dirty="0">
                          <a:solidFill>
                            <a:schemeClr val="lt1"/>
                          </a:solidFill>
                        </a:rPr>
                        <a:t>Picture</a:t>
                      </a:r>
                      <a:endParaRPr lang="en-US" sz="2800" b="1" kern="1200" dirty="0">
                        <a:solidFill>
                          <a:schemeClr val="lt1"/>
                        </a:solidFill>
                        <a:latin typeface="Times New Roman" panose="02020603050405020304" pitchFamily="18" charset="0"/>
                        <a:ea typeface="+mn-ea"/>
                        <a:cs typeface="Times New Roman" panose="02020603050405020304" pitchFamily="18" charset="0"/>
                      </a:endParaRPr>
                    </a:p>
                  </a:txBody>
                  <a:tcPr anchor="ctr" anchorCtr="1"/>
                </a:tc>
                <a:extLst>
                  <a:ext uri="{0D108BD9-81ED-4DB2-BD59-A6C34878D82A}">
                    <a16:rowId xmlns:a16="http://schemas.microsoft.com/office/drawing/2014/main" val="1864090695"/>
                  </a:ext>
                </a:extLst>
              </a:tr>
              <a:tr h="1759142">
                <a:tc>
                  <a:txBody>
                    <a:bodyPr/>
                    <a:lstStyle/>
                    <a:p>
                      <a:pPr algn="ctr"/>
                      <a:r>
                        <a:rPr lang="en-US" sz="1800" dirty="0"/>
                        <a:t>Etqan-Arduino board</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A board used to control electric components (dc motors, limit switches, IR receiver)</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DC Motors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kern="1200" dirty="0">
                          <a:solidFill>
                            <a:schemeClr val="dk1"/>
                          </a:solidFill>
                        </a:rPr>
                        <a:t>Lifting the movable part and towing the polyester rope.</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325818761"/>
                  </a:ext>
                </a:extLst>
              </a:tr>
              <a:tr h="1279376">
                <a:tc>
                  <a:txBody>
                    <a:bodyPr/>
                    <a:lstStyle/>
                    <a:p>
                      <a:pPr algn="ctr"/>
                      <a:r>
                        <a:rPr lang="en-US" sz="1800" dirty="0"/>
                        <a:t>IR receiver and IR remote</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kern="1200" dirty="0">
                          <a:solidFill>
                            <a:schemeClr val="dk1"/>
                          </a:solidFill>
                        </a:rPr>
                        <a:t>receive infrared signals from an IR remote controller to operate dc motor</a:t>
                      </a:r>
                      <a:r>
                        <a:rPr lang="en-US" sz="1800" dirty="0"/>
                        <a:t>.</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Jumper wires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kern="1200" dirty="0">
                          <a:solidFill>
                            <a:schemeClr val="dk1"/>
                          </a:solidFill>
                        </a:rPr>
                        <a:t>Linking components to each other without need to soldering</a:t>
                      </a:r>
                      <a:endParaRPr lang="en-US" sz="1800" kern="1200" dirty="0">
                        <a:solidFill>
                          <a:schemeClr val="dk1"/>
                        </a:solidFill>
                        <a:latin typeface="Times New Roman" panose="02020603050405020304" pitchFamily="18" charset="0"/>
                        <a:ea typeface="+mn-ea"/>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3676788313"/>
                  </a:ext>
                </a:extLst>
              </a:tr>
              <a:tr h="1087358">
                <a:tc>
                  <a:txBody>
                    <a:bodyPr/>
                    <a:lstStyle/>
                    <a:p>
                      <a:pPr algn="ctr"/>
                      <a:r>
                        <a:rPr lang="en-US" sz="1800" dirty="0"/>
                        <a:t>H-Bridge</a:t>
                      </a:r>
                    </a:p>
                    <a:p>
                      <a:pPr algn="ctr"/>
                      <a:r>
                        <a:rPr lang="en-US" sz="1800" dirty="0"/>
                        <a:t>Motor driver</a:t>
                      </a:r>
                    </a:p>
                    <a:p>
                      <a:pPr algn="ctr"/>
                      <a:r>
                        <a:rPr lang="en-US" sz="1800" dirty="0"/>
                        <a:t>L293D</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marL="0" marR="0" lvl="0" indent="0" algn="ctr" defTabSz="3840023"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rPr>
                        <a:t>Electronic circuit used to control the direction and speed of a DC motor</a:t>
                      </a:r>
                      <a:r>
                        <a:rPr lang="en-US" sz="1800" dirty="0"/>
                        <a:t>.</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Battery</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Guaranteeing sufficient voltage and current to DC motors.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3330340116"/>
                  </a:ext>
                </a:extLst>
              </a:tr>
              <a:tr h="1087358">
                <a:tc>
                  <a:txBody>
                    <a:bodyPr/>
                    <a:lstStyle/>
                    <a:p>
                      <a:pPr algn="ctr"/>
                      <a:r>
                        <a:rPr lang="en-US" sz="1800" dirty="0"/>
                        <a:t>Nylon fishing rope</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Pulling and elevating the bridge via dc motors.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tc>
                  <a:txBody>
                    <a:bodyPr/>
                    <a:lstStyle/>
                    <a:p>
                      <a:pPr algn="ctr"/>
                      <a:r>
                        <a:rPr lang="en-US" sz="1800" dirty="0"/>
                        <a:t>Limit switches</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pPr algn="ctr"/>
                      <a:r>
                        <a:rPr lang="en-US" sz="1800" dirty="0"/>
                        <a:t>Used as an indicator to the limits of DC motor movement.</a:t>
                      </a:r>
                      <a:endParaRPr lang="en-US" sz="1800" dirty="0">
                        <a:latin typeface="Times New Roman" panose="02020603050405020304" pitchFamily="18" charset="0"/>
                        <a:cs typeface="Times New Roman" panose="02020603050405020304" pitchFamily="18" charset="0"/>
                      </a:endParaRPr>
                    </a:p>
                  </a:txBody>
                  <a:tcPr anchor="ctr" anchorCtr="1"/>
                </a:tc>
                <a:tc>
                  <a:txBody>
                    <a:bodyPr/>
                    <a:lstStyle/>
                    <a:p>
                      <a:endParaRPr lang="en-US" dirty="0"/>
                    </a:p>
                  </a:txBody>
                  <a:tcPr/>
                </a:tc>
                <a:extLst>
                  <a:ext uri="{0D108BD9-81ED-4DB2-BD59-A6C34878D82A}">
                    <a16:rowId xmlns:a16="http://schemas.microsoft.com/office/drawing/2014/main" val="686992166"/>
                  </a:ext>
                </a:extLst>
              </a:tr>
            </a:tbl>
          </a:graphicData>
        </a:graphic>
      </p:graphicFrame>
      <p:pic>
        <p:nvPicPr>
          <p:cNvPr id="52" name="Picture 51">
            <a:extLst>
              <a:ext uri="{FF2B5EF4-FFF2-40B4-BE49-F238E27FC236}">
                <a16:creationId xmlns:a16="http://schemas.microsoft.com/office/drawing/2014/main" id="{2588021B-B33E-CD31-0C0E-6D33D32ABA51}"/>
              </a:ext>
            </a:extLst>
          </p:cNvPr>
          <p:cNvPicPr>
            <a:picLocks noChangeAspect="1"/>
          </p:cNvPicPr>
          <p:nvPr/>
        </p:nvPicPr>
        <p:blipFill>
          <a:blip r:embed="rId38">
            <a:extLst>
              <a:ext uri="{BEBA8EAE-BF5A-486C-A8C5-ECC9F3942E4B}">
                <a14:imgProps xmlns:a14="http://schemas.microsoft.com/office/drawing/2010/main">
                  <a14:imgLayer r:embed="rId39">
                    <a14:imgEffect>
                      <a14:backgroundRemoval t="10000" b="90000" l="10000" r="90000"/>
                    </a14:imgEffect>
                  </a14:imgLayer>
                </a14:imgProps>
              </a:ext>
              <a:ext uri="{28A0092B-C50C-407E-A947-70E740481C1C}">
                <a14:useLocalDpi xmlns:a14="http://schemas.microsoft.com/office/drawing/2010/main" val="0"/>
              </a:ext>
            </a:extLst>
          </a:blip>
          <a:srcRect l="8856" t="33863" r="15123" b="25051"/>
          <a:stretch/>
        </p:blipFill>
        <p:spPr>
          <a:xfrm>
            <a:off x="13250498" y="5092316"/>
            <a:ext cx="1575398" cy="1137171"/>
          </a:xfrm>
          <a:prstGeom prst="rect">
            <a:avLst/>
          </a:prstGeom>
        </p:spPr>
      </p:pic>
      <p:pic>
        <p:nvPicPr>
          <p:cNvPr id="53" name="Picture 52">
            <a:extLst>
              <a:ext uri="{FF2B5EF4-FFF2-40B4-BE49-F238E27FC236}">
                <a16:creationId xmlns:a16="http://schemas.microsoft.com/office/drawing/2014/main" id="{71024449-18A4-3811-5CFB-FF2FCA5FAE6D}"/>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rot="1103464">
            <a:off x="13493067" y="6362027"/>
            <a:ext cx="1090259" cy="1090259"/>
          </a:xfrm>
          <a:prstGeom prst="rect">
            <a:avLst/>
          </a:prstGeom>
        </p:spPr>
      </p:pic>
      <p:pic>
        <p:nvPicPr>
          <p:cNvPr id="11" name="Picture 10">
            <a:extLst>
              <a:ext uri="{FF2B5EF4-FFF2-40B4-BE49-F238E27FC236}">
                <a16:creationId xmlns:a16="http://schemas.microsoft.com/office/drawing/2014/main" id="{07A145A0-5AD2-080A-072B-5C65C8D153E1}"/>
              </a:ext>
            </a:extLst>
          </p:cNvPr>
          <p:cNvPicPr>
            <a:picLocks noChangeAspect="1"/>
          </p:cNvPicPr>
          <p:nvPr/>
        </p:nvPicPr>
        <p:blipFill>
          <a:blip r:embed="rId41">
            <a:extLst>
              <a:ext uri="{BEBA8EAE-BF5A-486C-A8C5-ECC9F3942E4B}">
                <a14:imgProps xmlns:a14="http://schemas.microsoft.com/office/drawing/2010/main">
                  <a14:imgLayer r:embed="rId42">
                    <a14:imgEffect>
                      <a14:backgroundRemoval t="10000" b="90000" l="10000" r="90000"/>
                    </a14:imgEffect>
                  </a14:imgLayer>
                </a14:imgProps>
              </a:ext>
              <a:ext uri="{28A0092B-C50C-407E-A947-70E740481C1C}">
                <a14:useLocalDpi xmlns:a14="http://schemas.microsoft.com/office/drawing/2010/main" val="0"/>
              </a:ext>
            </a:extLst>
          </a:blip>
          <a:srcRect l="9182" t="16599" r="9182" b="18552"/>
          <a:stretch/>
        </p:blipFill>
        <p:spPr>
          <a:xfrm>
            <a:off x="18086480" y="6611545"/>
            <a:ext cx="1666997" cy="1324239"/>
          </a:xfrm>
          <a:prstGeom prst="rect">
            <a:avLst/>
          </a:prstGeom>
        </p:spPr>
      </p:pic>
      <p:pic>
        <p:nvPicPr>
          <p:cNvPr id="17" name="Picture 16">
            <a:extLst>
              <a:ext uri="{FF2B5EF4-FFF2-40B4-BE49-F238E27FC236}">
                <a16:creationId xmlns:a16="http://schemas.microsoft.com/office/drawing/2014/main" id="{232C66B4-CA55-36D3-030A-59666A3CDB14}"/>
              </a:ext>
            </a:extLst>
          </p:cNvPr>
          <p:cNvPicPr>
            <a:picLocks noChangeAspect="1"/>
          </p:cNvPicPr>
          <p:nvPr/>
        </p:nvPicPr>
        <p:blipFill>
          <a:blip r:embed="rId43">
            <a:extLst>
              <a:ext uri="{BEBA8EAE-BF5A-486C-A8C5-ECC9F3942E4B}">
                <a14:imgProps xmlns:a14="http://schemas.microsoft.com/office/drawing/2010/main">
                  <a14:imgLayer r:embed="rId44">
                    <a14:imgEffect>
                      <a14:backgroundRemoval t="5200" b="94533" l="10000" r="90000">
                        <a14:foregroundMark x1="34267" y1="8400" x2="34267" y2="8400"/>
                        <a14:foregroundMark x1="29333" y1="5333" x2="29333" y2="5333"/>
                        <a14:foregroundMark x1="69467" y1="90400" x2="69467" y2="90400"/>
                        <a14:foregroundMark x1="70933" y1="94533" x2="70933" y2="94533"/>
                      </a14:backgroundRemoval>
                    </a14:imgEffect>
                  </a14:imgLayer>
                </a14:imgProps>
              </a:ext>
              <a:ext uri="{28A0092B-C50C-407E-A947-70E740481C1C}">
                <a14:useLocalDpi xmlns:a14="http://schemas.microsoft.com/office/drawing/2010/main" val="0"/>
              </a:ext>
            </a:extLst>
          </a:blip>
          <a:srcRect l="9718" t="4725" r="13488" b="3629"/>
          <a:stretch/>
        </p:blipFill>
        <p:spPr>
          <a:xfrm>
            <a:off x="18487846" y="8137470"/>
            <a:ext cx="864263" cy="1031416"/>
          </a:xfrm>
          <a:prstGeom prst="rect">
            <a:avLst/>
          </a:prstGeom>
        </p:spPr>
      </p:pic>
      <p:sp>
        <p:nvSpPr>
          <p:cNvPr id="23" name="TextBox 22">
            <a:extLst>
              <a:ext uri="{FF2B5EF4-FFF2-40B4-BE49-F238E27FC236}">
                <a16:creationId xmlns:a16="http://schemas.microsoft.com/office/drawing/2014/main" id="{83A2B2FE-8DFE-860D-B5F1-4A3E91EE1B34}"/>
              </a:ext>
            </a:extLst>
          </p:cNvPr>
          <p:cNvSpPr txBox="1"/>
          <p:nvPr/>
        </p:nvSpPr>
        <p:spPr>
          <a:xfrm>
            <a:off x="15765975" y="15692336"/>
            <a:ext cx="184731" cy="369332"/>
          </a:xfrm>
          <a:prstGeom prst="rect">
            <a:avLst/>
          </a:prstGeom>
          <a:noFill/>
        </p:spPr>
        <p:txBody>
          <a:bodyPr wrap="none" rtlCol="0">
            <a:spAutoFit/>
          </a:bodyPr>
          <a:lstStyle/>
          <a:p>
            <a:endParaRPr lang="en-US"/>
          </a:p>
        </p:txBody>
      </p:sp>
      <p:pic>
        <p:nvPicPr>
          <p:cNvPr id="43" name="Picture 42">
            <a:extLst>
              <a:ext uri="{FF2B5EF4-FFF2-40B4-BE49-F238E27FC236}">
                <a16:creationId xmlns:a16="http://schemas.microsoft.com/office/drawing/2014/main" id="{82FACE94-E01D-81D5-B861-CEF01D84C4F3}"/>
              </a:ext>
            </a:extLst>
          </p:cNvPr>
          <p:cNvPicPr>
            <a:picLocks noChangeAspect="1"/>
          </p:cNvPicPr>
          <p:nvPr/>
        </p:nvPicPr>
        <p:blipFill>
          <a:blip r:embed="rId45">
            <a:extLst>
              <a:ext uri="{BEBA8EAE-BF5A-486C-A8C5-ECC9F3942E4B}">
                <a14:imgProps xmlns:a14="http://schemas.microsoft.com/office/drawing/2010/main">
                  <a14:imgLayer r:embed="rId46">
                    <a14:imgEffect>
                      <a14:backgroundRemoval t="1268" b="97606" l="4046" r="99241">
                        <a14:foregroundMark x1="7332" y1="43099" x2="14918" y2="32113"/>
                        <a14:foregroundMark x1="14918" y1="32113" x2="35398" y2="20141"/>
                        <a14:foregroundMark x1="35398" y1="20141" x2="60303" y2="24930"/>
                        <a14:foregroundMark x1="60303" y1="24930" x2="60177" y2="54225"/>
                        <a14:foregroundMark x1="60177" y1="54225" x2="34260" y2="40423"/>
                        <a14:foregroundMark x1="34260" y1="40423" x2="70544" y2="31408"/>
                        <a14:foregroundMark x1="70544" y1="31408" x2="50316" y2="57746"/>
                        <a14:foregroundMark x1="50316" y1="57746" x2="45133" y2="57183"/>
                        <a14:foregroundMark x1="9482" y1="54366" x2="8470" y2="41690"/>
                        <a14:foregroundMark x1="8470" y1="41690" x2="12263" y2="26761"/>
                        <a14:foregroundMark x1="12263" y1="26761" x2="13148" y2="26197"/>
                        <a14:foregroundMark x1="6700" y1="55211" x2="6448" y2="44225"/>
                        <a14:foregroundMark x1="6448" y1="44225" x2="11125" y2="31549"/>
                        <a14:foregroundMark x1="11125" y1="31549" x2="13906" y2="30141"/>
                        <a14:foregroundMark x1="15550" y1="68451" x2="41087" y2="73239"/>
                        <a14:foregroundMark x1="23894" y1="77465" x2="43742" y2="82535"/>
                        <a14:foregroundMark x1="27686" y1="82676" x2="48546" y2="83803"/>
                        <a14:foregroundMark x1="28571" y1="86479" x2="43995" y2="87324"/>
                        <a14:foregroundMark x1="43995" y1="87324" x2="53603" y2="86479"/>
                        <a14:foregroundMark x1="29709" y1="88169" x2="42857" y2="87746"/>
                        <a14:foregroundMark x1="42857" y1="87746" x2="87990" y2="64930"/>
                        <a14:foregroundMark x1="87990" y1="64930" x2="76738" y2="79437"/>
                        <a14:foregroundMark x1="76738" y1="79437" x2="58660" y2="87324"/>
                        <a14:foregroundMark x1="58660" y1="87324" x2="84450" y2="81408"/>
                        <a14:foregroundMark x1="84450" y1="81408" x2="49305" y2="92817"/>
                        <a14:foregroundMark x1="49305" y1="92817" x2="23009" y2="86620"/>
                        <a14:foregroundMark x1="23009" y1="86620" x2="4425" y2="70000"/>
                        <a14:foregroundMark x1="4425" y1="70000" x2="4046" y2="63521"/>
                        <a14:foregroundMark x1="7080" y1="76901" x2="5057" y2="48451"/>
                        <a14:foregroundMark x1="7332" y1="68028" x2="7965" y2="49014"/>
                        <a14:foregroundMark x1="7965" y1="49014" x2="21618" y2="21831"/>
                        <a14:foregroundMark x1="21618" y1="21831" x2="8723" y2="30423"/>
                        <a14:foregroundMark x1="8723" y1="30423" x2="14412" y2="22817"/>
                        <a14:foregroundMark x1="14412" y1="22817" x2="41087" y2="6056"/>
                        <a14:foregroundMark x1="41087" y1="6056" x2="55373" y2="2676"/>
                        <a14:foregroundMark x1="55373" y1="2676" x2="45133" y2="4648"/>
                        <a14:foregroundMark x1="45133" y1="4648" x2="68142" y2="9437"/>
                        <a14:foregroundMark x1="68142" y1="9437" x2="58913" y2="2817"/>
                        <a14:foregroundMark x1="58913" y1="2817" x2="79140" y2="14789"/>
                        <a14:foregroundMark x1="79140" y1="14789" x2="87990" y2="31549"/>
                        <a14:foregroundMark x1="87990" y1="31549" x2="86346" y2="56761"/>
                        <a14:foregroundMark x1="86346" y1="56761" x2="92668" y2="37042"/>
                        <a14:foregroundMark x1="92668" y1="37042" x2="85714" y2="59296"/>
                        <a14:foregroundMark x1="85714" y1="59296" x2="90265" y2="45775"/>
                        <a14:foregroundMark x1="90265" y1="45775" x2="83059" y2="21268"/>
                        <a14:foregroundMark x1="83059" y1="21268" x2="90645" y2="22958"/>
                        <a14:foregroundMark x1="90645" y1="22958" x2="80405" y2="10282"/>
                        <a14:foregroundMark x1="80405" y1="10282" x2="72440" y2="9437"/>
                        <a14:foregroundMark x1="17952" y1="15070" x2="29962" y2="8451"/>
                        <a14:foregroundMark x1="29962" y1="8451" x2="56764" y2="3944"/>
                        <a14:foregroundMark x1="56764" y1="3944" x2="36536" y2="5493"/>
                        <a14:foregroundMark x1="36536" y1="5493" x2="34766" y2="7465"/>
                        <a14:foregroundMark x1="43489" y1="1831" x2="49810" y2="1408"/>
                        <a14:foregroundMark x1="49810" y1="1408" x2="57269" y2="1831"/>
                        <a14:foregroundMark x1="93679" y1="29577" x2="89507" y2="61127"/>
                        <a14:foregroundMark x1="89507" y1="61127" x2="88622" y2="62254"/>
                        <a14:foregroundMark x1="95070" y1="32676" x2="96713" y2="40000"/>
                        <a14:foregroundMark x1="96713" y1="40000" x2="94943" y2="50282"/>
                        <a14:foregroundMark x1="94943" y1="50282" x2="92415" y2="51549"/>
                        <a14:foregroundMark x1="93679" y1="68028" x2="61694" y2="93239"/>
                        <a14:foregroundMark x1="61694" y1="93239" x2="61315" y2="93239"/>
                        <a14:foregroundMark x1="43742" y1="97746" x2="57649" y2="94366"/>
                        <a14:foregroundMark x1="17573" y1="89014" x2="26296" y2="93803"/>
                        <a14:foregroundMark x1="26296" y1="93803" x2="28319" y2="93803"/>
                        <a14:foregroundMark x1="13401" y1="81972" x2="22630" y2="90423"/>
                        <a14:foregroundMark x1="8850" y1="77324" x2="18837" y2="85915"/>
                        <a14:foregroundMark x1="18837" y1="85915" x2="20480" y2="86479"/>
                        <a14:foregroundMark x1="68015" y1="94225" x2="89760" y2="80282"/>
                        <a14:foregroundMark x1="89760" y1="80282" x2="90013" y2="80282"/>
                        <a14:foregroundMark x1="87484" y1="83803" x2="70164" y2="93803"/>
                        <a14:foregroundMark x1="70164" y1="93803" x2="86726" y2="84930"/>
                        <a14:foregroundMark x1="97345" y1="32394" x2="98357" y2="44366"/>
                        <a14:foregroundMark x1="98357" y1="44366" x2="96587" y2="50000"/>
                        <a14:foregroundMark x1="99241" y1="43239" x2="94943" y2="55211"/>
                        <a14:foregroundMark x1="98989" y1="46901" x2="96839" y2="54507"/>
                      </a14:backgroundRemoval>
                    </a14:imgEffect>
                  </a14:imgLayer>
                </a14:imgProps>
              </a:ext>
              <a:ext uri="{28A0092B-C50C-407E-A947-70E740481C1C}">
                <a14:useLocalDpi xmlns:a14="http://schemas.microsoft.com/office/drawing/2010/main" val="0"/>
              </a:ext>
            </a:extLst>
          </a:blip>
          <a:stretch>
            <a:fillRect/>
          </a:stretch>
        </p:blipFill>
        <p:spPr>
          <a:xfrm>
            <a:off x="13432465" y="9524522"/>
            <a:ext cx="1266906" cy="1137172"/>
          </a:xfrm>
          <a:prstGeom prst="rect">
            <a:avLst/>
          </a:prstGeom>
        </p:spPr>
      </p:pic>
      <p:pic>
        <p:nvPicPr>
          <p:cNvPr id="55" name="Content Placeholder 4">
            <a:extLst>
              <a:ext uri="{FF2B5EF4-FFF2-40B4-BE49-F238E27FC236}">
                <a16:creationId xmlns:a16="http://schemas.microsoft.com/office/drawing/2014/main" id="{F448BFF4-BCFD-7D49-1330-80A6D12FA46B}"/>
              </a:ext>
            </a:extLst>
          </p:cNvPr>
          <p:cNvPicPr>
            <a:picLocks noChangeAspect="1"/>
          </p:cNvPicPr>
          <p:nvPr/>
        </p:nvPicPr>
        <p:blipFill>
          <a:blip r:embed="rId47">
            <a:extLst>
              <a:ext uri="{BEBA8EAE-BF5A-486C-A8C5-ECC9F3942E4B}">
                <a14:imgProps xmlns:a14="http://schemas.microsoft.com/office/drawing/2010/main">
                  <a14:imgLayer r:embed="rId48">
                    <a14:imgEffect>
                      <a14:backgroundRemoval t="10000" b="90000" l="10000" r="90000"/>
                    </a14:imgEffect>
                  </a14:imgLayer>
                </a14:imgProps>
              </a:ext>
              <a:ext uri="{28A0092B-C50C-407E-A947-70E740481C1C}">
                <a14:useLocalDpi xmlns:a14="http://schemas.microsoft.com/office/drawing/2010/main" val="0"/>
              </a:ext>
            </a:extLst>
          </a:blip>
          <a:srcRect l="11123" t="18636" r="10774" b="17972"/>
          <a:stretch/>
        </p:blipFill>
        <p:spPr>
          <a:xfrm>
            <a:off x="18299846" y="5092316"/>
            <a:ext cx="1286666" cy="1044335"/>
          </a:xfrm>
          <a:prstGeom prst="rect">
            <a:avLst/>
          </a:prstGeom>
        </p:spPr>
      </p:pic>
      <p:pic>
        <p:nvPicPr>
          <p:cNvPr id="42" name="Picture 41">
            <a:extLst>
              <a:ext uri="{FF2B5EF4-FFF2-40B4-BE49-F238E27FC236}">
                <a16:creationId xmlns:a16="http://schemas.microsoft.com/office/drawing/2014/main" id="{415BCA92-9A93-1B40-6827-538089935D73}"/>
              </a:ext>
            </a:extLst>
          </p:cNvPr>
          <p:cNvPicPr>
            <a:picLocks noChangeAspect="1"/>
          </p:cNvPicPr>
          <p:nvPr/>
        </p:nvPicPr>
        <p:blipFill>
          <a:blip r:embed="rId49">
            <a:extLst>
              <a:ext uri="{BEBA8EAE-BF5A-486C-A8C5-ECC9F3942E4B}">
                <a14:imgProps xmlns:a14="http://schemas.microsoft.com/office/drawing/2010/main">
                  <a14:imgLayer r:embed="rId50">
                    <a14:imgEffect>
                      <a14:backgroundRemoval t="10000" b="90000" l="10000" r="90000"/>
                    </a14:imgEffect>
                  </a14:imgLayer>
                </a14:imgProps>
              </a:ext>
            </a:extLst>
          </a:blip>
          <a:srcRect l="13514" t="41018" r="18814" b="24784"/>
          <a:stretch/>
        </p:blipFill>
        <p:spPr>
          <a:xfrm>
            <a:off x="13322192" y="8288802"/>
            <a:ext cx="1549909" cy="1044335"/>
          </a:xfrm>
          <a:prstGeom prst="rect">
            <a:avLst/>
          </a:prstGeom>
        </p:spPr>
      </p:pic>
      <p:pic>
        <p:nvPicPr>
          <p:cNvPr id="49" name="Picture 48">
            <a:extLst>
              <a:ext uri="{FF2B5EF4-FFF2-40B4-BE49-F238E27FC236}">
                <a16:creationId xmlns:a16="http://schemas.microsoft.com/office/drawing/2014/main" id="{B4425ABB-D4DC-9B18-4245-96FC39C5A4B1}"/>
              </a:ext>
            </a:extLst>
          </p:cNvPr>
          <p:cNvPicPr>
            <a:picLocks noChangeAspect="1"/>
          </p:cNvPicPr>
          <p:nvPr/>
        </p:nvPicPr>
        <p:blipFill>
          <a:blip r:embed="rId51">
            <a:extLst>
              <a:ext uri="{BEBA8EAE-BF5A-486C-A8C5-ECC9F3942E4B}">
                <a14:imgProps xmlns:a14="http://schemas.microsoft.com/office/drawing/2010/main">
                  <a14:imgLayer r:embed="rId52">
                    <a14:imgEffect>
                      <a14:backgroundRemoval t="10000" b="90000" l="10000" r="90000"/>
                    </a14:imgEffect>
                  </a14:imgLayer>
                </a14:imgProps>
              </a:ext>
              <a:ext uri="{28A0092B-C50C-407E-A947-70E740481C1C}">
                <a14:useLocalDpi xmlns:a14="http://schemas.microsoft.com/office/drawing/2010/main" val="0"/>
              </a:ext>
            </a:extLst>
          </a:blip>
          <a:srcRect l="15019" t="23028" r="19472" b="23722"/>
          <a:stretch/>
        </p:blipFill>
        <p:spPr>
          <a:xfrm>
            <a:off x="18121405" y="9466962"/>
            <a:ext cx="1495523" cy="1215649"/>
          </a:xfrm>
          <a:prstGeom prst="rect">
            <a:avLst/>
          </a:prstGeom>
        </p:spPr>
      </p:pic>
      <p:graphicFrame>
        <p:nvGraphicFramePr>
          <p:cNvPr id="461" name="Chart 460">
            <a:extLst>
              <a:ext uri="{FF2B5EF4-FFF2-40B4-BE49-F238E27FC236}">
                <a16:creationId xmlns:a16="http://schemas.microsoft.com/office/drawing/2014/main" id="{5EE83431-23F7-0212-A07D-2C7591DC7EB5}"/>
              </a:ext>
            </a:extLst>
          </p:cNvPr>
          <p:cNvGraphicFramePr/>
          <p:nvPr>
            <p:extLst>
              <p:ext uri="{D42A27DB-BD31-4B8C-83A1-F6EECF244321}">
                <p14:modId xmlns:p14="http://schemas.microsoft.com/office/powerpoint/2010/main" val="2123803567"/>
              </p:ext>
            </p:extLst>
          </p:nvPr>
        </p:nvGraphicFramePr>
        <p:xfrm>
          <a:off x="5203151" y="12733165"/>
          <a:ext cx="4585450" cy="2523399"/>
        </p:xfrm>
        <a:graphic>
          <a:graphicData uri="http://schemas.openxmlformats.org/drawingml/2006/chart">
            <c:chart xmlns:c="http://schemas.openxmlformats.org/drawingml/2006/chart" xmlns:r="http://schemas.openxmlformats.org/officeDocument/2006/relationships" r:id="rId53"/>
          </a:graphicData>
        </a:graphic>
      </p:graphicFrame>
      <p:grpSp>
        <p:nvGrpSpPr>
          <p:cNvPr id="33" name="Group 32">
            <a:extLst>
              <a:ext uri="{FF2B5EF4-FFF2-40B4-BE49-F238E27FC236}">
                <a16:creationId xmlns:a16="http://schemas.microsoft.com/office/drawing/2014/main" id="{516054E0-FDE4-B3B7-3BB9-33A963B912E1}"/>
              </a:ext>
            </a:extLst>
          </p:cNvPr>
          <p:cNvGrpSpPr/>
          <p:nvPr/>
        </p:nvGrpSpPr>
        <p:grpSpPr>
          <a:xfrm>
            <a:off x="6911498" y="16808997"/>
            <a:ext cx="2812480" cy="2311062"/>
            <a:chOff x="6865386" y="17035791"/>
            <a:chExt cx="2812480" cy="2343525"/>
          </a:xfrm>
        </p:grpSpPr>
        <p:pic>
          <p:nvPicPr>
            <p:cNvPr id="26" name="Picture 25">
              <a:extLst>
                <a:ext uri="{FF2B5EF4-FFF2-40B4-BE49-F238E27FC236}">
                  <a16:creationId xmlns:a16="http://schemas.microsoft.com/office/drawing/2014/main" id="{BB550D37-EC80-4041-C8A7-7E731938B1C1}"/>
                </a:ext>
              </a:extLst>
            </p:cNvPr>
            <p:cNvPicPr>
              <a:picLocks noChangeAspect="1"/>
            </p:cNvPicPr>
            <p:nvPr/>
          </p:nvPicPr>
          <p:blipFill>
            <a:blip r:embed="rId54">
              <a:extLst>
                <a:ext uri="{28A0092B-C50C-407E-A947-70E740481C1C}">
                  <a14:useLocalDpi xmlns:a14="http://schemas.microsoft.com/office/drawing/2010/main" val="0"/>
                </a:ext>
              </a:extLst>
            </a:blip>
            <a:stretch>
              <a:fillRect/>
            </a:stretch>
          </p:blipFill>
          <p:spPr>
            <a:xfrm>
              <a:off x="6865386" y="17035791"/>
              <a:ext cx="2810053" cy="2343525"/>
            </a:xfrm>
            <a:prstGeom prst="rect">
              <a:avLst/>
            </a:prstGeom>
          </p:spPr>
        </p:pic>
        <p:sp>
          <p:nvSpPr>
            <p:cNvPr id="452" name="Rectangle: Diagonal Corners Snipped 451">
              <a:extLst>
                <a:ext uri="{FF2B5EF4-FFF2-40B4-BE49-F238E27FC236}">
                  <a16:creationId xmlns:a16="http://schemas.microsoft.com/office/drawing/2014/main" id="{3C20A1BE-20E6-0B99-6C50-0ADFEC55E3EB}"/>
                </a:ext>
              </a:extLst>
            </p:cNvPr>
            <p:cNvSpPr/>
            <p:nvPr/>
          </p:nvSpPr>
          <p:spPr>
            <a:xfrm>
              <a:off x="9009015" y="17035791"/>
              <a:ext cx="668851" cy="197223"/>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Fig-2</a:t>
              </a:r>
            </a:p>
          </p:txBody>
        </p:sp>
      </p:grpSp>
      <p:sp>
        <p:nvSpPr>
          <p:cNvPr id="40" name="Rectangle: Diagonal Corners Snipped 39">
            <a:extLst>
              <a:ext uri="{FF2B5EF4-FFF2-40B4-BE49-F238E27FC236}">
                <a16:creationId xmlns:a16="http://schemas.microsoft.com/office/drawing/2014/main" id="{201B67CE-F431-A52E-01BA-131BA9358E5C}"/>
              </a:ext>
            </a:extLst>
          </p:cNvPr>
          <p:cNvSpPr/>
          <p:nvPr/>
        </p:nvSpPr>
        <p:spPr>
          <a:xfrm>
            <a:off x="9093674" y="12684595"/>
            <a:ext cx="668851" cy="194491"/>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Fig-1</a:t>
            </a:r>
          </a:p>
        </p:txBody>
      </p:sp>
      <p:pic>
        <p:nvPicPr>
          <p:cNvPr id="58" name="Picture 57">
            <a:extLst>
              <a:ext uri="{FF2B5EF4-FFF2-40B4-BE49-F238E27FC236}">
                <a16:creationId xmlns:a16="http://schemas.microsoft.com/office/drawing/2014/main" id="{BC18D557-E4B9-41B9-1193-284C7D1BF2E0}"/>
              </a:ext>
            </a:extLst>
          </p:cNvPr>
          <p:cNvPicPr>
            <a:picLocks noChangeAspect="1"/>
          </p:cNvPicPr>
          <p:nvPr/>
        </p:nvPicPr>
        <p:blipFill>
          <a:blip r:embed="rId55">
            <a:extLst>
              <a:ext uri="{28A0092B-C50C-407E-A947-70E740481C1C}">
                <a14:useLocalDpi xmlns:a14="http://schemas.microsoft.com/office/drawing/2010/main" val="0"/>
              </a:ext>
            </a:extLst>
          </a:blip>
          <a:srcRect l="33962" t="12598" r="30954" b="11688"/>
          <a:stretch/>
        </p:blipFill>
        <p:spPr>
          <a:xfrm rot="5400000">
            <a:off x="13694340" y="6882460"/>
            <a:ext cx="674951" cy="1456595"/>
          </a:xfrm>
          <a:prstGeom prst="rect">
            <a:avLst/>
          </a:prstGeom>
        </p:spPr>
      </p:pic>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73C93DEB-7D52-C8DD-401D-06B7B95CB035}"/>
                  </a:ext>
                </a:extLst>
              </p:cNvPr>
              <p:cNvGraphicFramePr>
                <a:graphicFrameLocks noGrp="1"/>
              </p:cNvGraphicFramePr>
              <p:nvPr>
                <p:extLst>
                  <p:ext uri="{D42A27DB-BD31-4B8C-83A1-F6EECF244321}">
                    <p14:modId xmlns:p14="http://schemas.microsoft.com/office/powerpoint/2010/main" val="3068396729"/>
                  </p:ext>
                </p:extLst>
              </p:nvPr>
            </p:nvGraphicFramePr>
            <p:xfrm>
              <a:off x="17871970" y="22631107"/>
              <a:ext cx="1779776" cy="5667720"/>
            </p:xfrm>
            <a:graphic>
              <a:graphicData uri="http://schemas.openxmlformats.org/drawingml/2006/table">
                <a:tbl>
                  <a:tblPr firstRow="1" bandRow="1">
                    <a:tableStyleId>{8FD4443E-F989-4FC4-A0C8-D5A2AF1F390B}</a:tableStyleId>
                  </a:tblPr>
                  <a:tblGrid>
                    <a:gridCol w="790623">
                      <a:extLst>
                        <a:ext uri="{9D8B030D-6E8A-4147-A177-3AD203B41FA5}">
                          <a16:colId xmlns:a16="http://schemas.microsoft.com/office/drawing/2014/main" val="1303510088"/>
                        </a:ext>
                      </a:extLst>
                    </a:gridCol>
                    <a:gridCol w="989153">
                      <a:extLst>
                        <a:ext uri="{9D8B030D-6E8A-4147-A177-3AD203B41FA5}">
                          <a16:colId xmlns:a16="http://schemas.microsoft.com/office/drawing/2014/main" val="3102469480"/>
                        </a:ext>
                      </a:extLst>
                    </a:gridCol>
                  </a:tblGrid>
                  <a:tr h="507171">
                    <a:tc>
                      <a:txBody>
                        <a:bodyPr/>
                        <a:lstStyle/>
                        <a:p>
                          <a:pPr algn="ctr"/>
                          <a:r>
                            <a:rPr lang="en-US" sz="1400" dirty="0"/>
                            <a:t>Weight (</a:t>
                          </a:r>
                          <a14:m>
                            <m:oMath xmlns:m="http://schemas.openxmlformats.org/officeDocument/2006/math">
                              <m:r>
                                <a:rPr lang="en-US" sz="1400" i="1" dirty="0" smtClean="0">
                                  <a:latin typeface="Cambria Math" panose="02040503050406030204" pitchFamily="18" charset="0"/>
                                </a:rPr>
                                <m:t>𝐾𝑔</m:t>
                              </m:r>
                            </m:oMath>
                          </a14:m>
                          <a:r>
                            <a:rPr lang="en-US" sz="1400" dirty="0"/>
                            <a: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t>Deflection</a:t>
                          </a:r>
                        </a:p>
                        <a:p>
                          <a:pPr algn="ctr"/>
                          <a:r>
                            <a:rPr lang="en-US" sz="1400" dirty="0">
                              <a:latin typeface="Times New Roman" panose="02020603050405020304" pitchFamily="18" charset="0"/>
                              <a:cs typeface="Times New Roman" panose="02020603050405020304" pitchFamily="18" charset="0"/>
                            </a:rPr>
                            <a:t>(</a:t>
                          </a:r>
                          <a14:m>
                            <m:oMath xmlns:m="http://schemas.openxmlformats.org/officeDocument/2006/math">
                              <m:r>
                                <a:rPr lang="en-US" sz="1400" b="1" i="1" dirty="0" smtClean="0">
                                  <a:latin typeface="Cambria Math" panose="02040503050406030204" pitchFamily="18" charset="0"/>
                                  <a:cs typeface="Times New Roman" panose="02020603050405020304" pitchFamily="18" charset="0"/>
                                </a:rPr>
                                <m:t>𝒎</m:t>
                              </m:r>
                              <m:r>
                                <a:rPr lang="en-US" sz="1400" i="1" dirty="0" smtClean="0">
                                  <a:latin typeface="Cambria Math" panose="02040503050406030204" pitchFamily="18" charset="0"/>
                                  <a:cs typeface="Times New Roman" panose="02020603050405020304" pitchFamily="18" charset="0"/>
                                </a:rPr>
                                <m:t>𝑚</m:t>
                              </m:r>
                            </m:oMath>
                          </a14:m>
                          <a:r>
                            <a:rPr lang="en-US" sz="14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25018732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838235953"/>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19101815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49689608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0.2</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59763724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2</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303160144"/>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2.5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84548764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0.4</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62656300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3.5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0.4</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03299276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4</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0.4</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942023897"/>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4.5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650935312"/>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143430955"/>
                      </a:ext>
                    </a:extLst>
                  </a:tr>
                  <a:tr h="246429">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5.5</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06541087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0.5</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893701963"/>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6.5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759157128"/>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877060787"/>
                      </a:ext>
                    </a:extLst>
                  </a:tr>
                  <a:tr h="246429">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7.5</a:t>
                          </a:r>
                        </a:p>
                      </a:txBody>
                      <a:tcPr marL="7620" marR="7620" marT="7620" marB="0" anchor="b"/>
                    </a:tc>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0.6</a:t>
                          </a:r>
                        </a:p>
                      </a:txBody>
                      <a:tcPr marL="7620" marR="7620" marT="7620" marB="0" anchor="b"/>
                    </a:tc>
                    <a:extLst>
                      <a:ext uri="{0D108BD9-81ED-4DB2-BD59-A6C34878D82A}">
                        <a16:rowId xmlns:a16="http://schemas.microsoft.com/office/drawing/2014/main" val="165038786"/>
                      </a:ext>
                    </a:extLst>
                  </a:tr>
                  <a:tr h="246429">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8</a:t>
                          </a:r>
                        </a:p>
                      </a:txBody>
                      <a:tcPr marL="7620" marR="7620" marT="7620" marB="0" anchor="b"/>
                    </a:tc>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0.7</a:t>
                          </a:r>
                        </a:p>
                      </a:txBody>
                      <a:tcPr marL="7620" marR="7620" marT="7620" marB="0" anchor="b"/>
                    </a:tc>
                    <a:extLst>
                      <a:ext uri="{0D108BD9-81ED-4DB2-BD59-A6C34878D82A}">
                        <a16:rowId xmlns:a16="http://schemas.microsoft.com/office/drawing/2014/main" val="34119440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8.5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400697525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9</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89069832"/>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9.5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0.8</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097836644"/>
                      </a:ext>
                    </a:extLst>
                  </a:tr>
                  <a:tr h="216705">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0.8</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286032194"/>
                      </a:ext>
                    </a:extLst>
                  </a:tr>
                </a:tbl>
              </a:graphicData>
            </a:graphic>
          </p:graphicFrame>
        </mc:Choice>
        <mc:Fallback xmlns="">
          <p:graphicFrame>
            <p:nvGraphicFramePr>
              <p:cNvPr id="19" name="Table 18">
                <a:extLst>
                  <a:ext uri="{FF2B5EF4-FFF2-40B4-BE49-F238E27FC236}">
                    <a16:creationId xmlns:a16="http://schemas.microsoft.com/office/drawing/2014/main" id="{73C93DEB-7D52-C8DD-401D-06B7B95CB035}"/>
                  </a:ext>
                </a:extLst>
              </p:cNvPr>
              <p:cNvGraphicFramePr>
                <a:graphicFrameLocks noGrp="1"/>
              </p:cNvGraphicFramePr>
              <p:nvPr>
                <p:extLst>
                  <p:ext uri="{D42A27DB-BD31-4B8C-83A1-F6EECF244321}">
                    <p14:modId xmlns:p14="http://schemas.microsoft.com/office/powerpoint/2010/main" val="3068396729"/>
                  </p:ext>
                </p:extLst>
              </p:nvPr>
            </p:nvGraphicFramePr>
            <p:xfrm>
              <a:off x="17871970" y="22631107"/>
              <a:ext cx="1779776" cy="5667720"/>
            </p:xfrm>
            <a:graphic>
              <a:graphicData uri="http://schemas.openxmlformats.org/drawingml/2006/table">
                <a:tbl>
                  <a:tblPr firstRow="1" bandRow="1">
                    <a:tableStyleId>{8FD4443E-F989-4FC4-A0C8-D5A2AF1F390B}</a:tableStyleId>
                  </a:tblPr>
                  <a:tblGrid>
                    <a:gridCol w="790623">
                      <a:extLst>
                        <a:ext uri="{9D8B030D-6E8A-4147-A177-3AD203B41FA5}">
                          <a16:colId xmlns:a16="http://schemas.microsoft.com/office/drawing/2014/main" val="1303510088"/>
                        </a:ext>
                      </a:extLst>
                    </a:gridCol>
                    <a:gridCol w="989153">
                      <a:extLst>
                        <a:ext uri="{9D8B030D-6E8A-4147-A177-3AD203B41FA5}">
                          <a16:colId xmlns:a16="http://schemas.microsoft.com/office/drawing/2014/main" val="3102469480"/>
                        </a:ext>
                      </a:extLst>
                    </a:gridCol>
                  </a:tblGrid>
                  <a:tr h="518160">
                    <a:tc>
                      <a:txBody>
                        <a:bodyPr/>
                        <a:lstStyle/>
                        <a:p>
                          <a:endParaRPr lang="en-US"/>
                        </a:p>
                      </a:txBody>
                      <a:tcPr>
                        <a:blipFill>
                          <a:blip r:embed="rId56"/>
                          <a:stretch>
                            <a:fillRect t="-1176" r="-126923" b="-1015294"/>
                          </a:stretch>
                        </a:blipFill>
                      </a:tcPr>
                    </a:tc>
                    <a:tc>
                      <a:txBody>
                        <a:bodyPr/>
                        <a:lstStyle/>
                        <a:p>
                          <a:endParaRPr lang="en-US"/>
                        </a:p>
                      </a:txBody>
                      <a:tcPr>
                        <a:blipFill>
                          <a:blip r:embed="rId56"/>
                          <a:stretch>
                            <a:fillRect l="-79755" t="-1176" r="-1227" b="-1015294"/>
                          </a:stretch>
                        </a:blipFill>
                      </a:tcPr>
                    </a:tc>
                    <a:extLst>
                      <a:ext uri="{0D108BD9-81ED-4DB2-BD59-A6C34878D82A}">
                        <a16:rowId xmlns:a16="http://schemas.microsoft.com/office/drawing/2014/main" val="225018732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838235953"/>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19101815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0.1</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49689608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0.2</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59763724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2</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303160144"/>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2.5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84548764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3</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0.4</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62656300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3.5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0.4</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032992761"/>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4</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0.4</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942023897"/>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4.5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650935312"/>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143430955"/>
                      </a:ext>
                    </a:extLst>
                  </a:tr>
                  <a:tr h="246429">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5.5</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06541087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a:solidFill>
                                <a:srgbClr val="000000"/>
                              </a:solidFill>
                              <a:effectLst/>
                              <a:latin typeface="Verdana" panose="020B0604030504040204" pitchFamily="34" charset="0"/>
                              <a:ea typeface="Verdana" panose="020B0604030504040204" pitchFamily="34" charset="0"/>
                            </a:rPr>
                            <a:t>0.5</a:t>
                          </a:r>
                          <a:endParaRPr lang="en-US" sz="1400" b="0" i="0" u="none" strike="noStrike">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893701963"/>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6.5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759157128"/>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0.6</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877060787"/>
                      </a:ext>
                    </a:extLst>
                  </a:tr>
                  <a:tr h="246429">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7.5</a:t>
                          </a:r>
                        </a:p>
                      </a:txBody>
                      <a:tcPr marL="7620" marR="7620" marT="7620" marB="0" anchor="b"/>
                    </a:tc>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0.6</a:t>
                          </a:r>
                        </a:p>
                      </a:txBody>
                      <a:tcPr marL="7620" marR="7620" marT="7620" marB="0" anchor="b"/>
                    </a:tc>
                    <a:extLst>
                      <a:ext uri="{0D108BD9-81ED-4DB2-BD59-A6C34878D82A}">
                        <a16:rowId xmlns:a16="http://schemas.microsoft.com/office/drawing/2014/main" val="165038786"/>
                      </a:ext>
                    </a:extLst>
                  </a:tr>
                  <a:tr h="246429">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8</a:t>
                          </a:r>
                        </a:p>
                      </a:txBody>
                      <a:tcPr marL="7620" marR="7620" marT="7620" marB="0" anchor="b"/>
                    </a:tc>
                    <a:tc>
                      <a:txBody>
                        <a:bodyPr/>
                        <a:lstStyle/>
                        <a:p>
                          <a:pPr algn="ctr" fontAlgn="b"/>
                          <a:r>
                            <a:rPr lang="en-US" sz="1400" b="0" u="none" strike="noStrike" kern="1200" dirty="0">
                              <a:solidFill>
                                <a:srgbClr val="000000"/>
                              </a:solidFill>
                              <a:effectLst/>
                              <a:latin typeface="Verdana" panose="020B0604030504040204" pitchFamily="34" charset="0"/>
                              <a:ea typeface="Verdana" panose="020B0604030504040204" pitchFamily="34" charset="0"/>
                              <a:cs typeface="+mn-cs"/>
                            </a:rPr>
                            <a:t>0.7</a:t>
                          </a:r>
                        </a:p>
                      </a:txBody>
                      <a:tcPr marL="7620" marR="7620" marT="7620" marB="0" anchor="b"/>
                    </a:tc>
                    <a:extLst>
                      <a:ext uri="{0D108BD9-81ED-4DB2-BD59-A6C34878D82A}">
                        <a16:rowId xmlns:a16="http://schemas.microsoft.com/office/drawing/2014/main" val="341194406"/>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8.5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4006975255"/>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9</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0.7</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89069832"/>
                      </a:ext>
                    </a:extLst>
                  </a:tr>
                  <a:tr h="246429">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9.5</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0.8</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097836644"/>
                      </a:ext>
                    </a:extLst>
                  </a:tr>
                  <a:tr h="220980">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10</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Verdana" panose="020B0604030504040204" pitchFamily="34" charset="0"/>
                              <a:ea typeface="Verdana" panose="020B0604030504040204" pitchFamily="34" charset="0"/>
                            </a:rPr>
                            <a:t>0.8</a:t>
                          </a:r>
                          <a:endParaRPr lang="en-US" sz="1400" b="0" i="0" u="none" strike="noStrike"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286032194"/>
                      </a:ext>
                    </a:extLst>
                  </a:tr>
                </a:tbl>
              </a:graphicData>
            </a:graphic>
          </p:graphicFrame>
        </mc:Fallback>
      </mc:AlternateContent>
      <p:sp>
        <p:nvSpPr>
          <p:cNvPr id="34" name="TextBox 33">
            <a:extLst>
              <a:ext uri="{FF2B5EF4-FFF2-40B4-BE49-F238E27FC236}">
                <a16:creationId xmlns:a16="http://schemas.microsoft.com/office/drawing/2014/main" id="{BA01A667-AF50-5E67-7788-E0E2011AE7F0}"/>
              </a:ext>
            </a:extLst>
          </p:cNvPr>
          <p:cNvSpPr txBox="1"/>
          <p:nvPr/>
        </p:nvSpPr>
        <p:spPr>
          <a:xfrm>
            <a:off x="10337565" y="22166339"/>
            <a:ext cx="9279363" cy="353943"/>
          </a:xfrm>
          <a:prstGeom prst="rect">
            <a:avLst/>
          </a:prstGeom>
          <a:noFill/>
        </p:spPr>
        <p:txBody>
          <a:bodyPr wrap="square" rtlCol="0">
            <a:spAutoFit/>
          </a:bodyPr>
          <a:lstStyle/>
          <a:p>
            <a:r>
              <a:rPr lang="en-US" sz="1700" dirty="0">
                <a:latin typeface="Times New Roman" panose="02020603050405020304" pitchFamily="18" charset="0"/>
                <a:cs typeface="Times New Roman" panose="02020603050405020304" pitchFamily="18" charset="0"/>
              </a:rPr>
              <a:t>A detailed representation of the weight-deflection relationship is provided in the graph and table.</a:t>
            </a:r>
          </a:p>
        </p:txBody>
      </p:sp>
      <p:grpSp>
        <p:nvGrpSpPr>
          <p:cNvPr id="62" name="Group 61">
            <a:extLst>
              <a:ext uri="{FF2B5EF4-FFF2-40B4-BE49-F238E27FC236}">
                <a16:creationId xmlns:a16="http://schemas.microsoft.com/office/drawing/2014/main" id="{33F173CC-3EAD-4580-4659-BA88A1DFC40F}"/>
              </a:ext>
            </a:extLst>
          </p:cNvPr>
          <p:cNvGrpSpPr/>
          <p:nvPr/>
        </p:nvGrpSpPr>
        <p:grpSpPr>
          <a:xfrm>
            <a:off x="10410813" y="22520282"/>
            <a:ext cx="7319519" cy="2806090"/>
            <a:chOff x="10364834" y="22552175"/>
            <a:chExt cx="7319519" cy="2806090"/>
          </a:xfrm>
        </p:grpSpPr>
        <p:graphicFrame>
          <p:nvGraphicFramePr>
            <p:cNvPr id="28" name="Chart 27">
              <a:extLst>
                <a:ext uri="{FF2B5EF4-FFF2-40B4-BE49-F238E27FC236}">
                  <a16:creationId xmlns:a16="http://schemas.microsoft.com/office/drawing/2014/main" id="{ABEA4642-7C6C-2528-CD3B-1E5ABA559E86}"/>
                </a:ext>
              </a:extLst>
            </p:cNvPr>
            <p:cNvGraphicFramePr/>
            <p:nvPr>
              <p:extLst>
                <p:ext uri="{D42A27DB-BD31-4B8C-83A1-F6EECF244321}">
                  <p14:modId xmlns:p14="http://schemas.microsoft.com/office/powerpoint/2010/main" val="2849998947"/>
                </p:ext>
              </p:extLst>
            </p:nvPr>
          </p:nvGraphicFramePr>
          <p:xfrm>
            <a:off x="10367894" y="22798526"/>
            <a:ext cx="7316459" cy="2559739"/>
          </p:xfrm>
          <a:graphic>
            <a:graphicData uri="http://schemas.openxmlformats.org/drawingml/2006/chart">
              <c:chart xmlns:c="http://schemas.openxmlformats.org/drawingml/2006/chart" xmlns:r="http://schemas.openxmlformats.org/officeDocument/2006/relationships" r:id="rId57"/>
            </a:graphicData>
          </a:graphic>
        </p:graphicFrame>
        <p:sp>
          <p:nvSpPr>
            <p:cNvPr id="59" name="Rectangle: Diagonal Corners Snipped 58">
              <a:extLst>
                <a:ext uri="{FF2B5EF4-FFF2-40B4-BE49-F238E27FC236}">
                  <a16:creationId xmlns:a16="http://schemas.microsoft.com/office/drawing/2014/main" id="{24273124-7EDA-204B-0664-F1A19797D3A1}"/>
                </a:ext>
              </a:extLst>
            </p:cNvPr>
            <p:cNvSpPr/>
            <p:nvPr/>
          </p:nvSpPr>
          <p:spPr>
            <a:xfrm>
              <a:off x="10364834" y="22552175"/>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Fig-6</a:t>
              </a:r>
            </a:p>
          </p:txBody>
        </p:sp>
      </p:grpSp>
      <p:sp>
        <p:nvSpPr>
          <p:cNvPr id="60" name="Rectangle: Diagonal Corners Snipped 59">
            <a:extLst>
              <a:ext uri="{FF2B5EF4-FFF2-40B4-BE49-F238E27FC236}">
                <a16:creationId xmlns:a16="http://schemas.microsoft.com/office/drawing/2014/main" id="{F9973601-6924-9710-0B24-F98899644406}"/>
              </a:ext>
            </a:extLst>
          </p:cNvPr>
          <p:cNvSpPr/>
          <p:nvPr/>
        </p:nvSpPr>
        <p:spPr>
          <a:xfrm>
            <a:off x="18967825" y="22388509"/>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Fig-7</a:t>
            </a:r>
          </a:p>
        </p:txBody>
      </p:sp>
      <p:sp>
        <p:nvSpPr>
          <p:cNvPr id="61" name="Rectangle: Diagonal Corners Snipped 60">
            <a:extLst>
              <a:ext uri="{FF2B5EF4-FFF2-40B4-BE49-F238E27FC236}">
                <a16:creationId xmlns:a16="http://schemas.microsoft.com/office/drawing/2014/main" id="{363F8EEB-B2F8-0B44-FF00-1A881009DC96}"/>
              </a:ext>
            </a:extLst>
          </p:cNvPr>
          <p:cNvSpPr/>
          <p:nvPr/>
        </p:nvSpPr>
        <p:spPr>
          <a:xfrm>
            <a:off x="10352853" y="25408587"/>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Fig-8</a:t>
            </a:r>
          </a:p>
        </p:txBody>
      </p:sp>
      <p:grpSp>
        <p:nvGrpSpPr>
          <p:cNvPr id="467" name="Group 466">
            <a:extLst>
              <a:ext uri="{FF2B5EF4-FFF2-40B4-BE49-F238E27FC236}">
                <a16:creationId xmlns:a16="http://schemas.microsoft.com/office/drawing/2014/main" id="{14A18BD1-8826-F4FA-D5E5-118FDAC02876}"/>
              </a:ext>
            </a:extLst>
          </p:cNvPr>
          <p:cNvGrpSpPr/>
          <p:nvPr/>
        </p:nvGrpSpPr>
        <p:grpSpPr>
          <a:xfrm>
            <a:off x="11840" y="11601255"/>
            <a:ext cx="413469" cy="3655308"/>
            <a:chOff x="11840" y="11601255"/>
            <a:chExt cx="413469" cy="3655308"/>
          </a:xfrm>
        </p:grpSpPr>
        <p:sp>
          <p:nvSpPr>
            <p:cNvPr id="463" name="Left Brace 462">
              <a:extLst>
                <a:ext uri="{FF2B5EF4-FFF2-40B4-BE49-F238E27FC236}">
                  <a16:creationId xmlns:a16="http://schemas.microsoft.com/office/drawing/2014/main" id="{1E95A8ED-8D00-67BE-7CAD-D58D83560056}"/>
                </a:ext>
              </a:extLst>
            </p:cNvPr>
            <p:cNvSpPr/>
            <p:nvPr/>
          </p:nvSpPr>
          <p:spPr>
            <a:xfrm>
              <a:off x="287529" y="11601255"/>
              <a:ext cx="137780" cy="3655308"/>
            </a:xfrm>
            <a:prstGeom prst="leftBrace">
              <a:avLst>
                <a:gd name="adj1" fmla="val 49896"/>
                <a:gd name="adj2" fmla="val 50000"/>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
          <p:nvSpPr>
            <p:cNvPr id="466" name="TextBox 465">
              <a:extLst>
                <a:ext uri="{FF2B5EF4-FFF2-40B4-BE49-F238E27FC236}">
                  <a16:creationId xmlns:a16="http://schemas.microsoft.com/office/drawing/2014/main" id="{74D1FB57-70D4-3AF2-9571-F0D1FDFB8351}"/>
                </a:ext>
              </a:extLst>
            </p:cNvPr>
            <p:cNvSpPr txBox="1"/>
            <p:nvPr/>
          </p:nvSpPr>
          <p:spPr>
            <a:xfrm rot="16200000">
              <a:off x="-191100" y="13275020"/>
              <a:ext cx="713657" cy="307777"/>
            </a:xfrm>
            <a:prstGeom prst="rect">
              <a:avLst/>
            </a:prstGeom>
            <a:noFill/>
          </p:spPr>
          <p:txBody>
            <a:bodyPr wrap="none" rtlCol="0">
              <a:spAutoFit/>
            </a:bodyPr>
            <a:lstStyle/>
            <a:p>
              <a:r>
                <a:rPr lang="en-US" sz="1400" dirty="0">
                  <a:solidFill>
                    <a:srgbClr val="00ADB5"/>
                  </a:solidFill>
                  <a:latin typeface="Verdana" panose="020B0604030504040204" pitchFamily="34" charset="0"/>
                  <a:ea typeface="Verdana" panose="020B0604030504040204" pitchFamily="34" charset="0"/>
                </a:rPr>
                <a:t>Cite 1</a:t>
              </a:r>
            </a:p>
          </p:txBody>
        </p:sp>
      </p:grpSp>
      <p:grpSp>
        <p:nvGrpSpPr>
          <p:cNvPr id="468" name="Group 467">
            <a:extLst>
              <a:ext uri="{FF2B5EF4-FFF2-40B4-BE49-F238E27FC236}">
                <a16:creationId xmlns:a16="http://schemas.microsoft.com/office/drawing/2014/main" id="{6FBDD3DC-2286-1A24-4261-70D97A56B530}"/>
              </a:ext>
            </a:extLst>
          </p:cNvPr>
          <p:cNvGrpSpPr/>
          <p:nvPr/>
        </p:nvGrpSpPr>
        <p:grpSpPr>
          <a:xfrm>
            <a:off x="11841" y="17317222"/>
            <a:ext cx="413468" cy="1802837"/>
            <a:chOff x="11841" y="11601255"/>
            <a:chExt cx="413468" cy="3655308"/>
          </a:xfrm>
        </p:grpSpPr>
        <p:sp>
          <p:nvSpPr>
            <p:cNvPr id="469" name="Left Brace 468">
              <a:extLst>
                <a:ext uri="{FF2B5EF4-FFF2-40B4-BE49-F238E27FC236}">
                  <a16:creationId xmlns:a16="http://schemas.microsoft.com/office/drawing/2014/main" id="{653041B1-3F96-BD9E-957A-F48C72ED2653}"/>
                </a:ext>
              </a:extLst>
            </p:cNvPr>
            <p:cNvSpPr/>
            <p:nvPr/>
          </p:nvSpPr>
          <p:spPr>
            <a:xfrm>
              <a:off x="287529" y="11601255"/>
              <a:ext cx="137780" cy="3655308"/>
            </a:xfrm>
            <a:prstGeom prst="leftBrace">
              <a:avLst>
                <a:gd name="adj1" fmla="val 49896"/>
                <a:gd name="adj2" fmla="val 50000"/>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
          <p:nvSpPr>
            <p:cNvPr id="471" name="TextBox 470">
              <a:extLst>
                <a:ext uri="{FF2B5EF4-FFF2-40B4-BE49-F238E27FC236}">
                  <a16:creationId xmlns:a16="http://schemas.microsoft.com/office/drawing/2014/main" id="{688ED8A5-67F2-1FDB-945F-0DDB2EDC8114}"/>
                </a:ext>
              </a:extLst>
            </p:cNvPr>
            <p:cNvSpPr txBox="1"/>
            <p:nvPr/>
          </p:nvSpPr>
          <p:spPr>
            <a:xfrm rot="16200000">
              <a:off x="-557751" y="13275020"/>
              <a:ext cx="1446962" cy="307777"/>
            </a:xfrm>
            <a:prstGeom prst="rect">
              <a:avLst/>
            </a:prstGeom>
            <a:noFill/>
          </p:spPr>
          <p:txBody>
            <a:bodyPr wrap="none" rtlCol="0">
              <a:spAutoFit/>
            </a:bodyPr>
            <a:lstStyle/>
            <a:p>
              <a:r>
                <a:rPr lang="en-US" sz="1400" dirty="0">
                  <a:solidFill>
                    <a:srgbClr val="00ADB5"/>
                  </a:solidFill>
                  <a:latin typeface="Verdana" panose="020B0604030504040204" pitchFamily="34" charset="0"/>
                  <a:ea typeface="Verdana" panose="020B0604030504040204" pitchFamily="34" charset="0"/>
                </a:rPr>
                <a:t>Cite 2</a:t>
              </a:r>
            </a:p>
          </p:txBody>
        </p:sp>
      </p:grpSp>
      <p:graphicFrame>
        <p:nvGraphicFramePr>
          <p:cNvPr id="48" name="Chart 47">
            <a:extLst>
              <a:ext uri="{FF2B5EF4-FFF2-40B4-BE49-F238E27FC236}">
                <a16:creationId xmlns:a16="http://schemas.microsoft.com/office/drawing/2014/main" id="{9C2BABD4-1C9C-1834-4611-417920016D99}"/>
              </a:ext>
            </a:extLst>
          </p:cNvPr>
          <p:cNvGraphicFramePr/>
          <p:nvPr>
            <p:extLst>
              <p:ext uri="{D42A27DB-BD31-4B8C-83A1-F6EECF244321}">
                <p14:modId xmlns:p14="http://schemas.microsoft.com/office/powerpoint/2010/main" val="4212551240"/>
              </p:ext>
            </p:extLst>
          </p:nvPr>
        </p:nvGraphicFramePr>
        <p:xfrm>
          <a:off x="10410813" y="25693347"/>
          <a:ext cx="7316459" cy="2602527"/>
        </p:xfrm>
        <a:graphic>
          <a:graphicData uri="http://schemas.openxmlformats.org/drawingml/2006/chart">
            <c:chart xmlns:c="http://schemas.openxmlformats.org/drawingml/2006/chart" xmlns:r="http://schemas.openxmlformats.org/officeDocument/2006/relationships" r:id="rId58"/>
          </a:graphicData>
        </a:graphic>
      </p:graphicFrame>
      <p:sp>
        <p:nvSpPr>
          <p:cNvPr id="57" name="TextBox 56">
            <a:extLst>
              <a:ext uri="{FF2B5EF4-FFF2-40B4-BE49-F238E27FC236}">
                <a16:creationId xmlns:a16="http://schemas.microsoft.com/office/drawing/2014/main" id="{BDEA8047-7EFF-938D-BB6E-66EBBD63CCA6}"/>
              </a:ext>
            </a:extLst>
          </p:cNvPr>
          <p:cNvSpPr txBox="1"/>
          <p:nvPr/>
        </p:nvSpPr>
        <p:spPr>
          <a:xfrm>
            <a:off x="11015622" y="25358265"/>
            <a:ext cx="9279363" cy="353943"/>
          </a:xfrm>
          <a:prstGeom prst="rect">
            <a:avLst/>
          </a:prstGeom>
          <a:noFill/>
        </p:spPr>
        <p:txBody>
          <a:bodyPr wrap="square" rtlCol="0">
            <a:spAutoFit/>
          </a:bodyPr>
          <a:lstStyle/>
          <a:p>
            <a:r>
              <a:rPr lang="en-US" sz="1700" dirty="0">
                <a:latin typeface="Times New Roman" panose="02020603050405020304" pitchFamily="18" charset="0"/>
                <a:cs typeface="Times New Roman" panose="02020603050405020304" pitchFamily="18" charset="0"/>
              </a:rPr>
              <a:t>Velocity time graph of opening and closing</a:t>
            </a:r>
          </a:p>
        </p:txBody>
      </p:sp>
      <mc:AlternateContent xmlns:mc="http://schemas.openxmlformats.org/markup-compatibility/2006" xmlns:a14="http://schemas.microsoft.com/office/drawing/2010/main">
        <mc:Choice Requires="a14">
          <p:sp>
            <p:nvSpPr>
              <p:cNvPr id="36" name="Rectangle: Rounded Corners 35">
                <a:extLst>
                  <a:ext uri="{FF2B5EF4-FFF2-40B4-BE49-F238E27FC236}">
                    <a16:creationId xmlns:a16="http://schemas.microsoft.com/office/drawing/2014/main" id="{7CE700B2-D285-B2EC-D355-C73B22C6D9F7}"/>
                  </a:ext>
                </a:extLst>
              </p:cNvPr>
              <p:cNvSpPr/>
              <p:nvPr/>
            </p:nvSpPr>
            <p:spPr>
              <a:xfrm>
                <a:off x="21749875" y="17141032"/>
                <a:ext cx="7677234" cy="665896"/>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l-GR" sz="2000" b="1" i="1" dirty="0" smtClean="0">
                          <a:solidFill>
                            <a:srgbClr val="222831"/>
                          </a:solidFill>
                          <a:latin typeface="Cambria Math" panose="02040503050406030204" pitchFamily="18" charset="0"/>
                          <a:cs typeface="Times New Roman" panose="02020603050405020304" pitchFamily="18" charset="0"/>
                        </a:rPr>
                        <m:t>𝝉</m:t>
                      </m:r>
                      <m:r>
                        <a:rPr lang="el-GR" sz="2000" b="1" i="1" dirty="0" smtClean="0">
                          <a:solidFill>
                            <a:srgbClr val="222831"/>
                          </a:solidFill>
                          <a:latin typeface="Cambria Math" panose="02040503050406030204" pitchFamily="18" charset="0"/>
                          <a:cs typeface="Times New Roman" panose="02020603050405020304" pitchFamily="18" charset="0"/>
                        </a:rPr>
                        <m:t>=</m:t>
                      </m:r>
                      <m:r>
                        <a:rPr lang="en-US" sz="2000" b="1" i="1" dirty="0">
                          <a:solidFill>
                            <a:srgbClr val="222831"/>
                          </a:solidFill>
                          <a:latin typeface="Cambria Math" panose="02040503050406030204" pitchFamily="18" charset="0"/>
                          <a:cs typeface="Times New Roman" panose="02020603050405020304" pitchFamily="18" charset="0"/>
                        </a:rPr>
                        <m:t>𝒓</m:t>
                      </m:r>
                      <m:r>
                        <a:rPr lang="en-US" sz="2000" b="1" i="1" dirty="0" smtClean="0">
                          <a:solidFill>
                            <a:srgbClr val="222831"/>
                          </a:solidFill>
                          <a:latin typeface="Cambria Math" panose="02040503050406030204" pitchFamily="18" charset="0"/>
                        </a:rPr>
                        <m:t>𝑭</m:t>
                      </m:r>
                      <m:r>
                        <a:rPr lang="en-US" sz="2000" b="1" i="1" dirty="0">
                          <a:solidFill>
                            <a:srgbClr val="222831"/>
                          </a:solidFill>
                          <a:latin typeface="Cambria Math" panose="02040503050406030204" pitchFamily="18" charset="0"/>
                          <a:cs typeface="Times New Roman" panose="02020603050405020304" pitchFamily="18" charset="0"/>
                        </a:rPr>
                        <m:t>𝒔𝒊𝒏</m:t>
                      </m:r>
                      <m:r>
                        <a:rPr lang="el-GR" sz="2000" b="1" i="1" dirty="0">
                          <a:solidFill>
                            <a:srgbClr val="222831"/>
                          </a:solidFill>
                          <a:latin typeface="Cambria Math" panose="02040503050406030204" pitchFamily="18" charset="0"/>
                          <a:cs typeface="Times New Roman" panose="02020603050405020304" pitchFamily="18" charset="0"/>
                        </a:rPr>
                        <m:t>𝜽</m:t>
                      </m:r>
                    </m:oMath>
                  </m:oMathPara>
                </a14:m>
                <a:endParaRPr lang="en-US" sz="2000" dirty="0"/>
              </a:p>
              <a:p>
                <a:pPr algn="ctr"/>
                <a14:m>
                  <m:oMath xmlns:m="http://schemas.openxmlformats.org/officeDocument/2006/math">
                    <m:r>
                      <a:rPr lang="en-US" sz="2000" b="1" i="1" dirty="0">
                        <a:solidFill>
                          <a:srgbClr val="222831"/>
                        </a:solidFill>
                        <a:latin typeface="Cambria Math" panose="02040503050406030204" pitchFamily="18" charset="0"/>
                        <a:cs typeface="Times New Roman" panose="02020603050405020304" pitchFamily="18" charset="0"/>
                      </a:rPr>
                      <m:t>𝐺𝑖𝑣𝑒𝑛</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𝜏</m:t>
                    </m:r>
                    <m:r>
                      <a:rPr lang="en-US" sz="2000" b="1" i="1" dirty="0">
                        <a:solidFill>
                          <a:srgbClr val="222831"/>
                        </a:solidFill>
                        <a:latin typeface="Cambria Math" panose="02040503050406030204" pitchFamily="18" charset="0"/>
                        <a:cs typeface="Times New Roman" panose="02020603050405020304" pitchFamily="18" charset="0"/>
                      </a:rPr>
                      <m:t>=2.45 </m:t>
                    </m:r>
                    <m:r>
                      <a:rPr lang="en-US" sz="2000" b="1" i="1" dirty="0">
                        <a:solidFill>
                          <a:srgbClr val="222831"/>
                        </a:solidFill>
                        <a:latin typeface="Cambria Math" panose="02040503050406030204" pitchFamily="18" charset="0"/>
                        <a:cs typeface="Times New Roman" panose="02020603050405020304" pitchFamily="18" charset="0"/>
                      </a:rPr>
                      <m:t>𝑁𝑚</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𝑜𝑛𝑒</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𝑚𝑜𝑡𝑜𝑟</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𝑟</m:t>
                    </m:r>
                    <m:r>
                      <a:rPr lang="en-US" sz="2000" b="1" i="1" dirty="0">
                        <a:solidFill>
                          <a:srgbClr val="222831"/>
                        </a:solidFill>
                        <a:latin typeface="Cambria Math" panose="02040503050406030204" pitchFamily="18" charset="0"/>
                        <a:cs typeface="Times New Roman" panose="02020603050405020304" pitchFamily="18" charset="0"/>
                      </a:rPr>
                      <m:t>=</m:t>
                    </m:r>
                    <m:r>
                      <a:rPr lang="en-US" sz="2000" b="0" i="1" dirty="0" smtClean="0">
                        <a:solidFill>
                          <a:srgbClr val="222831"/>
                        </a:solidFill>
                        <a:latin typeface="Cambria Math" panose="02040503050406030204" pitchFamily="18" charset="0"/>
                        <a:cs typeface="Times New Roman" panose="02020603050405020304" pitchFamily="18" charset="0"/>
                      </a:rPr>
                      <m:t>0</m:t>
                    </m:r>
                    <m:r>
                      <a:rPr lang="en-US" sz="2000" b="1" i="1" dirty="0">
                        <a:solidFill>
                          <a:srgbClr val="222831"/>
                        </a:solidFill>
                        <a:latin typeface="Cambria Math" panose="02040503050406030204" pitchFamily="18" charset="0"/>
                        <a:cs typeface="Times New Roman" panose="02020603050405020304" pitchFamily="18" charset="0"/>
                      </a:rPr>
                      <m:t>.85 </m:t>
                    </m:r>
                    <m:r>
                      <a:rPr lang="en-US" sz="2000" b="1" i="1" dirty="0">
                        <a:solidFill>
                          <a:srgbClr val="222831"/>
                        </a:solidFill>
                        <a:latin typeface="Cambria Math" panose="02040503050406030204" pitchFamily="18" charset="0"/>
                        <a:cs typeface="Times New Roman" panose="02020603050405020304" pitchFamily="18" charset="0"/>
                      </a:rPr>
                      <m:t>𝑚</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𝑜𝑛𝑒</m:t>
                    </m:r>
                    <m:r>
                      <a:rPr lang="en-US" sz="2000" b="1" i="1" dirty="0">
                        <a:solidFill>
                          <a:srgbClr val="222831"/>
                        </a:solidFill>
                        <a:latin typeface="Cambria Math" panose="02040503050406030204" pitchFamily="18" charset="0"/>
                        <a:cs typeface="Times New Roman" panose="02020603050405020304" pitchFamily="18" charset="0"/>
                      </a:rPr>
                      <m:t> </m:t>
                    </m:r>
                    <m:r>
                      <a:rPr lang="en-US" sz="2000" b="1" i="1" dirty="0">
                        <a:solidFill>
                          <a:srgbClr val="222831"/>
                        </a:solidFill>
                        <a:latin typeface="Cambria Math" panose="02040503050406030204" pitchFamily="18" charset="0"/>
                        <a:cs typeface="Times New Roman" panose="02020603050405020304" pitchFamily="18" charset="0"/>
                      </a:rPr>
                      <m:t>𝑠𝑡𝑟𝑖𝑛𝑔</m:t>
                    </m:r>
                    <m:r>
                      <a:rPr lang="en-US" sz="2000" b="1" i="1" dirty="0">
                        <a:solidFill>
                          <a:srgbClr val="222831"/>
                        </a:solidFill>
                        <a:latin typeface="Cambria Math" panose="02040503050406030204" pitchFamily="18" charset="0"/>
                        <a:cs typeface="Times New Roman" panose="02020603050405020304" pitchFamily="18" charset="0"/>
                      </a:rPr>
                      <m:t>)</m:t>
                    </m:r>
                  </m:oMath>
                </a14:m>
                <a:r>
                  <a:rPr lang="el-GR" sz="2000" b="1" i="1" dirty="0">
                    <a:solidFill>
                      <a:srgbClr val="222831"/>
                    </a:solidFill>
                    <a:latin typeface="Cambria Math" panose="02040503050406030204" pitchFamily="18" charset="0"/>
                    <a:cs typeface="Times New Roman" panose="02020603050405020304" pitchFamily="18" charset="0"/>
                  </a:rPr>
                  <a:t> </a:t>
                </a:r>
                <a:r>
                  <a:rPr lang="el-GR" sz="2000" i="1" dirty="0">
                    <a:solidFill>
                      <a:srgbClr val="222831"/>
                    </a:solidFill>
                    <a:latin typeface="Cambria Math" panose="02040503050406030204" pitchFamily="18" charset="0"/>
                    <a:cs typeface="Times New Roman" panose="02020603050405020304" pitchFamily="18" charset="0"/>
                  </a:rPr>
                  <a:t>(θ)= 90∘</a:t>
                </a:r>
                <a:r>
                  <a:rPr lang="en-US" sz="2000" i="1" dirty="0">
                    <a:solidFill>
                      <a:srgbClr val="222831"/>
                    </a:solidFill>
                    <a:latin typeface="Cambria Math" panose="02040503050406030204" pitchFamily="18" charset="0"/>
                    <a:cs typeface="Times New Roman" panose="02020603050405020304" pitchFamily="18" charset="0"/>
                  </a:rPr>
                  <a:t> </a:t>
                </a:r>
              </a:p>
            </p:txBody>
          </p:sp>
        </mc:Choice>
        <mc:Fallback xmlns="">
          <p:sp>
            <p:nvSpPr>
              <p:cNvPr id="36" name="Rectangle: Rounded Corners 35">
                <a:extLst>
                  <a:ext uri="{FF2B5EF4-FFF2-40B4-BE49-F238E27FC236}">
                    <a16:creationId xmlns:a16="http://schemas.microsoft.com/office/drawing/2014/main" id="{7CE700B2-D285-B2EC-D355-C73B22C6D9F7}"/>
                  </a:ext>
                </a:extLst>
              </p:cNvPr>
              <p:cNvSpPr>
                <a:spLocks noRot="1" noChangeAspect="1" noMove="1" noResize="1" noEditPoints="1" noAdjustHandles="1" noChangeArrowheads="1" noChangeShapeType="1" noTextEdit="1"/>
              </p:cNvSpPr>
              <p:nvPr/>
            </p:nvSpPr>
            <p:spPr>
              <a:xfrm>
                <a:off x="21749875" y="17141032"/>
                <a:ext cx="7677234" cy="665896"/>
              </a:xfrm>
              <a:prstGeom prst="roundRect">
                <a:avLst/>
              </a:prstGeom>
              <a:blipFill>
                <a:blip r:embed="rId62"/>
                <a:stretch>
                  <a:fillRect r="-238" b="-18018"/>
                </a:stretch>
              </a:blipFill>
              <a:ln>
                <a:solidFill>
                  <a:srgbClr val="394867"/>
                </a:solidFill>
              </a:ln>
            </p:spPr>
            <p:txBody>
              <a:bodyPr/>
              <a:lstStyle/>
              <a:p>
                <a:r>
                  <a:rPr lang="en-US">
                    <a:noFill/>
                  </a:rPr>
                  <a:t> </a:t>
                </a:r>
              </a:p>
            </p:txBody>
          </p:sp>
        </mc:Fallback>
      </mc:AlternateContent>
      <p:sp>
        <p:nvSpPr>
          <p:cNvPr id="39" name="Rectangle: Diagonal Corners Snipped 38">
            <a:extLst>
              <a:ext uri="{FF2B5EF4-FFF2-40B4-BE49-F238E27FC236}">
                <a16:creationId xmlns:a16="http://schemas.microsoft.com/office/drawing/2014/main" id="{08858E91-E5FE-7C35-CA6E-1E815303B237}"/>
              </a:ext>
            </a:extLst>
          </p:cNvPr>
          <p:cNvSpPr/>
          <p:nvPr/>
        </p:nvSpPr>
        <p:spPr>
          <a:xfrm>
            <a:off x="28612780" y="16822400"/>
            <a:ext cx="755573"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Fig-11</a:t>
            </a:r>
          </a:p>
        </p:txBody>
      </p:sp>
      <mc:AlternateContent xmlns:mc="http://schemas.openxmlformats.org/markup-compatibility/2006" xmlns:a14="http://schemas.microsoft.com/office/drawing/2010/main">
        <mc:Choice Requires="a14">
          <p:sp>
            <p:nvSpPr>
              <p:cNvPr id="44" name="Rectangle: Rounded Corners 43">
                <a:extLst>
                  <a:ext uri="{FF2B5EF4-FFF2-40B4-BE49-F238E27FC236}">
                    <a16:creationId xmlns:a16="http://schemas.microsoft.com/office/drawing/2014/main" id="{A0ED3DC2-74CF-D3C2-812E-024D2157CD19}"/>
                  </a:ext>
                </a:extLst>
              </p:cNvPr>
              <p:cNvSpPr/>
              <p:nvPr/>
            </p:nvSpPr>
            <p:spPr>
              <a:xfrm>
                <a:off x="27543759" y="18306652"/>
                <a:ext cx="1877405" cy="888545"/>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000" b="1" dirty="0">
                          <a:solidFill>
                            <a:srgbClr val="222831"/>
                          </a:solidFill>
                          <a:latin typeface="Cambria Math" panose="02040503050406030204" pitchFamily="18" charset="0"/>
                          <a:cs typeface="Times New Roman" panose="02020603050405020304" pitchFamily="18" charset="0"/>
                        </a:rPr>
                        <m:t>F</m:t>
                      </m:r>
                      <m:r>
                        <m:rPr>
                          <m:nor/>
                        </m:rPr>
                        <a:rPr lang="en-US" sz="2000" b="1" i="0" dirty="0" smtClean="0">
                          <a:solidFill>
                            <a:srgbClr val="222831"/>
                          </a:solidFill>
                          <a:latin typeface="Cambria Math" panose="02040503050406030204" pitchFamily="18" charset="0"/>
                          <a:cs typeface="Times New Roman" panose="02020603050405020304" pitchFamily="18" charset="0"/>
                        </a:rPr>
                        <m:t> </m:t>
                      </m:r>
                      <m:r>
                        <m:rPr>
                          <m:nor/>
                        </m:rPr>
                        <a:rPr lang="en-US" sz="2000" b="1" dirty="0">
                          <a:solidFill>
                            <a:srgbClr val="222831"/>
                          </a:solidFill>
                          <a:latin typeface="Cambria Math" panose="02040503050406030204" pitchFamily="18" charset="0"/>
                          <a:cs typeface="Times New Roman" panose="02020603050405020304" pitchFamily="18" charset="0"/>
                        </a:rPr>
                        <m:t>= </m:t>
                      </m:r>
                      <m:r>
                        <m:rPr>
                          <m:nor/>
                        </m:rPr>
                        <a:rPr lang="el-GR" sz="2000" b="1" dirty="0">
                          <a:solidFill>
                            <a:srgbClr val="222831"/>
                          </a:solidFill>
                          <a:latin typeface="Cambria Math" panose="02040503050406030204" pitchFamily="18" charset="0"/>
                          <a:cs typeface="Times New Roman" panose="02020603050405020304" pitchFamily="18" charset="0"/>
                        </a:rPr>
                        <m:t>τ</m:t>
                      </m:r>
                      <m:r>
                        <m:rPr>
                          <m:nor/>
                        </m:rPr>
                        <a:rPr lang="el-GR" sz="2000" b="1" dirty="0">
                          <a:solidFill>
                            <a:srgbClr val="222831"/>
                          </a:solidFill>
                          <a:latin typeface="Cambria Math" panose="02040503050406030204" pitchFamily="18" charset="0"/>
                          <a:cs typeface="Times New Roman" panose="02020603050405020304" pitchFamily="18" charset="0"/>
                        </a:rPr>
                        <m:t> / </m:t>
                      </m:r>
                      <m:r>
                        <m:rPr>
                          <m:nor/>
                        </m:rPr>
                        <a:rPr lang="en-US" sz="2000" b="1" dirty="0">
                          <a:solidFill>
                            <a:srgbClr val="222831"/>
                          </a:solidFill>
                          <a:latin typeface="Cambria Math" panose="02040503050406030204" pitchFamily="18" charset="0"/>
                          <a:cs typeface="Times New Roman" panose="02020603050405020304" pitchFamily="18" charset="0"/>
                        </a:rPr>
                        <m:t>r</m:t>
                      </m:r>
                      <m:r>
                        <m:rPr>
                          <m:nor/>
                        </m:rPr>
                        <a:rPr lang="en-US" sz="2000" b="1" dirty="0">
                          <a:solidFill>
                            <a:srgbClr val="222831"/>
                          </a:solidFill>
                          <a:latin typeface="Cambria Math" panose="02040503050406030204" pitchFamily="18" charset="0"/>
                          <a:cs typeface="Times New Roman" panose="02020603050405020304" pitchFamily="18" charset="0"/>
                        </a:rPr>
                        <m:t> </m:t>
                      </m:r>
                      <m:r>
                        <m:rPr>
                          <m:nor/>
                        </m:rPr>
                        <a:rPr lang="en-US" sz="2000" b="1" dirty="0">
                          <a:solidFill>
                            <a:srgbClr val="222831"/>
                          </a:solidFill>
                          <a:latin typeface="Cambria Math" panose="02040503050406030204" pitchFamily="18" charset="0"/>
                          <a:cs typeface="Times New Roman" panose="02020603050405020304" pitchFamily="18" charset="0"/>
                        </a:rPr>
                        <m:t>sin</m:t>
                      </m:r>
                      <m:r>
                        <m:rPr>
                          <m:nor/>
                        </m:rPr>
                        <a:rPr lang="en-US" sz="2000" b="1" dirty="0">
                          <a:solidFill>
                            <a:srgbClr val="222831"/>
                          </a:solidFill>
                          <a:latin typeface="Cambria Math" panose="02040503050406030204" pitchFamily="18" charset="0"/>
                          <a:cs typeface="Times New Roman" panose="02020603050405020304" pitchFamily="18" charset="0"/>
                        </a:rPr>
                        <m:t>(</m:t>
                      </m:r>
                      <m:r>
                        <m:rPr>
                          <m:nor/>
                        </m:rPr>
                        <a:rPr lang="el-GR" sz="2000" b="1" dirty="0">
                          <a:solidFill>
                            <a:srgbClr val="222831"/>
                          </a:solidFill>
                          <a:latin typeface="Cambria Math" panose="02040503050406030204" pitchFamily="18" charset="0"/>
                          <a:cs typeface="Times New Roman" panose="02020603050405020304" pitchFamily="18" charset="0"/>
                        </a:rPr>
                        <m:t>θ</m:t>
                      </m:r>
                      <m:r>
                        <m:rPr>
                          <m:nor/>
                        </m:rPr>
                        <a:rPr lang="el-GR" sz="2000" b="1" dirty="0">
                          <a:solidFill>
                            <a:srgbClr val="222831"/>
                          </a:solidFill>
                          <a:latin typeface="Cambria Math" panose="02040503050406030204" pitchFamily="18" charset="0"/>
                          <a:cs typeface="Times New Roman" panose="02020603050405020304" pitchFamily="18" charset="0"/>
                        </a:rPr>
                        <m:t>)</m:t>
                      </m:r>
                    </m:oMath>
                  </m:oMathPara>
                </a14:m>
                <a:endParaRPr lang="en-US" sz="2000" b="1" dirty="0">
                  <a:solidFill>
                    <a:srgbClr val="222831"/>
                  </a:solidFill>
                  <a:latin typeface="Cambria Math" panose="02040503050406030204" pitchFamily="18" charset="0"/>
                  <a:cs typeface="Times New Roman" panose="02020603050405020304" pitchFamily="18" charset="0"/>
                </a:endParaRPr>
              </a:p>
              <a:p>
                <a:pPr algn="ctr"/>
                <a:r>
                  <a:rPr lang="en-US" sz="2000" b="1" dirty="0">
                    <a:solidFill>
                      <a:srgbClr val="222831"/>
                    </a:solidFill>
                    <a:latin typeface="Cambria Math" panose="02040503050406030204" pitchFamily="18" charset="0"/>
                    <a:cs typeface="Times New Roman" panose="02020603050405020304" pitchFamily="18" charset="0"/>
                  </a:rPr>
                  <a:t>= </a:t>
                </a:r>
                <a14:m>
                  <m:oMath xmlns:m="http://schemas.openxmlformats.org/officeDocument/2006/math">
                    <m:r>
                      <a:rPr lang="en-US" sz="2000" b="1" i="1" dirty="0" smtClean="0">
                        <a:solidFill>
                          <a:srgbClr val="222831"/>
                        </a:solidFill>
                        <a:latin typeface="Cambria Math" panose="02040503050406030204" pitchFamily="18" charset="0"/>
                        <a:cs typeface="Times New Roman" panose="02020603050405020304" pitchFamily="18" charset="0"/>
                      </a:rPr>
                      <m:t>𝟐</m:t>
                    </m:r>
                    <m:r>
                      <a:rPr lang="en-US" sz="2000" b="1" i="1" dirty="0" smtClean="0">
                        <a:solidFill>
                          <a:srgbClr val="222831"/>
                        </a:solidFill>
                        <a:latin typeface="Cambria Math" panose="02040503050406030204" pitchFamily="18" charset="0"/>
                        <a:cs typeface="Times New Roman" panose="02020603050405020304" pitchFamily="18" charset="0"/>
                      </a:rPr>
                      <m:t>.</m:t>
                    </m:r>
                    <m:r>
                      <a:rPr lang="en-US" sz="2000" b="1" i="1" dirty="0" smtClean="0">
                        <a:solidFill>
                          <a:srgbClr val="222831"/>
                        </a:solidFill>
                        <a:latin typeface="Cambria Math" panose="02040503050406030204" pitchFamily="18" charset="0"/>
                        <a:cs typeface="Times New Roman" panose="02020603050405020304" pitchFamily="18" charset="0"/>
                      </a:rPr>
                      <m:t>𝟖𝟖</m:t>
                    </m:r>
                    <m:r>
                      <m:rPr>
                        <m:nor/>
                      </m:rPr>
                      <a:rPr lang="en-US" sz="2000" b="1" i="1" dirty="0">
                        <a:solidFill>
                          <a:srgbClr val="222831"/>
                        </a:solidFill>
                        <a:latin typeface="Cambria Math" panose="02040503050406030204" pitchFamily="18" charset="0"/>
                        <a:cs typeface="Times New Roman" panose="02020603050405020304" pitchFamily="18" charset="0"/>
                      </a:rPr>
                      <m:t>N</m:t>
                    </m:r>
                  </m:oMath>
                </a14:m>
                <a:endParaRPr lang="en-US" sz="2000" b="1" i="1" dirty="0">
                  <a:solidFill>
                    <a:srgbClr val="222831"/>
                  </a:solidFill>
                  <a:latin typeface="Times New Roman" panose="02020603050405020304" pitchFamily="18" charset="0"/>
                  <a:cs typeface="Times New Roman" panose="02020603050405020304" pitchFamily="18" charset="0"/>
                </a:endParaRPr>
              </a:p>
            </p:txBody>
          </p:sp>
        </mc:Choice>
        <mc:Fallback xmlns="">
          <p:sp>
            <p:nvSpPr>
              <p:cNvPr id="44" name="Rectangle: Rounded Corners 43">
                <a:extLst>
                  <a:ext uri="{FF2B5EF4-FFF2-40B4-BE49-F238E27FC236}">
                    <a16:creationId xmlns:a16="http://schemas.microsoft.com/office/drawing/2014/main" id="{A0ED3DC2-74CF-D3C2-812E-024D2157CD19}"/>
                  </a:ext>
                </a:extLst>
              </p:cNvPr>
              <p:cNvSpPr>
                <a:spLocks noRot="1" noChangeAspect="1" noMove="1" noResize="1" noEditPoints="1" noAdjustHandles="1" noChangeArrowheads="1" noChangeShapeType="1" noTextEdit="1"/>
              </p:cNvSpPr>
              <p:nvPr/>
            </p:nvSpPr>
            <p:spPr>
              <a:xfrm>
                <a:off x="27543759" y="18306652"/>
                <a:ext cx="1877405" cy="888545"/>
              </a:xfrm>
              <a:prstGeom prst="roundRect">
                <a:avLst/>
              </a:prstGeom>
              <a:blipFill>
                <a:blip r:embed="rId63"/>
                <a:stretch>
                  <a:fillRect/>
                </a:stretch>
              </a:blipFill>
              <a:ln>
                <a:solidFill>
                  <a:srgbClr val="394867"/>
                </a:solidFill>
              </a:ln>
            </p:spPr>
            <p:txBody>
              <a:bodyPr/>
              <a:lstStyle/>
              <a:p>
                <a:r>
                  <a:rPr lang="en-US">
                    <a:noFill/>
                  </a:rPr>
                  <a:t> </a:t>
                </a:r>
              </a:p>
            </p:txBody>
          </p:sp>
        </mc:Fallback>
      </mc:AlternateContent>
      <p:sp>
        <p:nvSpPr>
          <p:cNvPr id="63" name="Rectangle: Diagonal Corners Snipped 62">
            <a:extLst>
              <a:ext uri="{FF2B5EF4-FFF2-40B4-BE49-F238E27FC236}">
                <a16:creationId xmlns:a16="http://schemas.microsoft.com/office/drawing/2014/main" id="{502EABEA-673A-73E5-50BB-5C0DA9C83A8D}"/>
              </a:ext>
            </a:extLst>
          </p:cNvPr>
          <p:cNvSpPr/>
          <p:nvPr/>
        </p:nvSpPr>
        <p:spPr>
          <a:xfrm>
            <a:off x="28648802" y="18081114"/>
            <a:ext cx="755573" cy="208067"/>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Fig-12</a:t>
            </a:r>
          </a:p>
        </p:txBody>
      </p:sp>
      <mc:AlternateContent xmlns:mc="http://schemas.openxmlformats.org/markup-compatibility/2006" xmlns:a14="http://schemas.microsoft.com/office/drawing/2010/main">
        <mc:Choice Requires="a14">
          <p:sp>
            <p:nvSpPr>
              <p:cNvPr id="448" name="Rectangle: Rounded Corners 447">
                <a:extLst>
                  <a:ext uri="{FF2B5EF4-FFF2-40B4-BE49-F238E27FC236}">
                    <a16:creationId xmlns:a16="http://schemas.microsoft.com/office/drawing/2014/main" id="{94C6025E-3FF7-7A46-96E5-35CBBB58E51A}"/>
                  </a:ext>
                </a:extLst>
              </p:cNvPr>
              <p:cNvSpPr/>
              <p:nvPr/>
            </p:nvSpPr>
            <p:spPr>
              <a:xfrm>
                <a:off x="27466343" y="19516690"/>
                <a:ext cx="1959320" cy="600893"/>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000" b="1" i="1">
                              <a:solidFill>
                                <a:srgbClr val="222831"/>
                              </a:solidFill>
                              <a:latin typeface="Cambria Math" panose="02040503050406030204" pitchFamily="18" charset="0"/>
                              <a:cs typeface="Times New Roman" panose="02020603050405020304" pitchFamily="18" charset="0"/>
                            </a:rPr>
                          </m:ctrlPr>
                        </m:accPr>
                        <m:e>
                          <m:r>
                            <a:rPr lang="en-US" sz="2000" b="1" i="1">
                              <a:solidFill>
                                <a:srgbClr val="222831"/>
                              </a:solidFill>
                              <a:latin typeface="Cambria Math" panose="02040503050406030204" pitchFamily="18" charset="0"/>
                              <a:cs typeface="Times New Roman" panose="02020603050405020304" pitchFamily="18" charset="0"/>
                            </a:rPr>
                            <m:t>𝒗</m:t>
                          </m:r>
                        </m:e>
                      </m:acc>
                      <m:r>
                        <a:rPr lang="en-US" sz="2000" b="1" i="1">
                          <a:solidFill>
                            <a:srgbClr val="222831"/>
                          </a:solidFill>
                          <a:latin typeface="Cambria Math" panose="02040503050406030204" pitchFamily="18" charset="0"/>
                          <a:cs typeface="Times New Roman" panose="02020603050405020304" pitchFamily="18" charset="0"/>
                        </a:rPr>
                        <m:t>=</m:t>
                      </m:r>
                      <m:f>
                        <m:fPr>
                          <m:ctrlPr>
                            <a:rPr lang="en-US" sz="2000" b="1" i="1">
                              <a:solidFill>
                                <a:srgbClr val="222831"/>
                              </a:solidFill>
                              <a:latin typeface="Cambria Math" panose="02040503050406030204" pitchFamily="18" charset="0"/>
                              <a:cs typeface="Times New Roman" panose="02020603050405020304" pitchFamily="18" charset="0"/>
                            </a:rPr>
                          </m:ctrlPr>
                        </m:fPr>
                        <m:num>
                          <m:r>
                            <a:rPr lang="en-US" sz="2000" b="1" i="1">
                              <a:solidFill>
                                <a:srgbClr val="222831"/>
                              </a:solidFill>
                              <a:latin typeface="Cambria Math" panose="02040503050406030204" pitchFamily="18" charset="0"/>
                              <a:cs typeface="Times New Roman" panose="02020603050405020304" pitchFamily="18" charset="0"/>
                            </a:rPr>
                            <m:t>𝜟</m:t>
                          </m:r>
                          <m:r>
                            <a:rPr lang="en-US" sz="2000" b="1" i="1">
                              <a:solidFill>
                                <a:srgbClr val="222831"/>
                              </a:solidFill>
                              <a:latin typeface="Cambria Math" panose="02040503050406030204" pitchFamily="18" charset="0"/>
                              <a:cs typeface="Times New Roman" panose="02020603050405020304" pitchFamily="18" charset="0"/>
                            </a:rPr>
                            <m:t>𝒙</m:t>
                          </m:r>
                        </m:num>
                        <m:den>
                          <m:r>
                            <a:rPr lang="en-US" sz="2000" b="1" i="1">
                              <a:solidFill>
                                <a:srgbClr val="222831"/>
                              </a:solidFill>
                              <a:latin typeface="Cambria Math" panose="02040503050406030204" pitchFamily="18" charset="0"/>
                              <a:cs typeface="Times New Roman" panose="02020603050405020304" pitchFamily="18" charset="0"/>
                            </a:rPr>
                            <m:t>𝜟</m:t>
                          </m:r>
                          <m:r>
                            <a:rPr lang="en-US" sz="2000" b="1" i="1">
                              <a:solidFill>
                                <a:srgbClr val="222831"/>
                              </a:solidFill>
                              <a:latin typeface="Cambria Math" panose="02040503050406030204" pitchFamily="18" charset="0"/>
                              <a:cs typeface="Times New Roman" panose="02020603050405020304" pitchFamily="18" charset="0"/>
                            </a:rPr>
                            <m:t>𝒕</m:t>
                          </m:r>
                        </m:den>
                      </m:f>
                    </m:oMath>
                  </m:oMathPara>
                </a14:m>
                <a:endParaRPr lang="en-US" sz="2000" b="1" i="1" dirty="0">
                  <a:solidFill>
                    <a:srgbClr val="222831"/>
                  </a:solidFill>
                  <a:latin typeface="Cambria Math" panose="02040503050406030204" pitchFamily="18" charset="0"/>
                  <a:cs typeface="Times New Roman" panose="02020603050405020304" pitchFamily="18" charset="0"/>
                </a:endParaRPr>
              </a:p>
            </p:txBody>
          </p:sp>
        </mc:Choice>
        <mc:Fallback xmlns="">
          <p:sp>
            <p:nvSpPr>
              <p:cNvPr id="448" name="Rectangle: Rounded Corners 447">
                <a:extLst>
                  <a:ext uri="{FF2B5EF4-FFF2-40B4-BE49-F238E27FC236}">
                    <a16:creationId xmlns:a16="http://schemas.microsoft.com/office/drawing/2014/main" id="{94C6025E-3FF7-7A46-96E5-35CBBB58E51A}"/>
                  </a:ext>
                </a:extLst>
              </p:cNvPr>
              <p:cNvSpPr>
                <a:spLocks noRot="1" noChangeAspect="1" noMove="1" noResize="1" noEditPoints="1" noAdjustHandles="1" noChangeArrowheads="1" noChangeShapeType="1" noTextEdit="1"/>
              </p:cNvSpPr>
              <p:nvPr/>
            </p:nvSpPr>
            <p:spPr>
              <a:xfrm>
                <a:off x="27466343" y="19516690"/>
                <a:ext cx="1959320" cy="600893"/>
              </a:xfrm>
              <a:prstGeom prst="roundRect">
                <a:avLst/>
              </a:prstGeom>
              <a:blipFill>
                <a:blip r:embed="rId64"/>
                <a:stretch>
                  <a:fillRect/>
                </a:stretch>
              </a:blipFill>
              <a:ln>
                <a:solidFill>
                  <a:srgbClr val="394867"/>
                </a:solidFill>
              </a:ln>
            </p:spPr>
            <p:txBody>
              <a:bodyPr/>
              <a:lstStyle/>
              <a:p>
                <a:r>
                  <a:rPr lang="en-US">
                    <a:noFill/>
                  </a:rPr>
                  <a:t> </a:t>
                </a:r>
              </a:p>
            </p:txBody>
          </p:sp>
        </mc:Fallback>
      </mc:AlternateContent>
      <p:sp>
        <p:nvSpPr>
          <p:cNvPr id="451" name="Rectangle: Diagonal Corners Snipped 450">
            <a:extLst>
              <a:ext uri="{FF2B5EF4-FFF2-40B4-BE49-F238E27FC236}">
                <a16:creationId xmlns:a16="http://schemas.microsoft.com/office/drawing/2014/main" id="{573A93A1-D954-425F-F62C-A63C2EB2DEDB}"/>
              </a:ext>
            </a:extLst>
          </p:cNvPr>
          <p:cNvSpPr/>
          <p:nvPr/>
        </p:nvSpPr>
        <p:spPr>
          <a:xfrm>
            <a:off x="28648802" y="19229337"/>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Fig-13</a:t>
            </a:r>
          </a:p>
        </p:txBody>
      </p:sp>
      <mc:AlternateContent xmlns:mc="http://schemas.openxmlformats.org/markup-compatibility/2006" xmlns:a14="http://schemas.microsoft.com/office/drawing/2010/main">
        <mc:Choice Requires="a14">
          <p:sp>
            <p:nvSpPr>
              <p:cNvPr id="454" name="Rectangle: Rounded Corners 453">
                <a:extLst>
                  <a:ext uri="{FF2B5EF4-FFF2-40B4-BE49-F238E27FC236}">
                    <a16:creationId xmlns:a16="http://schemas.microsoft.com/office/drawing/2014/main" id="{3496B9FC-3A36-66F1-E984-76B55873EB2E}"/>
                  </a:ext>
                </a:extLst>
              </p:cNvPr>
              <p:cNvSpPr/>
              <p:nvPr/>
            </p:nvSpPr>
            <p:spPr>
              <a:xfrm>
                <a:off x="26816598" y="20494305"/>
                <a:ext cx="2609066" cy="347922"/>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1" i="1">
                          <a:solidFill>
                            <a:srgbClr val="222831"/>
                          </a:solidFill>
                          <a:latin typeface="Cambria Math" panose="02040503050406030204" pitchFamily="18" charset="0"/>
                          <a:cs typeface="Times New Roman" panose="02020603050405020304" pitchFamily="18" charset="0"/>
                        </a:rPr>
                        <m:t>𝒂𝒓𝒄</m:t>
                      </m:r>
                      <m:r>
                        <a:rPr lang="en-US" sz="2000" b="1" i="1">
                          <a:solidFill>
                            <a:srgbClr val="222831"/>
                          </a:solidFill>
                          <a:latin typeface="Cambria Math" panose="02040503050406030204" pitchFamily="18" charset="0"/>
                          <a:cs typeface="Times New Roman" panose="02020603050405020304" pitchFamily="18" charset="0"/>
                        </a:rPr>
                        <m:t>=</m:t>
                      </m:r>
                      <m:r>
                        <m:rPr>
                          <m:nor/>
                        </m:rPr>
                        <a:rPr lang="pt-BR" sz="2000" b="1" i="1">
                          <a:solidFill>
                            <a:srgbClr val="222831"/>
                          </a:solidFill>
                          <a:latin typeface="Cambria Math" panose="02040503050406030204" pitchFamily="18" charset="0"/>
                          <a:cs typeface="Times New Roman" panose="02020603050405020304" pitchFamily="18" charset="0"/>
                        </a:rPr>
                        <m:t>2 </m:t>
                      </m:r>
                      <m:r>
                        <m:rPr>
                          <m:nor/>
                        </m:rPr>
                        <a:rPr lang="pt-BR" sz="2000" b="1" i="1">
                          <a:solidFill>
                            <a:srgbClr val="222831"/>
                          </a:solidFill>
                          <a:latin typeface="Cambria Math" panose="02040503050406030204" pitchFamily="18" charset="0"/>
                          <a:cs typeface="Times New Roman" panose="02020603050405020304" pitchFamily="18" charset="0"/>
                        </a:rPr>
                        <m:t>π</m:t>
                      </m:r>
                      <m:r>
                        <m:rPr>
                          <m:nor/>
                        </m:rPr>
                        <a:rPr lang="pt-BR" sz="2000" b="1" i="1">
                          <a:solidFill>
                            <a:srgbClr val="222831"/>
                          </a:solidFill>
                          <a:latin typeface="Cambria Math" panose="02040503050406030204" pitchFamily="18" charset="0"/>
                          <a:cs typeface="Times New Roman" panose="02020603050405020304" pitchFamily="18" charset="0"/>
                        </a:rPr>
                        <m:t> </m:t>
                      </m:r>
                      <m:r>
                        <m:rPr>
                          <m:nor/>
                        </m:rPr>
                        <a:rPr lang="pt-BR" sz="2000" b="1" i="1">
                          <a:solidFill>
                            <a:srgbClr val="222831"/>
                          </a:solidFill>
                          <a:latin typeface="Cambria Math" panose="02040503050406030204" pitchFamily="18" charset="0"/>
                          <a:cs typeface="Times New Roman" panose="02020603050405020304" pitchFamily="18" charset="0"/>
                        </a:rPr>
                        <m:t>r</m:t>
                      </m:r>
                      <m:r>
                        <m:rPr>
                          <m:nor/>
                        </m:rPr>
                        <a:rPr lang="pt-BR" sz="2000" b="1" i="1">
                          <a:solidFill>
                            <a:srgbClr val="222831"/>
                          </a:solidFill>
                          <a:latin typeface="Cambria Math" panose="02040503050406030204" pitchFamily="18" charset="0"/>
                          <a:cs typeface="Times New Roman" panose="02020603050405020304" pitchFamily="18" charset="0"/>
                        </a:rPr>
                        <m:t> (</m:t>
                      </m:r>
                      <m:r>
                        <m:rPr>
                          <m:nor/>
                        </m:rPr>
                        <a:rPr lang="pt-BR" sz="2000" b="1" i="1">
                          <a:solidFill>
                            <a:srgbClr val="222831"/>
                          </a:solidFill>
                          <a:latin typeface="Cambria Math" panose="02040503050406030204" pitchFamily="18" charset="0"/>
                          <a:cs typeface="Times New Roman" panose="02020603050405020304" pitchFamily="18" charset="0"/>
                        </a:rPr>
                        <m:t>θ</m:t>
                      </m:r>
                      <m:r>
                        <m:rPr>
                          <m:nor/>
                        </m:rPr>
                        <a:rPr lang="pt-BR" sz="2000" b="1" i="1">
                          <a:solidFill>
                            <a:srgbClr val="222831"/>
                          </a:solidFill>
                          <a:latin typeface="Cambria Math" panose="02040503050406030204" pitchFamily="18" charset="0"/>
                          <a:cs typeface="Times New Roman" panose="02020603050405020304" pitchFamily="18" charset="0"/>
                        </a:rPr>
                        <m:t>/360</m:t>
                      </m:r>
                      <m:r>
                        <m:rPr>
                          <m:nor/>
                        </m:rPr>
                        <a:rPr lang="pt-BR" sz="2000" b="1" i="1">
                          <a:solidFill>
                            <a:srgbClr val="222831"/>
                          </a:solidFill>
                          <a:latin typeface="Cambria Math" panose="02040503050406030204" pitchFamily="18" charset="0"/>
                          <a:cs typeface="Times New Roman" panose="02020603050405020304" pitchFamily="18" charset="0"/>
                        </a:rPr>
                        <m:t>°</m:t>
                      </m:r>
                      <m:r>
                        <m:rPr>
                          <m:nor/>
                        </m:rPr>
                        <a:rPr lang="pt-BR" sz="2000" b="1" i="1">
                          <a:solidFill>
                            <a:srgbClr val="222831"/>
                          </a:solidFill>
                          <a:latin typeface="Cambria Math" panose="02040503050406030204" pitchFamily="18" charset="0"/>
                          <a:cs typeface="Times New Roman" panose="02020603050405020304" pitchFamily="18" charset="0"/>
                        </a:rPr>
                        <m:t>)</m:t>
                      </m:r>
                    </m:oMath>
                  </m:oMathPara>
                </a14:m>
                <a:endParaRPr lang="en-US" sz="2000" b="1" i="1" dirty="0">
                  <a:solidFill>
                    <a:srgbClr val="222831"/>
                  </a:solidFill>
                  <a:latin typeface="Cambria Math" panose="02040503050406030204" pitchFamily="18" charset="0"/>
                  <a:cs typeface="Times New Roman" panose="02020603050405020304" pitchFamily="18" charset="0"/>
                </a:endParaRPr>
              </a:p>
            </p:txBody>
          </p:sp>
        </mc:Choice>
        <mc:Fallback xmlns="">
          <p:sp>
            <p:nvSpPr>
              <p:cNvPr id="454" name="Rectangle: Rounded Corners 453">
                <a:extLst>
                  <a:ext uri="{FF2B5EF4-FFF2-40B4-BE49-F238E27FC236}">
                    <a16:creationId xmlns:a16="http://schemas.microsoft.com/office/drawing/2014/main" id="{3496B9FC-3A36-66F1-E984-76B55873EB2E}"/>
                  </a:ext>
                </a:extLst>
              </p:cNvPr>
              <p:cNvSpPr>
                <a:spLocks noRot="1" noChangeAspect="1" noMove="1" noResize="1" noEditPoints="1" noAdjustHandles="1" noChangeArrowheads="1" noChangeShapeType="1" noTextEdit="1"/>
              </p:cNvSpPr>
              <p:nvPr/>
            </p:nvSpPr>
            <p:spPr>
              <a:xfrm>
                <a:off x="26816598" y="20494305"/>
                <a:ext cx="2609066" cy="347922"/>
              </a:xfrm>
              <a:prstGeom prst="roundRect">
                <a:avLst/>
              </a:prstGeom>
              <a:blipFill>
                <a:blip r:embed="rId65"/>
                <a:stretch>
                  <a:fillRect b="-25424"/>
                </a:stretch>
              </a:blipFill>
              <a:ln>
                <a:solidFill>
                  <a:srgbClr val="394867"/>
                </a:solidFill>
              </a:ln>
            </p:spPr>
            <p:txBody>
              <a:bodyPr/>
              <a:lstStyle/>
              <a:p>
                <a:r>
                  <a:rPr lang="en-US">
                    <a:noFill/>
                  </a:rPr>
                  <a:t> </a:t>
                </a:r>
              </a:p>
            </p:txBody>
          </p:sp>
        </mc:Fallback>
      </mc:AlternateContent>
      <p:sp>
        <p:nvSpPr>
          <p:cNvPr id="459" name="Rectangle: Diagonal Corners Snipped 458">
            <a:extLst>
              <a:ext uri="{FF2B5EF4-FFF2-40B4-BE49-F238E27FC236}">
                <a16:creationId xmlns:a16="http://schemas.microsoft.com/office/drawing/2014/main" id="{CE03C0BD-4FC1-75CB-D09D-D4874532D4A9}"/>
              </a:ext>
            </a:extLst>
          </p:cNvPr>
          <p:cNvSpPr/>
          <p:nvPr/>
        </p:nvSpPr>
        <p:spPr>
          <a:xfrm>
            <a:off x="28670090" y="20187979"/>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Fig-14</a:t>
            </a:r>
          </a:p>
        </p:txBody>
      </p:sp>
      <mc:AlternateContent xmlns:mc="http://schemas.openxmlformats.org/markup-compatibility/2006" xmlns:a14="http://schemas.microsoft.com/office/drawing/2010/main">
        <mc:Choice Requires="a14">
          <p:graphicFrame>
            <p:nvGraphicFramePr>
              <p:cNvPr id="473" name="Table 472">
                <a:extLst>
                  <a:ext uri="{FF2B5EF4-FFF2-40B4-BE49-F238E27FC236}">
                    <a16:creationId xmlns:a16="http://schemas.microsoft.com/office/drawing/2014/main" id="{FFECA6CE-E56E-5ADF-6038-05D8E866CBC2}"/>
                  </a:ext>
                </a:extLst>
              </p:cNvPr>
              <p:cNvGraphicFramePr>
                <a:graphicFrameLocks noGrp="1"/>
              </p:cNvGraphicFramePr>
              <p:nvPr>
                <p:extLst>
                  <p:ext uri="{D42A27DB-BD31-4B8C-83A1-F6EECF244321}">
                    <p14:modId xmlns:p14="http://schemas.microsoft.com/office/powerpoint/2010/main" val="577138140"/>
                  </p:ext>
                </p:extLst>
              </p:nvPr>
            </p:nvGraphicFramePr>
            <p:xfrm>
              <a:off x="26757471" y="21794378"/>
              <a:ext cx="2679626" cy="2087880"/>
            </p:xfrm>
            <a:graphic>
              <a:graphicData uri="http://schemas.openxmlformats.org/drawingml/2006/table">
                <a:tbl>
                  <a:tblPr firstRow="1" bandRow="1">
                    <a:tableStyleId>{22838BEF-8BB2-4498-84A7-C5851F593DF1}</a:tableStyleId>
                  </a:tblPr>
                  <a:tblGrid>
                    <a:gridCol w="1339813">
                      <a:extLst>
                        <a:ext uri="{9D8B030D-6E8A-4147-A177-3AD203B41FA5}">
                          <a16:colId xmlns:a16="http://schemas.microsoft.com/office/drawing/2014/main" val="4205682305"/>
                        </a:ext>
                      </a:extLst>
                    </a:gridCol>
                    <a:gridCol w="1339813">
                      <a:extLst>
                        <a:ext uri="{9D8B030D-6E8A-4147-A177-3AD203B41FA5}">
                          <a16:colId xmlns:a16="http://schemas.microsoft.com/office/drawing/2014/main" val="1100121829"/>
                        </a:ext>
                      </a:extLst>
                    </a:gridCol>
                  </a:tblGrid>
                  <a:tr h="206147">
                    <a:tc>
                      <a:txBody>
                        <a:bodyPr/>
                        <a:lstStyle/>
                        <a:p>
                          <a:pPr algn="ctr"/>
                          <a:r>
                            <a:rPr lang="en-US" sz="1700" dirty="0"/>
                            <a:t> </a:t>
                          </a:r>
                          <a14:m>
                            <m:oMath xmlns:m="http://schemas.openxmlformats.org/officeDocument/2006/math">
                              <m:r>
                                <a:rPr lang="en-US" sz="1700" i="1" smtClean="0">
                                  <a:latin typeface="Cambria Math" panose="02040503050406030204" pitchFamily="18" charset="0"/>
                                </a:rPr>
                                <m:t>𝑤</m:t>
                              </m:r>
                              <m:r>
                                <a:rPr lang="en-US" sz="1700" i="1" smtClean="0">
                                  <a:latin typeface="Cambria Math" panose="02040503050406030204" pitchFamily="18" charset="0"/>
                                </a:rPr>
                                <m:t>=</m:t>
                              </m:r>
                              <m:f>
                                <m:fPr>
                                  <m:ctrlPr>
                                    <a:rPr lang="en-US" sz="1700" i="1" smtClean="0">
                                      <a:solidFill>
                                        <a:srgbClr val="836967"/>
                                      </a:solidFill>
                                      <a:latin typeface="Cambria Math" panose="02040503050406030204" pitchFamily="18" charset="0"/>
                                    </a:rPr>
                                  </m:ctrlPr>
                                </m:fPr>
                                <m:num>
                                  <m:r>
                                    <a:rPr lang="en-US" sz="1700" i="1" smtClean="0">
                                      <a:latin typeface="Cambria Math" panose="02040503050406030204" pitchFamily="18" charset="0"/>
                                    </a:rPr>
                                    <m:t>𝜃</m:t>
                                  </m:r>
                                </m:num>
                                <m:den>
                                  <m:r>
                                    <a:rPr lang="en-US" sz="1700" i="1" smtClean="0">
                                      <a:latin typeface="Cambria Math" panose="02040503050406030204" pitchFamily="18" charset="0"/>
                                    </a:rPr>
                                    <m:t>𝑡</m:t>
                                  </m:r>
                                </m:den>
                              </m:f>
                            </m:oMath>
                          </a14:m>
                          <a:endParaRPr lang="en-US" sz="1700" dirty="0">
                            <a:latin typeface="Times New Roman" panose="02020603050405020304" pitchFamily="18" charset="0"/>
                            <a:cs typeface="Times New Roman" panose="02020603050405020304" pitchFamily="18" charset="0"/>
                          </a:endParaRPr>
                        </a:p>
                      </a:txBody>
                      <a:tcPr/>
                    </a:tc>
                    <a:tc>
                      <a:txBody>
                        <a:bodyPr/>
                        <a:lstStyle/>
                        <a:p>
                          <a14:m>
                            <m:oMath xmlns:m="http://schemas.openxmlformats.org/officeDocument/2006/math">
                              <m:r>
                                <a:rPr lang="en-US" sz="1700" i="1" smtClean="0">
                                  <a:latin typeface="Cambria Math" panose="02040503050406030204" pitchFamily="18" charset="0"/>
                                </a:rPr>
                                <m:t>𝜃</m:t>
                              </m:r>
                            </m:oMath>
                          </a14:m>
                          <a:r>
                            <a:rPr lang="en-US" sz="1700" dirty="0">
                              <a:latin typeface="Times New Roman" panose="02020603050405020304" pitchFamily="18" charset="0"/>
                              <a:cs typeface="Times New Roman" panose="02020603050405020304" pitchFamily="18" charset="0"/>
                            </a:rPr>
                            <a:t> =</a:t>
                          </a:r>
                          <a:r>
                            <a:rPr lang="en-US" sz="1700" baseline="0" dirty="0">
                              <a:latin typeface="Times New Roman" panose="02020603050405020304" pitchFamily="18" charset="0"/>
                              <a:cs typeface="Times New Roman" panose="02020603050405020304" pitchFamily="18" charset="0"/>
                            </a:rPr>
                            <a:t> </a:t>
                          </a:r>
                          <a:r>
                            <a:rPr lang="en-US" sz="1700" b="0" baseline="0" dirty="0">
                              <a:latin typeface="Times New Roman" panose="02020603050405020304" pitchFamily="18" charset="0"/>
                              <a:cs typeface="Times New Roman" panose="02020603050405020304" pitchFamily="18" charset="0"/>
                            </a:rPr>
                            <a:t>angle</a:t>
                          </a:r>
                        </a:p>
                        <a:p>
                          <a:pPr/>
                          <a14:m>
                            <m:oMathPara xmlns:m="http://schemas.openxmlformats.org/officeDocument/2006/math">
                              <m:oMathParaPr>
                                <m:jc m:val="left"/>
                              </m:oMathParaPr>
                              <m:oMath xmlns:m="http://schemas.openxmlformats.org/officeDocument/2006/math">
                                <m:r>
                                  <a:rPr lang="en-US" sz="1700" i="1" smtClean="0">
                                    <a:latin typeface="Cambria Math" panose="02040503050406030204" pitchFamily="18" charset="0"/>
                                  </a:rPr>
                                  <m:t>𝑡</m:t>
                                </m:r>
                                <m:r>
                                  <a:rPr lang="en-US" sz="1700" b="1" i="1" smtClean="0">
                                    <a:latin typeface="Cambria Math" panose="02040503050406030204" pitchFamily="18" charset="0"/>
                                  </a:rPr>
                                  <m:t>=</m:t>
                                </m:r>
                                <m:r>
                                  <a:rPr lang="en-US" sz="1700" b="0" i="1" smtClean="0">
                                    <a:latin typeface="Cambria Math" panose="02040503050406030204" pitchFamily="18" charset="0"/>
                                  </a:rPr>
                                  <m:t>𝑡𝑖𝑚𝑒</m:t>
                                </m:r>
                              </m:oMath>
                            </m:oMathPara>
                          </a14:m>
                          <a:endParaRPr lang="en-US" sz="17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01049221"/>
                      </a:ext>
                    </a:extLst>
                  </a:tr>
                  <a:tr h="206147">
                    <a:tc>
                      <a:txBody>
                        <a:bodyPr/>
                        <a:lstStyle/>
                        <a:p>
                          <a:pPr/>
                          <a14:m>
                            <m:oMathPara xmlns:m="http://schemas.openxmlformats.org/officeDocument/2006/math">
                              <m:oMathParaPr>
                                <m:jc m:val="centerGroup"/>
                              </m:oMathParaPr>
                              <m:oMath xmlns:m="http://schemas.openxmlformats.org/officeDocument/2006/math">
                                <m:r>
                                  <a:rPr lang="en-US" sz="1700" i="1" smtClean="0">
                                    <a:latin typeface="Cambria Math" panose="02040503050406030204" pitchFamily="18" charset="0"/>
                                  </a:rPr>
                                  <m:t>𝑤</m:t>
                                </m:r>
                                <m:r>
                                  <a:rPr lang="en-US" sz="1700" i="1" smtClean="0">
                                    <a:latin typeface="Cambria Math" panose="02040503050406030204" pitchFamily="18" charset="0"/>
                                  </a:rPr>
                                  <m:t>=</m:t>
                                </m:r>
                                <m:f>
                                  <m:fPr>
                                    <m:ctrlPr>
                                      <a:rPr lang="en-US" sz="1700" i="1" smtClean="0">
                                        <a:solidFill>
                                          <a:srgbClr val="836967"/>
                                        </a:solidFill>
                                        <a:latin typeface="Cambria Math" panose="02040503050406030204" pitchFamily="18" charset="0"/>
                                      </a:rPr>
                                    </m:ctrlPr>
                                  </m:fPr>
                                  <m:num>
                                    <m:r>
                                      <a:rPr lang="en-US" sz="1700" i="1" smtClean="0">
                                        <a:latin typeface="Cambria Math" panose="02040503050406030204" pitchFamily="18" charset="0"/>
                                      </a:rPr>
                                      <m:t>𝑠</m:t>
                                    </m:r>
                                  </m:num>
                                  <m:den>
                                    <m:r>
                                      <a:rPr lang="en-US" sz="1700" i="1" smtClean="0">
                                        <a:latin typeface="Cambria Math" panose="02040503050406030204" pitchFamily="18" charset="0"/>
                                      </a:rPr>
                                      <m:t>𝑟𝑡</m:t>
                                    </m:r>
                                  </m:den>
                                </m:f>
                              </m:oMath>
                            </m:oMathPara>
                          </a14:m>
                          <a:endParaRPr lang="en-US" sz="1700" dirty="0">
                            <a:latin typeface="Times New Roman" panose="02020603050405020304" pitchFamily="18" charset="0"/>
                            <a:cs typeface="Times New Roman" panose="02020603050405020304" pitchFamily="18" charset="0"/>
                          </a:endParaRPr>
                        </a:p>
                      </a:txBody>
                      <a:tcPr/>
                    </a:tc>
                    <a:tc>
                      <a:txBody>
                        <a:bodyPr/>
                        <a:lstStyle/>
                        <a:p>
                          <a14:m>
                            <m:oMath xmlns:m="http://schemas.openxmlformats.org/officeDocument/2006/math">
                              <m:r>
                                <a:rPr lang="en-US" sz="1700" i="1" smtClean="0">
                                  <a:latin typeface="Cambria Math" panose="02040503050406030204" pitchFamily="18" charset="0"/>
                                </a:rPr>
                                <m:t>𝑠</m:t>
                              </m:r>
                            </m:oMath>
                          </a14:m>
                          <a:r>
                            <a:rPr lang="en-US" sz="1700" dirty="0">
                              <a:latin typeface="Times New Roman" panose="02020603050405020304" pitchFamily="18" charset="0"/>
                              <a:cs typeface="Times New Roman" panose="02020603050405020304" pitchFamily="18" charset="0"/>
                            </a:rPr>
                            <a:t> = arc</a:t>
                          </a:r>
                          <a:r>
                            <a:rPr lang="en-US" sz="1700" baseline="0" dirty="0">
                              <a:latin typeface="Times New Roman" panose="02020603050405020304" pitchFamily="18" charset="0"/>
                              <a:cs typeface="Times New Roman" panose="02020603050405020304" pitchFamily="18" charset="0"/>
                            </a:rPr>
                            <a:t> </a:t>
                          </a:r>
                        </a:p>
                        <a:p>
                          <a14:m>
                            <m:oMath xmlns:m="http://schemas.openxmlformats.org/officeDocument/2006/math">
                              <m:r>
                                <a:rPr lang="en-US" sz="1700" i="1" smtClean="0">
                                  <a:latin typeface="Cambria Math" panose="02040503050406030204" pitchFamily="18" charset="0"/>
                                </a:rPr>
                                <m:t>𝑟</m:t>
                              </m:r>
                            </m:oMath>
                          </a14:m>
                          <a:r>
                            <a:rPr lang="en-US" sz="1700" dirty="0">
                              <a:latin typeface="Times New Roman" panose="02020603050405020304" pitchFamily="18" charset="0"/>
                              <a:cs typeface="Times New Roman" panose="02020603050405020304" pitchFamily="18" charset="0"/>
                            </a:rPr>
                            <a:t> = radius</a:t>
                          </a:r>
                        </a:p>
                        <a:p>
                          <a:pPr/>
                          <a14:m>
                            <m:oMathPara xmlns:m="http://schemas.openxmlformats.org/officeDocument/2006/math">
                              <m:oMathParaPr>
                                <m:jc m:val="left"/>
                              </m:oMathParaPr>
                              <m:oMath xmlns:m="http://schemas.openxmlformats.org/officeDocument/2006/math">
                                <m:r>
                                  <a:rPr lang="en-US" sz="1700" i="1" smtClean="0">
                                    <a:latin typeface="Cambria Math" panose="02040503050406030204" pitchFamily="18" charset="0"/>
                                  </a:rPr>
                                  <m:t>𝑡</m:t>
                                </m:r>
                                <m:r>
                                  <a:rPr lang="en-US" sz="1700" b="1" i="1" smtClean="0">
                                    <a:latin typeface="Cambria Math" panose="02040503050406030204" pitchFamily="18" charset="0"/>
                                  </a:rPr>
                                  <m:t>=</m:t>
                                </m:r>
                                <m:r>
                                  <a:rPr lang="en-US" sz="1700" b="0" i="1" smtClean="0">
                                    <a:latin typeface="Cambria Math" panose="02040503050406030204" pitchFamily="18" charset="0"/>
                                  </a:rPr>
                                  <m:t>𝑡𝑖𝑚𝑒</m:t>
                                </m:r>
                              </m:oMath>
                            </m:oMathPara>
                          </a14:m>
                          <a:endParaRPr lang="en-US" sz="17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34269321"/>
                      </a:ext>
                    </a:extLst>
                  </a:tr>
                  <a:tr h="206147">
                    <a:tc>
                      <a:txBody>
                        <a:bodyPr/>
                        <a:lstStyle/>
                        <a:p>
                          <a:pPr/>
                          <a14:m>
                            <m:oMathPara xmlns:m="http://schemas.openxmlformats.org/officeDocument/2006/math">
                              <m:oMathParaPr>
                                <m:jc m:val="centerGroup"/>
                              </m:oMathParaPr>
                              <m:oMath xmlns:m="http://schemas.openxmlformats.org/officeDocument/2006/math">
                                <m:r>
                                  <a:rPr lang="en-US" sz="1700" i="1" smtClean="0">
                                    <a:latin typeface="Cambria Math" panose="02040503050406030204" pitchFamily="18" charset="0"/>
                                  </a:rPr>
                                  <m:t>𝑤</m:t>
                                </m:r>
                                <m:r>
                                  <a:rPr lang="en-US" sz="1700" i="1" smtClean="0">
                                    <a:latin typeface="Cambria Math" panose="02040503050406030204" pitchFamily="18" charset="0"/>
                                  </a:rPr>
                                  <m:t>=</m:t>
                                </m:r>
                                <m:f>
                                  <m:fPr>
                                    <m:ctrlPr>
                                      <a:rPr lang="en-US" sz="1700" i="1" smtClean="0">
                                        <a:solidFill>
                                          <a:srgbClr val="836967"/>
                                        </a:solidFill>
                                        <a:latin typeface="Cambria Math" panose="02040503050406030204" pitchFamily="18" charset="0"/>
                                      </a:rPr>
                                    </m:ctrlPr>
                                  </m:fPr>
                                  <m:num>
                                    <m:r>
                                      <a:rPr lang="en-US" sz="1700" i="1" smtClean="0">
                                        <a:latin typeface="Cambria Math" panose="02040503050406030204" pitchFamily="18" charset="0"/>
                                      </a:rPr>
                                      <m:t>𝑣</m:t>
                                    </m:r>
                                  </m:num>
                                  <m:den>
                                    <m:r>
                                      <a:rPr lang="en-US" sz="1700" i="1" smtClean="0">
                                        <a:latin typeface="Cambria Math" panose="02040503050406030204" pitchFamily="18" charset="0"/>
                                      </a:rPr>
                                      <m:t>𝑟</m:t>
                                    </m:r>
                                  </m:den>
                                </m:f>
                              </m:oMath>
                            </m:oMathPara>
                          </a14:m>
                          <a:endParaRPr lang="en-US" sz="1700" dirty="0">
                            <a:latin typeface="Times New Roman" panose="02020603050405020304" pitchFamily="18" charset="0"/>
                            <a:cs typeface="Times New Roman" panose="02020603050405020304" pitchFamily="18" charset="0"/>
                          </a:endParaRPr>
                        </a:p>
                      </a:txBody>
                      <a:tcPr/>
                    </a:tc>
                    <a:tc>
                      <a:txBody>
                        <a:bodyPr/>
                        <a:lstStyle/>
                        <a:p>
                          <a14:m>
                            <m:oMath xmlns:m="http://schemas.openxmlformats.org/officeDocument/2006/math">
                              <m:r>
                                <a:rPr lang="en-US" sz="1700" i="1" smtClean="0">
                                  <a:latin typeface="Cambria Math" panose="02040503050406030204" pitchFamily="18" charset="0"/>
                                </a:rPr>
                                <m:t>𝑣</m:t>
                              </m:r>
                            </m:oMath>
                          </a14:m>
                          <a:r>
                            <a:rPr lang="en-US" sz="1700" dirty="0">
                              <a:latin typeface="Times New Roman" panose="02020603050405020304" pitchFamily="18" charset="0"/>
                              <a:cs typeface="Times New Roman" panose="02020603050405020304" pitchFamily="18" charset="0"/>
                            </a:rPr>
                            <a:t> = velocity</a:t>
                          </a:r>
                        </a:p>
                        <a:p>
                          <a:pPr marL="0" marR="0" lvl="0" indent="0" algn="l" defTabSz="3840023"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700" i="1" smtClean="0">
                                  <a:latin typeface="Cambria Math" panose="02040503050406030204" pitchFamily="18" charset="0"/>
                                </a:rPr>
                                <m:t>𝑟</m:t>
                              </m:r>
                            </m:oMath>
                          </a14:m>
                          <a:r>
                            <a:rPr lang="en-US" sz="1700" dirty="0">
                              <a:latin typeface="Times New Roman" panose="02020603050405020304" pitchFamily="18" charset="0"/>
                              <a:cs typeface="Times New Roman" panose="02020603050405020304" pitchFamily="18" charset="0"/>
                            </a:rPr>
                            <a:t> = radius</a:t>
                          </a:r>
                        </a:p>
                      </a:txBody>
                      <a:tcPr/>
                    </a:tc>
                    <a:extLst>
                      <a:ext uri="{0D108BD9-81ED-4DB2-BD59-A6C34878D82A}">
                        <a16:rowId xmlns:a16="http://schemas.microsoft.com/office/drawing/2014/main" val="3175289181"/>
                      </a:ext>
                    </a:extLst>
                  </a:tr>
                </a:tbl>
              </a:graphicData>
            </a:graphic>
          </p:graphicFrame>
        </mc:Choice>
        <mc:Fallback xmlns="">
          <p:graphicFrame>
            <p:nvGraphicFramePr>
              <p:cNvPr id="473" name="Table 472">
                <a:extLst>
                  <a:ext uri="{FF2B5EF4-FFF2-40B4-BE49-F238E27FC236}">
                    <a16:creationId xmlns:a16="http://schemas.microsoft.com/office/drawing/2014/main" id="{FFECA6CE-E56E-5ADF-6038-05D8E866CBC2}"/>
                  </a:ext>
                </a:extLst>
              </p:cNvPr>
              <p:cNvGraphicFramePr>
                <a:graphicFrameLocks noGrp="1"/>
              </p:cNvGraphicFramePr>
              <p:nvPr>
                <p:extLst>
                  <p:ext uri="{D42A27DB-BD31-4B8C-83A1-F6EECF244321}">
                    <p14:modId xmlns:p14="http://schemas.microsoft.com/office/powerpoint/2010/main" val="577138140"/>
                  </p:ext>
                </p:extLst>
              </p:nvPr>
            </p:nvGraphicFramePr>
            <p:xfrm>
              <a:off x="26757471" y="21794378"/>
              <a:ext cx="2679626" cy="2087880"/>
            </p:xfrm>
            <a:graphic>
              <a:graphicData uri="http://schemas.openxmlformats.org/drawingml/2006/table">
                <a:tbl>
                  <a:tblPr firstRow="1" bandRow="1">
                    <a:tableStyleId>{22838BEF-8BB2-4498-84A7-C5851F593DF1}</a:tableStyleId>
                  </a:tblPr>
                  <a:tblGrid>
                    <a:gridCol w="1339813">
                      <a:extLst>
                        <a:ext uri="{9D8B030D-6E8A-4147-A177-3AD203B41FA5}">
                          <a16:colId xmlns:a16="http://schemas.microsoft.com/office/drawing/2014/main" val="4205682305"/>
                        </a:ext>
                      </a:extLst>
                    </a:gridCol>
                    <a:gridCol w="1339813">
                      <a:extLst>
                        <a:ext uri="{9D8B030D-6E8A-4147-A177-3AD203B41FA5}">
                          <a16:colId xmlns:a16="http://schemas.microsoft.com/office/drawing/2014/main" val="1100121829"/>
                        </a:ext>
                      </a:extLst>
                    </a:gridCol>
                  </a:tblGrid>
                  <a:tr h="609600">
                    <a:tc>
                      <a:txBody>
                        <a:bodyPr/>
                        <a:lstStyle/>
                        <a:p>
                          <a:endParaRPr lang="en-US"/>
                        </a:p>
                      </a:txBody>
                      <a:tcPr>
                        <a:blipFill>
                          <a:blip r:embed="rId66"/>
                          <a:stretch>
                            <a:fillRect l="-455" t="-2000" r="-101364" b="-258000"/>
                          </a:stretch>
                        </a:blipFill>
                      </a:tcPr>
                    </a:tc>
                    <a:tc>
                      <a:txBody>
                        <a:bodyPr/>
                        <a:lstStyle/>
                        <a:p>
                          <a:endParaRPr lang="en-US"/>
                        </a:p>
                      </a:txBody>
                      <a:tcPr>
                        <a:blipFill>
                          <a:blip r:embed="rId66"/>
                          <a:stretch>
                            <a:fillRect l="-100455" t="-2000" r="-1364" b="-258000"/>
                          </a:stretch>
                        </a:blipFill>
                      </a:tcPr>
                    </a:tc>
                    <a:extLst>
                      <a:ext uri="{0D108BD9-81ED-4DB2-BD59-A6C34878D82A}">
                        <a16:rowId xmlns:a16="http://schemas.microsoft.com/office/drawing/2014/main" val="1801049221"/>
                      </a:ext>
                    </a:extLst>
                  </a:tr>
                  <a:tr h="868680">
                    <a:tc>
                      <a:txBody>
                        <a:bodyPr/>
                        <a:lstStyle/>
                        <a:p>
                          <a:endParaRPr lang="en-US"/>
                        </a:p>
                      </a:txBody>
                      <a:tcPr>
                        <a:blipFill>
                          <a:blip r:embed="rId66"/>
                          <a:stretch>
                            <a:fillRect l="-455" t="-71329" r="-101364" b="-80420"/>
                          </a:stretch>
                        </a:blipFill>
                      </a:tcPr>
                    </a:tc>
                    <a:tc>
                      <a:txBody>
                        <a:bodyPr/>
                        <a:lstStyle/>
                        <a:p>
                          <a:endParaRPr lang="en-US"/>
                        </a:p>
                      </a:txBody>
                      <a:tcPr>
                        <a:blipFill>
                          <a:blip r:embed="rId66"/>
                          <a:stretch>
                            <a:fillRect l="-100455" t="-71329" r="-1364" b="-80420"/>
                          </a:stretch>
                        </a:blipFill>
                      </a:tcPr>
                    </a:tc>
                    <a:extLst>
                      <a:ext uri="{0D108BD9-81ED-4DB2-BD59-A6C34878D82A}">
                        <a16:rowId xmlns:a16="http://schemas.microsoft.com/office/drawing/2014/main" val="1734269321"/>
                      </a:ext>
                    </a:extLst>
                  </a:tr>
                  <a:tr h="609600">
                    <a:tc>
                      <a:txBody>
                        <a:bodyPr/>
                        <a:lstStyle/>
                        <a:p>
                          <a:endParaRPr lang="en-US"/>
                        </a:p>
                      </a:txBody>
                      <a:tcPr>
                        <a:blipFill>
                          <a:blip r:embed="rId66"/>
                          <a:stretch>
                            <a:fillRect l="-455" t="-245000" r="-101364" b="-15000"/>
                          </a:stretch>
                        </a:blipFill>
                      </a:tcPr>
                    </a:tc>
                    <a:tc>
                      <a:txBody>
                        <a:bodyPr/>
                        <a:lstStyle/>
                        <a:p>
                          <a:endParaRPr lang="en-US"/>
                        </a:p>
                      </a:txBody>
                      <a:tcPr>
                        <a:blipFill>
                          <a:blip r:embed="rId66"/>
                          <a:stretch>
                            <a:fillRect l="-100455" t="-245000" r="-1364" b="-15000"/>
                          </a:stretch>
                        </a:blipFill>
                      </a:tcPr>
                    </a:tc>
                    <a:extLst>
                      <a:ext uri="{0D108BD9-81ED-4DB2-BD59-A6C34878D82A}">
                        <a16:rowId xmlns:a16="http://schemas.microsoft.com/office/drawing/2014/main" val="3175289181"/>
                      </a:ext>
                    </a:extLst>
                  </a:tr>
                </a:tbl>
              </a:graphicData>
            </a:graphic>
          </p:graphicFrame>
        </mc:Fallback>
      </mc:AlternateContent>
      <p:sp>
        <p:nvSpPr>
          <p:cNvPr id="483" name="TextBox 482">
            <a:extLst>
              <a:ext uri="{FF2B5EF4-FFF2-40B4-BE49-F238E27FC236}">
                <a16:creationId xmlns:a16="http://schemas.microsoft.com/office/drawing/2014/main" id="{562F90F0-0D9E-BE64-07AE-4A102F956CF3}"/>
              </a:ext>
            </a:extLst>
          </p:cNvPr>
          <p:cNvSpPr txBox="1"/>
          <p:nvPr/>
        </p:nvSpPr>
        <p:spPr>
          <a:xfrm>
            <a:off x="26851878" y="21453462"/>
            <a:ext cx="2614114" cy="353943"/>
          </a:xfrm>
          <a:prstGeom prst="rect">
            <a:avLst/>
          </a:prstGeom>
          <a:noFill/>
        </p:spPr>
        <p:txBody>
          <a:bodyPr wrap="none" rtlCol="0">
            <a:spAutoFit/>
          </a:bodyPr>
          <a:lstStyle/>
          <a:p>
            <a:r>
              <a:rPr lang="en-US" sz="1700" b="1" dirty="0">
                <a:latin typeface="Times New Roman" panose="02020603050405020304" pitchFamily="18" charset="0"/>
                <a:cs typeface="Times New Roman" panose="02020603050405020304" pitchFamily="18" charset="0"/>
              </a:rPr>
              <a:t>Angular velocity formulas</a:t>
            </a:r>
          </a:p>
        </p:txBody>
      </p:sp>
      <p:sp>
        <p:nvSpPr>
          <p:cNvPr id="485" name="Rectangle: Diagonal Corners Snipped 484">
            <a:extLst>
              <a:ext uri="{FF2B5EF4-FFF2-40B4-BE49-F238E27FC236}">
                <a16:creationId xmlns:a16="http://schemas.microsoft.com/office/drawing/2014/main" id="{6BD92C43-B314-218A-65B4-DE6068F2AE03}"/>
              </a:ext>
            </a:extLst>
          </p:cNvPr>
          <p:cNvSpPr/>
          <p:nvPr/>
        </p:nvSpPr>
        <p:spPr>
          <a:xfrm>
            <a:off x="28681524" y="21280269"/>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Fig-15</a:t>
            </a:r>
          </a:p>
        </p:txBody>
      </p:sp>
      <p:pic>
        <p:nvPicPr>
          <p:cNvPr id="499" name="Picture 498">
            <a:extLst>
              <a:ext uri="{FF2B5EF4-FFF2-40B4-BE49-F238E27FC236}">
                <a16:creationId xmlns:a16="http://schemas.microsoft.com/office/drawing/2014/main" id="{B8FC87C2-29BF-BD8F-CF14-EC9F44AB7DD1}"/>
              </a:ext>
            </a:extLst>
          </p:cNvPr>
          <p:cNvPicPr>
            <a:picLocks noChangeAspect="1"/>
          </p:cNvPicPr>
          <p:nvPr/>
        </p:nvPicPr>
        <p:blipFill>
          <a:blip r:embed="rId67">
            <a:extLst>
              <a:ext uri="{28A0092B-C50C-407E-A947-70E740481C1C}">
                <a14:useLocalDpi xmlns:a14="http://schemas.microsoft.com/office/drawing/2010/main" val="0"/>
              </a:ext>
            </a:extLst>
          </a:blip>
          <a:stretch>
            <a:fillRect/>
          </a:stretch>
        </p:blipFill>
        <p:spPr>
          <a:xfrm>
            <a:off x="25549618" y="12629971"/>
            <a:ext cx="3769743" cy="1795591"/>
          </a:xfrm>
          <a:prstGeom prst="rect">
            <a:avLst/>
          </a:prstGeom>
        </p:spPr>
      </p:pic>
      <p:sp>
        <p:nvSpPr>
          <p:cNvPr id="500" name="Rectangle: Diagonal Corners Snipped 499">
            <a:extLst>
              <a:ext uri="{FF2B5EF4-FFF2-40B4-BE49-F238E27FC236}">
                <a16:creationId xmlns:a16="http://schemas.microsoft.com/office/drawing/2014/main" id="{BDE0C3D7-89B0-8A52-875E-D07A2D7E158C}"/>
              </a:ext>
            </a:extLst>
          </p:cNvPr>
          <p:cNvSpPr/>
          <p:nvPr/>
        </p:nvSpPr>
        <p:spPr>
          <a:xfrm>
            <a:off x="28660093" y="11102573"/>
            <a:ext cx="755573"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Fig-9</a:t>
            </a:r>
          </a:p>
        </p:txBody>
      </p:sp>
      <p:sp>
        <p:nvSpPr>
          <p:cNvPr id="41" name="TextBox 40">
            <a:extLst>
              <a:ext uri="{FF2B5EF4-FFF2-40B4-BE49-F238E27FC236}">
                <a16:creationId xmlns:a16="http://schemas.microsoft.com/office/drawing/2014/main" id="{8AEFAB12-B957-946B-E277-ABE643F5408D}"/>
              </a:ext>
            </a:extLst>
          </p:cNvPr>
          <p:cNvSpPr txBox="1"/>
          <p:nvPr/>
        </p:nvSpPr>
        <p:spPr>
          <a:xfrm rot="16200000">
            <a:off x="19469674" y="17727671"/>
            <a:ext cx="713657" cy="307777"/>
          </a:xfrm>
          <a:prstGeom prst="rect">
            <a:avLst/>
          </a:prstGeom>
          <a:noFill/>
        </p:spPr>
        <p:txBody>
          <a:bodyPr wrap="none" rtlCol="0">
            <a:spAutoFit/>
          </a:bodyPr>
          <a:lstStyle/>
          <a:p>
            <a:r>
              <a:rPr lang="en-US" sz="1400" dirty="0">
                <a:solidFill>
                  <a:srgbClr val="00ADB5"/>
                </a:solidFill>
                <a:latin typeface="Verdana" panose="020B0604030504040204" pitchFamily="34" charset="0"/>
                <a:ea typeface="Verdana" panose="020B0604030504040204" pitchFamily="34" charset="0"/>
              </a:rPr>
              <a:t>Cite 3</a:t>
            </a:r>
          </a:p>
        </p:txBody>
      </p:sp>
      <mc:AlternateContent xmlns:mc="http://schemas.openxmlformats.org/markup-compatibility/2006" xmlns:a14="http://schemas.microsoft.com/office/drawing/2010/main">
        <mc:Choice Requires="a14">
          <p:sp>
            <p:nvSpPr>
              <p:cNvPr id="477" name="Rectangle: Rounded Corners 476">
                <a:extLst>
                  <a:ext uri="{FF2B5EF4-FFF2-40B4-BE49-F238E27FC236}">
                    <a16:creationId xmlns:a16="http://schemas.microsoft.com/office/drawing/2014/main" id="{4BE895CC-C426-DB35-49EB-60B1E0245741}"/>
                  </a:ext>
                </a:extLst>
              </p:cNvPr>
              <p:cNvSpPr/>
              <p:nvPr/>
            </p:nvSpPr>
            <p:spPr>
              <a:xfrm>
                <a:off x="21685212" y="22639542"/>
                <a:ext cx="5014170" cy="1068186"/>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0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y</m:t>
                      </m:r>
                      <m:r>
                        <m:rPr>
                          <m:nor/>
                        </m:rPr>
                        <a:rPr lang="en-US" sz="20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 </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latin typeface="Cambria Math" panose="02040503050406030204" pitchFamily="18" charset="0"/>
                        </a:rPr>
                        <m:t>𝒎𝒙</m:t>
                      </m:r>
                      <m:r>
                        <a:rPr lang="en-US" sz="2000" b="1" i="1">
                          <a:solidFill>
                            <a:srgbClr val="000000"/>
                          </a:solidFill>
                          <a:latin typeface="Cambria Math" panose="02040503050406030204" pitchFamily="18" charset="0"/>
                        </a:rPr>
                        <m:t>+</m:t>
                      </m:r>
                      <m:r>
                        <a:rPr lang="en-US" sz="2000" b="1" i="1">
                          <a:solidFill>
                            <a:srgbClr val="000000"/>
                          </a:solidFill>
                          <a:latin typeface="Cambria Math" panose="02040503050406030204" pitchFamily="18" charset="0"/>
                        </a:rPr>
                        <m:t>𝒃</m:t>
                      </m:r>
                    </m:oMath>
                  </m:oMathPara>
                </a14:m>
                <a:endParaRPr lang="en-US" sz="2000" b="1" i="1" dirty="0">
                  <a:solidFill>
                    <a:srgbClr val="000000"/>
                  </a:solidFill>
                  <a:latin typeface="Cambria Math" panose="02040503050406030204" pitchFamily="18" charset="0"/>
                </a:endParaRPr>
              </a:p>
              <a:p>
                <a:pPr algn="ctr"/>
                <a:endParaRPr lang="en-US" sz="2000" b="1" i="1" dirty="0">
                  <a:solidFill>
                    <a:srgbClr val="000000"/>
                  </a:solidFill>
                  <a:latin typeface="Cambria Math" panose="02040503050406030204" pitchFamily="18" charset="0"/>
                </a:endParaRPr>
              </a:p>
              <a:p>
                <a:pPr algn="ctr"/>
                <a14:m>
                  <m:oMath xmlns:m="http://schemas.openxmlformats.org/officeDocument/2006/math">
                    <m:r>
                      <a:rPr lang="en-US" sz="2000" b="1"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𝒎</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𝒏</m:t>
                        </m:r>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𝒙𝒚</m:t>
                            </m:r>
                          </m:e>
                        </m:nary>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m:t>
                            </m:r>
                          </m:e>
                        </m:nary>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𝒚</m:t>
                            </m:r>
                          </m:e>
                        </m:nary>
                      </m:num>
                      <m:den>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𝒏</m:t>
                        </m:r>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m:t>
                                </m:r>
                              </m:e>
                              <m:sup>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𝟐</m:t>
                                </m:r>
                              </m:sup>
                            </m:sSup>
                          </m:e>
                        </m:nary>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m:t>
                                    </m:r>
                                  </m:e>
                                </m:nary>
                              </m:e>
                            </m:d>
                          </m:e>
                          <m:sup>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𝟐</m:t>
                            </m:r>
                          </m:sup>
                        </m:sSup>
                      </m:den>
                    </m:f>
                  </m:oMath>
                </a14:m>
                <a:r>
                  <a:rPr lang="en-US" sz="20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2000" b="1"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𝒃</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𝒏</m:t>
                        </m:r>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𝒚</m:t>
                            </m:r>
                          </m:e>
                        </m:nary>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𝒎</m:t>
                        </m:r>
                        <m:nary>
                          <m:naryPr>
                            <m:chr m:val="∑"/>
                            <m:grow m:val="on"/>
                            <m:subHide m:val="on"/>
                            <m:supHide m:val="on"/>
                            <m:ctrlP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𝒙</m:t>
                            </m:r>
                          </m:e>
                        </m:nary>
                      </m:num>
                      <m:den>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𝒏</m:t>
                        </m:r>
                      </m:den>
                    </m:f>
                  </m:oMath>
                </a14:m>
                <a:endParaRPr lang="en-US" sz="20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477" name="Rectangle: Rounded Corners 476">
                <a:extLst>
                  <a:ext uri="{FF2B5EF4-FFF2-40B4-BE49-F238E27FC236}">
                    <a16:creationId xmlns:a16="http://schemas.microsoft.com/office/drawing/2014/main" id="{4BE895CC-C426-DB35-49EB-60B1E0245741}"/>
                  </a:ext>
                </a:extLst>
              </p:cNvPr>
              <p:cNvSpPr>
                <a:spLocks noRot="1" noChangeAspect="1" noMove="1" noResize="1" noEditPoints="1" noAdjustHandles="1" noChangeArrowheads="1" noChangeShapeType="1" noTextEdit="1"/>
              </p:cNvSpPr>
              <p:nvPr/>
            </p:nvSpPr>
            <p:spPr>
              <a:xfrm>
                <a:off x="21685212" y="22639542"/>
                <a:ext cx="5014170" cy="1068186"/>
              </a:xfrm>
              <a:prstGeom prst="roundRect">
                <a:avLst/>
              </a:prstGeom>
              <a:blipFill>
                <a:blip r:embed="rId68"/>
                <a:stretch>
                  <a:fillRect t="-1130" b="-565"/>
                </a:stretch>
              </a:blipFill>
              <a:ln>
                <a:solidFill>
                  <a:srgbClr val="394867"/>
                </a:solidFill>
              </a:ln>
            </p:spPr>
            <p:txBody>
              <a:bodyPr/>
              <a:lstStyle/>
              <a:p>
                <a:r>
                  <a:rPr lang="en-US">
                    <a:noFill/>
                  </a:rPr>
                  <a:t> </a:t>
                </a:r>
              </a:p>
            </p:txBody>
          </p:sp>
        </mc:Fallback>
      </mc:AlternateContent>
      <p:sp>
        <p:nvSpPr>
          <p:cNvPr id="497" name="Rectangle: Diagonal Corners Snipped 496">
            <a:extLst>
              <a:ext uri="{FF2B5EF4-FFF2-40B4-BE49-F238E27FC236}">
                <a16:creationId xmlns:a16="http://schemas.microsoft.com/office/drawing/2014/main" id="{30E2DD1F-51FD-85AE-B093-30BC5049F96B}"/>
              </a:ext>
            </a:extLst>
          </p:cNvPr>
          <p:cNvSpPr/>
          <p:nvPr/>
        </p:nvSpPr>
        <p:spPr>
          <a:xfrm>
            <a:off x="25943808" y="22639430"/>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Fig-16</a:t>
            </a:r>
          </a:p>
        </p:txBody>
      </p:sp>
      <p:sp>
        <p:nvSpPr>
          <p:cNvPr id="501" name="Left Brace 500">
            <a:extLst>
              <a:ext uri="{FF2B5EF4-FFF2-40B4-BE49-F238E27FC236}">
                <a16:creationId xmlns:a16="http://schemas.microsoft.com/office/drawing/2014/main" id="{B31A94BC-9770-B4FE-5316-C5560611EF33}"/>
              </a:ext>
            </a:extLst>
          </p:cNvPr>
          <p:cNvSpPr/>
          <p:nvPr/>
        </p:nvSpPr>
        <p:spPr>
          <a:xfrm>
            <a:off x="19914521" y="17134259"/>
            <a:ext cx="173959" cy="3102471"/>
          </a:xfrm>
          <a:prstGeom prst="leftBrace">
            <a:avLst/>
          </a:prstGeom>
          <a:ln>
            <a:no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502" name="Left Brace 501">
            <a:extLst>
              <a:ext uri="{FF2B5EF4-FFF2-40B4-BE49-F238E27FC236}">
                <a16:creationId xmlns:a16="http://schemas.microsoft.com/office/drawing/2014/main" id="{2FDE13CB-41CE-0918-F8D3-1965759DE756}"/>
              </a:ext>
            </a:extLst>
          </p:cNvPr>
          <p:cNvSpPr/>
          <p:nvPr/>
        </p:nvSpPr>
        <p:spPr>
          <a:xfrm>
            <a:off x="19923324" y="16016711"/>
            <a:ext cx="203608" cy="3729695"/>
          </a:xfrm>
          <a:prstGeom prst="leftBrace">
            <a:avLst>
              <a:gd name="adj1" fmla="val 49896"/>
              <a:gd name="adj2" fmla="val 50000"/>
            </a:avLst>
          </a:prstGeom>
          <a:ln w="38100">
            <a:solidFill>
              <a:srgbClr val="00B05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pic>
        <p:nvPicPr>
          <p:cNvPr id="514" name="Picture 513">
            <a:extLst>
              <a:ext uri="{FF2B5EF4-FFF2-40B4-BE49-F238E27FC236}">
                <a16:creationId xmlns:a16="http://schemas.microsoft.com/office/drawing/2014/main" id="{6FA76724-7CEA-5947-5BA6-E0976FA6F92E}"/>
              </a:ext>
            </a:extLst>
          </p:cNvPr>
          <p:cNvPicPr>
            <a:picLocks noChangeAspect="1"/>
          </p:cNvPicPr>
          <p:nvPr/>
        </p:nvPicPr>
        <p:blipFill>
          <a:blip r:embed="rId69"/>
          <a:stretch>
            <a:fillRect/>
          </a:stretch>
        </p:blipFill>
        <p:spPr>
          <a:xfrm>
            <a:off x="25033606" y="23962380"/>
            <a:ext cx="4403493" cy="2363467"/>
          </a:xfrm>
          <a:prstGeom prst="rect">
            <a:avLst/>
          </a:prstGeom>
        </p:spPr>
      </p:pic>
      <mc:AlternateContent xmlns:mc="http://schemas.openxmlformats.org/markup-compatibility/2006" xmlns:a14="http://schemas.microsoft.com/office/drawing/2010/main">
        <mc:Choice Requires="a14">
          <p:graphicFrame>
            <p:nvGraphicFramePr>
              <p:cNvPr id="515" name="Table 514">
                <a:extLst>
                  <a:ext uri="{FF2B5EF4-FFF2-40B4-BE49-F238E27FC236}">
                    <a16:creationId xmlns:a16="http://schemas.microsoft.com/office/drawing/2014/main" id="{521A9FBD-4182-4045-3ED2-BF5F01C34239}"/>
                  </a:ext>
                </a:extLst>
              </p:cNvPr>
              <p:cNvGraphicFramePr>
                <a:graphicFrameLocks noGrp="1"/>
              </p:cNvGraphicFramePr>
              <p:nvPr>
                <p:extLst>
                  <p:ext uri="{D42A27DB-BD31-4B8C-83A1-F6EECF244321}">
                    <p14:modId xmlns:p14="http://schemas.microsoft.com/office/powerpoint/2010/main" val="3726956351"/>
                  </p:ext>
                </p:extLst>
              </p:nvPr>
            </p:nvGraphicFramePr>
            <p:xfrm>
              <a:off x="20088480" y="24341500"/>
              <a:ext cx="4688760" cy="701040"/>
            </p:xfrm>
            <a:graphic>
              <a:graphicData uri="http://schemas.openxmlformats.org/drawingml/2006/table">
                <a:tbl>
                  <a:tblPr firstRow="1" bandRow="1">
                    <a:tableStyleId>{22838BEF-8BB2-4498-84A7-C5851F593DF1}</a:tableStyleId>
                  </a:tblPr>
                  <a:tblGrid>
                    <a:gridCol w="2344380">
                      <a:extLst>
                        <a:ext uri="{9D8B030D-6E8A-4147-A177-3AD203B41FA5}">
                          <a16:colId xmlns:a16="http://schemas.microsoft.com/office/drawing/2014/main" val="4205682305"/>
                        </a:ext>
                      </a:extLst>
                    </a:gridCol>
                    <a:gridCol w="2344380">
                      <a:extLst>
                        <a:ext uri="{9D8B030D-6E8A-4147-A177-3AD203B41FA5}">
                          <a16:colId xmlns:a16="http://schemas.microsoft.com/office/drawing/2014/main" val="1100121829"/>
                        </a:ext>
                      </a:extLst>
                    </a:gridCol>
                  </a:tblGrid>
                  <a:tr h="335862">
                    <a:tc>
                      <a:txBody>
                        <a:bodyPr/>
                        <a:lstStyle/>
                        <a:p>
                          <a:pPr algn="ctr"/>
                          <a14:m>
                            <m:oMathPara xmlns:m="http://schemas.openxmlformats.org/officeDocument/2006/math">
                              <m:oMathParaPr>
                                <m:jc m:val="centerGroup"/>
                              </m:oMathParaPr>
                              <m:oMath xmlns:m="http://schemas.openxmlformats.org/officeDocument/2006/math">
                                <m:r>
                                  <a:rPr lang="en-US" sz="1700" b="1" i="1" smtClean="0">
                                    <a:latin typeface="Cambria Math" panose="02040503050406030204" pitchFamily="18" charset="0"/>
                                  </a:rPr>
                                  <m:t>𝒎</m:t>
                                </m:r>
                                <m:r>
                                  <a:rPr lang="en-US" sz="1700" b="1" i="1" smtClean="0">
                                    <a:latin typeface="Cambria Math" panose="02040503050406030204" pitchFamily="18" charset="0"/>
                                  </a:rPr>
                                  <m:t> (</m:t>
                                </m:r>
                                <m:r>
                                  <a:rPr lang="en-US" sz="1700" b="1" i="1" smtClean="0">
                                    <a:latin typeface="Cambria Math" panose="02040503050406030204" pitchFamily="18" charset="0"/>
                                  </a:rPr>
                                  <m:t>𝒔𝒍𝒐𝒑𝒆</m:t>
                                </m:r>
                                <m:r>
                                  <a:rPr lang="en-US" sz="1700" b="1" i="1" smtClean="0">
                                    <a:latin typeface="Cambria Math" panose="02040503050406030204" pitchFamily="18" charset="0"/>
                                  </a:rPr>
                                  <m:t>)</m:t>
                                </m:r>
                              </m:oMath>
                            </m:oMathPara>
                          </a14:m>
                          <a:endParaRPr lang="en-US" sz="170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700" b="0" i="1" kern="1200" dirty="0" smtClean="0">
                                    <a:solidFill>
                                      <a:schemeClr val="dk1"/>
                                    </a:solidFill>
                                    <a:effectLst/>
                                    <a:latin typeface="Cambria Math" panose="02040503050406030204" pitchFamily="18" charset="0"/>
                                    <a:ea typeface="+mn-ea"/>
                                    <a:cs typeface="+mn-cs"/>
                                  </a:rPr>
                                  <m:t>0.07299 ± 0.003471</m:t>
                                </m:r>
                              </m:oMath>
                            </m:oMathPara>
                          </a14:m>
                          <a:endParaRPr lang="en-US" sz="17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01049221"/>
                      </a:ext>
                    </a:extLst>
                  </a:tr>
                  <a:tr h="335862">
                    <a:tc>
                      <a:txBody>
                        <a:bodyPr/>
                        <a:lstStyle/>
                        <a:p>
                          <a14:m>
                            <m:oMath xmlns:m="http://schemas.openxmlformats.org/officeDocument/2006/math">
                              <m:r>
                                <a:rPr lang="en-US" sz="1700" b="1" i="1" dirty="0" smtClean="0">
                                  <a:solidFill>
                                    <a:srgbClr val="222831"/>
                                  </a:solidFill>
                                  <a:latin typeface="Cambria Math" panose="02040503050406030204" pitchFamily="18" charset="0"/>
                                  <a:cs typeface="Times New Roman" panose="02020603050405020304" pitchFamily="18" charset="0"/>
                                </a:rPr>
                                <m:t>𝒃</m:t>
                              </m:r>
                              <m:r>
                                <a:rPr lang="en-US" sz="1700" b="1" i="1" dirty="0" smtClean="0">
                                  <a:solidFill>
                                    <a:srgbClr val="222831"/>
                                  </a:solidFill>
                                  <a:latin typeface="Cambria Math" panose="02040503050406030204" pitchFamily="18" charset="0"/>
                                  <a:cs typeface="Times New Roman" panose="02020603050405020304" pitchFamily="18" charset="0"/>
                                </a:rPr>
                                <m:t> (</m:t>
                              </m:r>
                              <m:r>
                                <a:rPr lang="en-US" sz="1700" b="1" i="1" dirty="0" smtClean="0">
                                  <a:solidFill>
                                    <a:srgbClr val="222831"/>
                                  </a:solidFill>
                                  <a:latin typeface="Cambria Math" panose="02040503050406030204" pitchFamily="18" charset="0"/>
                                  <a:cs typeface="Times New Roman" panose="02020603050405020304" pitchFamily="18" charset="0"/>
                                </a:rPr>
                                <m:t>𝒚</m:t>
                              </m:r>
                              <m:r>
                                <a:rPr lang="en-US" sz="1700" b="1" i="1" dirty="0" smtClean="0">
                                  <a:solidFill>
                                    <a:srgbClr val="222831"/>
                                  </a:solidFill>
                                  <a:latin typeface="Cambria Math" panose="02040503050406030204" pitchFamily="18" charset="0"/>
                                  <a:cs typeface="Times New Roman" panose="02020603050405020304" pitchFamily="18" charset="0"/>
                                </a:rPr>
                                <m:t>−</m:t>
                              </m:r>
                              <m:r>
                                <a:rPr lang="en-US" sz="1700" b="1" i="1" dirty="0" smtClean="0">
                                  <a:solidFill>
                                    <a:srgbClr val="222831"/>
                                  </a:solidFill>
                                  <a:latin typeface="Cambria Math" panose="02040503050406030204" pitchFamily="18" charset="0"/>
                                  <a:cs typeface="Times New Roman" panose="02020603050405020304" pitchFamily="18" charset="0"/>
                                </a:rPr>
                                <m:t>𝒊𝒏𝒕𝒆𝒓𝒄𝒆𝒑𝒕𝒊𝒐𝒏</m:t>
                              </m:r>
                            </m:oMath>
                          </a14:m>
                          <a:r>
                            <a:rPr lang="en-US" sz="1700" b="1" i="1" dirty="0">
                              <a:latin typeface="Times New Roman" panose="02020603050405020304" pitchFamily="18" charset="0"/>
                              <a:cs typeface="Times New Roman" panose="02020603050405020304" pitchFamily="18" charset="0"/>
                            </a:rPr>
                            <a:t>)</a:t>
                          </a:r>
                        </a:p>
                      </a:txBody>
                      <a:tcPr/>
                    </a:tc>
                    <a:tc>
                      <a:txBody>
                        <a:bodyPr/>
                        <a:lstStyle/>
                        <a:p>
                          <a:pPr algn="ctr"/>
                          <a:r>
                            <a:rPr lang="en-US" sz="1700" b="0" i="0" kern="1200" dirty="0">
                              <a:solidFill>
                                <a:schemeClr val="dk1"/>
                              </a:solidFill>
                              <a:effectLst/>
                              <a:latin typeface="Cambria Math" panose="02040503050406030204" pitchFamily="18" charset="0"/>
                              <a:ea typeface="+mn-ea"/>
                              <a:cs typeface="+mn-cs"/>
                            </a:rPr>
                            <a:t>0.09697 ± 0.02029</a:t>
                          </a:r>
                        </a:p>
                      </a:txBody>
                      <a:tcPr/>
                    </a:tc>
                    <a:extLst>
                      <a:ext uri="{0D108BD9-81ED-4DB2-BD59-A6C34878D82A}">
                        <a16:rowId xmlns:a16="http://schemas.microsoft.com/office/drawing/2014/main" val="1734269321"/>
                      </a:ext>
                    </a:extLst>
                  </a:tr>
                </a:tbl>
              </a:graphicData>
            </a:graphic>
          </p:graphicFrame>
        </mc:Choice>
        <mc:Fallback xmlns="">
          <p:graphicFrame>
            <p:nvGraphicFramePr>
              <p:cNvPr id="515" name="Table 514">
                <a:extLst>
                  <a:ext uri="{FF2B5EF4-FFF2-40B4-BE49-F238E27FC236}">
                    <a16:creationId xmlns:a16="http://schemas.microsoft.com/office/drawing/2014/main" id="{521A9FBD-4182-4045-3ED2-BF5F01C34239}"/>
                  </a:ext>
                </a:extLst>
              </p:cNvPr>
              <p:cNvGraphicFramePr>
                <a:graphicFrameLocks noGrp="1"/>
              </p:cNvGraphicFramePr>
              <p:nvPr>
                <p:extLst>
                  <p:ext uri="{D42A27DB-BD31-4B8C-83A1-F6EECF244321}">
                    <p14:modId xmlns:p14="http://schemas.microsoft.com/office/powerpoint/2010/main" val="3726956351"/>
                  </p:ext>
                </p:extLst>
              </p:nvPr>
            </p:nvGraphicFramePr>
            <p:xfrm>
              <a:off x="20088480" y="24341500"/>
              <a:ext cx="4688760" cy="701040"/>
            </p:xfrm>
            <a:graphic>
              <a:graphicData uri="http://schemas.openxmlformats.org/drawingml/2006/table">
                <a:tbl>
                  <a:tblPr firstRow="1" bandRow="1">
                    <a:tableStyleId>{22838BEF-8BB2-4498-84A7-C5851F593DF1}</a:tableStyleId>
                  </a:tblPr>
                  <a:tblGrid>
                    <a:gridCol w="2344380">
                      <a:extLst>
                        <a:ext uri="{9D8B030D-6E8A-4147-A177-3AD203B41FA5}">
                          <a16:colId xmlns:a16="http://schemas.microsoft.com/office/drawing/2014/main" val="4205682305"/>
                        </a:ext>
                      </a:extLst>
                    </a:gridCol>
                    <a:gridCol w="2344380">
                      <a:extLst>
                        <a:ext uri="{9D8B030D-6E8A-4147-A177-3AD203B41FA5}">
                          <a16:colId xmlns:a16="http://schemas.microsoft.com/office/drawing/2014/main" val="1100121829"/>
                        </a:ext>
                      </a:extLst>
                    </a:gridCol>
                  </a:tblGrid>
                  <a:tr h="350520">
                    <a:tc>
                      <a:txBody>
                        <a:bodyPr/>
                        <a:lstStyle/>
                        <a:p>
                          <a:endParaRPr lang="en-US"/>
                        </a:p>
                      </a:txBody>
                      <a:tcPr>
                        <a:blipFill>
                          <a:blip r:embed="rId70"/>
                          <a:stretch>
                            <a:fillRect l="-260" t="-3448" r="-100519" b="-124138"/>
                          </a:stretch>
                        </a:blipFill>
                      </a:tcPr>
                    </a:tc>
                    <a:tc>
                      <a:txBody>
                        <a:bodyPr/>
                        <a:lstStyle/>
                        <a:p>
                          <a:endParaRPr lang="en-US"/>
                        </a:p>
                      </a:txBody>
                      <a:tcPr>
                        <a:blipFill>
                          <a:blip r:embed="rId70"/>
                          <a:stretch>
                            <a:fillRect l="-100260" t="-3448" r="-519" b="-124138"/>
                          </a:stretch>
                        </a:blipFill>
                      </a:tcPr>
                    </a:tc>
                    <a:extLst>
                      <a:ext uri="{0D108BD9-81ED-4DB2-BD59-A6C34878D82A}">
                        <a16:rowId xmlns:a16="http://schemas.microsoft.com/office/drawing/2014/main" val="1801049221"/>
                      </a:ext>
                    </a:extLst>
                  </a:tr>
                  <a:tr h="350520">
                    <a:tc>
                      <a:txBody>
                        <a:bodyPr/>
                        <a:lstStyle/>
                        <a:p>
                          <a:endParaRPr lang="en-US"/>
                        </a:p>
                      </a:txBody>
                      <a:tcPr>
                        <a:blipFill>
                          <a:blip r:embed="rId70"/>
                          <a:stretch>
                            <a:fillRect l="-260" t="-103448" r="-100519" b="-24138"/>
                          </a:stretch>
                        </a:blipFill>
                      </a:tcPr>
                    </a:tc>
                    <a:tc>
                      <a:txBody>
                        <a:bodyPr/>
                        <a:lstStyle/>
                        <a:p>
                          <a:pPr algn="ctr"/>
                          <a:r>
                            <a:rPr lang="en-US" sz="1700" b="0" i="0" kern="1200" dirty="0">
                              <a:solidFill>
                                <a:schemeClr val="dk1"/>
                              </a:solidFill>
                              <a:effectLst/>
                              <a:latin typeface="Cambria Math" panose="02040503050406030204" pitchFamily="18" charset="0"/>
                              <a:ea typeface="+mn-ea"/>
                              <a:cs typeface="+mn-cs"/>
                            </a:rPr>
                            <a:t>0.09697 ± 0.02029</a:t>
                          </a:r>
                        </a:p>
                      </a:txBody>
                      <a:tcPr/>
                    </a:tc>
                    <a:extLst>
                      <a:ext uri="{0D108BD9-81ED-4DB2-BD59-A6C34878D82A}">
                        <a16:rowId xmlns:a16="http://schemas.microsoft.com/office/drawing/2014/main" val="1734269321"/>
                      </a:ext>
                    </a:extLst>
                  </a:tr>
                </a:tbl>
              </a:graphicData>
            </a:graphic>
          </p:graphicFrame>
        </mc:Fallback>
      </mc:AlternateContent>
      <mc:AlternateContent xmlns:mc="http://schemas.openxmlformats.org/markup-compatibility/2006" xmlns:a14="http://schemas.microsoft.com/office/drawing/2010/main">
        <mc:Choice Requires="a14">
          <p:sp>
            <p:nvSpPr>
              <p:cNvPr id="516" name="Rectangle: Rounded Corners 515">
                <a:extLst>
                  <a:ext uri="{FF2B5EF4-FFF2-40B4-BE49-F238E27FC236}">
                    <a16:creationId xmlns:a16="http://schemas.microsoft.com/office/drawing/2014/main" id="{17BA6663-165C-8895-C420-C8B0161903AA}"/>
                  </a:ext>
                </a:extLst>
              </p:cNvPr>
              <p:cNvSpPr/>
              <p:nvPr/>
            </p:nvSpPr>
            <p:spPr>
              <a:xfrm>
                <a:off x="25743046" y="23990452"/>
                <a:ext cx="2984611" cy="347922"/>
              </a:xfrm>
              <a:prstGeom prst="roundRect">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0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y</m:t>
                      </m:r>
                      <m:r>
                        <m:rPr>
                          <m:nor/>
                        </m:rPr>
                        <a:rPr lang="en-US" sz="2000" b="1" i="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m:t> </m:t>
                      </m:r>
                      <m:r>
                        <a:rPr lang="en-US" sz="2000" b="1"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solidFill>
                            <a:schemeClr val="dk1"/>
                          </a:solidFill>
                          <a:latin typeface="Cambria Math" panose="02040503050406030204" pitchFamily="18" charset="0"/>
                        </a:rPr>
                        <m:t>0.07299</m:t>
                      </m:r>
                      <m:r>
                        <a:rPr lang="en-US" sz="2000" b="1" i="1">
                          <a:solidFill>
                            <a:srgbClr val="000000"/>
                          </a:solidFill>
                          <a:latin typeface="Cambria Math" panose="02040503050406030204" pitchFamily="18" charset="0"/>
                        </a:rPr>
                        <m:t>𝒙</m:t>
                      </m:r>
                      <m:r>
                        <a:rPr lang="en-US" sz="2000" b="1" i="1">
                          <a:solidFill>
                            <a:srgbClr val="000000"/>
                          </a:solidFill>
                          <a:latin typeface="Cambria Math" panose="02040503050406030204" pitchFamily="18" charset="0"/>
                        </a:rPr>
                        <m:t>+</m:t>
                      </m:r>
                      <m:r>
                        <m:rPr>
                          <m:nor/>
                        </m:rPr>
                        <a:rPr lang="en-US" sz="2000" dirty="0">
                          <a:solidFill>
                            <a:schemeClr val="dk1"/>
                          </a:solidFill>
                          <a:latin typeface="Cambria Math" panose="02040503050406030204" pitchFamily="18" charset="0"/>
                        </a:rPr>
                        <m:t>0.09697</m:t>
                      </m:r>
                    </m:oMath>
                  </m:oMathPara>
                </a14:m>
                <a:endParaRPr lang="en-US" sz="2000" b="1" i="1" dirty="0">
                  <a:solidFill>
                    <a:srgbClr val="000000"/>
                  </a:solidFill>
                  <a:latin typeface="Cambria Math" panose="02040503050406030204" pitchFamily="18" charset="0"/>
                </a:endParaRPr>
              </a:p>
            </p:txBody>
          </p:sp>
        </mc:Choice>
        <mc:Fallback xmlns="">
          <p:sp>
            <p:nvSpPr>
              <p:cNvPr id="516" name="Rectangle: Rounded Corners 515">
                <a:extLst>
                  <a:ext uri="{FF2B5EF4-FFF2-40B4-BE49-F238E27FC236}">
                    <a16:creationId xmlns:a16="http://schemas.microsoft.com/office/drawing/2014/main" id="{17BA6663-165C-8895-C420-C8B0161903AA}"/>
                  </a:ext>
                </a:extLst>
              </p:cNvPr>
              <p:cNvSpPr>
                <a:spLocks noRot="1" noChangeAspect="1" noMove="1" noResize="1" noEditPoints="1" noAdjustHandles="1" noChangeArrowheads="1" noChangeShapeType="1" noTextEdit="1"/>
              </p:cNvSpPr>
              <p:nvPr/>
            </p:nvSpPr>
            <p:spPr>
              <a:xfrm>
                <a:off x="25743046" y="23990452"/>
                <a:ext cx="2984611" cy="347922"/>
              </a:xfrm>
              <a:prstGeom prst="roundRect">
                <a:avLst/>
              </a:prstGeom>
              <a:blipFill>
                <a:blip r:embed="rId71"/>
                <a:stretch>
                  <a:fillRect b="-1724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8" name="Rectangle: Rounded Corners 517">
                <a:extLst>
                  <a:ext uri="{FF2B5EF4-FFF2-40B4-BE49-F238E27FC236}">
                    <a16:creationId xmlns:a16="http://schemas.microsoft.com/office/drawing/2014/main" id="{DC190F7E-6101-BC47-BE67-791C039A3528}"/>
                  </a:ext>
                </a:extLst>
              </p:cNvPr>
              <p:cNvSpPr/>
              <p:nvPr/>
            </p:nvSpPr>
            <p:spPr>
              <a:xfrm>
                <a:off x="25150867" y="26353919"/>
                <a:ext cx="1017013" cy="600893"/>
              </a:xfrm>
              <a:prstGeom prst="roundRect">
                <a:avLst/>
              </a:prstGeom>
              <a:solidFill>
                <a:srgbClr val="00ADB5"/>
              </a:solidFill>
              <a:ln>
                <a:solidFill>
                  <a:srgbClr val="3948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𝑷</m:t>
                      </m:r>
                      <m:r>
                        <a:rPr lang="en-US" sz="20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b="1" i="1" dirty="0">
                              <a:solidFill>
                                <a:schemeClr val="tx1"/>
                              </a:solidFill>
                              <a:latin typeface="Cambria Math" panose="02040503050406030204" pitchFamily="18" charset="0"/>
                            </a:rPr>
                          </m:ctrlPr>
                        </m:fPr>
                        <m:num>
                          <m:r>
                            <a:rPr lang="en-US" sz="2000" b="1" i="1" dirty="0">
                              <a:solidFill>
                                <a:schemeClr val="tx1"/>
                              </a:solidFill>
                              <a:latin typeface="Cambria Math" panose="02040503050406030204" pitchFamily="18" charset="0"/>
                            </a:rPr>
                            <m:t>𝑭</m:t>
                          </m:r>
                        </m:num>
                        <m:den>
                          <m:r>
                            <a:rPr lang="en-US" sz="2000" b="1" i="1" dirty="0">
                              <a:solidFill>
                                <a:schemeClr val="tx1"/>
                              </a:solidFill>
                              <a:latin typeface="Cambria Math" panose="02040503050406030204" pitchFamily="18" charset="0"/>
                            </a:rPr>
                            <m:t>𝑨</m:t>
                          </m:r>
                        </m:den>
                      </m:f>
                    </m:oMath>
                  </m:oMathPara>
                </a14:m>
                <a:endParaRPr lang="en-US" sz="2000" b="1" i="1" dirty="0">
                  <a:solidFill>
                    <a:srgbClr val="222831"/>
                  </a:solidFill>
                  <a:latin typeface="Cambria Math" panose="02040503050406030204" pitchFamily="18" charset="0"/>
                  <a:cs typeface="Times New Roman" panose="02020603050405020304" pitchFamily="18" charset="0"/>
                </a:endParaRPr>
              </a:p>
            </p:txBody>
          </p:sp>
        </mc:Choice>
        <mc:Fallback xmlns="">
          <p:sp>
            <p:nvSpPr>
              <p:cNvPr id="518" name="Rectangle: Rounded Corners 517">
                <a:extLst>
                  <a:ext uri="{FF2B5EF4-FFF2-40B4-BE49-F238E27FC236}">
                    <a16:creationId xmlns:a16="http://schemas.microsoft.com/office/drawing/2014/main" id="{DC190F7E-6101-BC47-BE67-791C039A3528}"/>
                  </a:ext>
                </a:extLst>
              </p:cNvPr>
              <p:cNvSpPr>
                <a:spLocks noRot="1" noChangeAspect="1" noMove="1" noResize="1" noEditPoints="1" noAdjustHandles="1" noChangeArrowheads="1" noChangeShapeType="1" noTextEdit="1"/>
              </p:cNvSpPr>
              <p:nvPr/>
            </p:nvSpPr>
            <p:spPr>
              <a:xfrm>
                <a:off x="25150867" y="26353919"/>
                <a:ext cx="1017013" cy="600893"/>
              </a:xfrm>
              <a:prstGeom prst="roundRect">
                <a:avLst/>
              </a:prstGeom>
              <a:blipFill>
                <a:blip r:embed="rId72"/>
                <a:stretch>
                  <a:fillRect/>
                </a:stretch>
              </a:blipFill>
              <a:ln>
                <a:solidFill>
                  <a:srgbClr val="394867"/>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19" name="Table 518">
                <a:extLst>
                  <a:ext uri="{FF2B5EF4-FFF2-40B4-BE49-F238E27FC236}">
                    <a16:creationId xmlns:a16="http://schemas.microsoft.com/office/drawing/2014/main" id="{647B1165-3D0A-F83D-E822-FA9C8F27F0CC}"/>
                  </a:ext>
                </a:extLst>
              </p:cNvPr>
              <p:cNvGraphicFramePr>
                <a:graphicFrameLocks noGrp="1"/>
              </p:cNvGraphicFramePr>
              <p:nvPr>
                <p:extLst>
                  <p:ext uri="{D42A27DB-BD31-4B8C-83A1-F6EECF244321}">
                    <p14:modId xmlns:p14="http://schemas.microsoft.com/office/powerpoint/2010/main" val="3444170513"/>
                  </p:ext>
                </p:extLst>
              </p:nvPr>
            </p:nvGraphicFramePr>
            <p:xfrm>
              <a:off x="26298026" y="26608369"/>
              <a:ext cx="3127639" cy="1623060"/>
            </p:xfrm>
            <a:graphic>
              <a:graphicData uri="http://schemas.openxmlformats.org/drawingml/2006/table">
                <a:tbl>
                  <a:tblPr firstRow="1" bandRow="1">
                    <a:tableStyleId>{8FD4443E-F989-4FC4-A0C8-D5A2AF1F390B}</a:tableStyleId>
                  </a:tblPr>
                  <a:tblGrid>
                    <a:gridCol w="735723">
                      <a:extLst>
                        <a:ext uri="{9D8B030D-6E8A-4147-A177-3AD203B41FA5}">
                          <a16:colId xmlns:a16="http://schemas.microsoft.com/office/drawing/2014/main" val="258298303"/>
                        </a:ext>
                      </a:extLst>
                    </a:gridCol>
                    <a:gridCol w="735723">
                      <a:extLst>
                        <a:ext uri="{9D8B030D-6E8A-4147-A177-3AD203B41FA5}">
                          <a16:colId xmlns:a16="http://schemas.microsoft.com/office/drawing/2014/main" val="3008913425"/>
                        </a:ext>
                      </a:extLst>
                    </a:gridCol>
                    <a:gridCol w="735723">
                      <a:extLst>
                        <a:ext uri="{9D8B030D-6E8A-4147-A177-3AD203B41FA5}">
                          <a16:colId xmlns:a16="http://schemas.microsoft.com/office/drawing/2014/main" val="1303510088"/>
                        </a:ext>
                      </a:extLst>
                    </a:gridCol>
                    <a:gridCol w="920470">
                      <a:extLst>
                        <a:ext uri="{9D8B030D-6E8A-4147-A177-3AD203B41FA5}">
                          <a16:colId xmlns:a16="http://schemas.microsoft.com/office/drawing/2014/main" val="3102469480"/>
                        </a:ext>
                      </a:extLst>
                    </a:gridCol>
                  </a:tblGrid>
                  <a:tr h="363233">
                    <a:tc>
                      <a:txBody>
                        <a:bodyPr/>
                        <a:lstStyle/>
                        <a:p>
                          <a:pPr algn="ctr"/>
                          <a:r>
                            <a:rPr lang="en-US" sz="1400" dirty="0">
                              <a:latin typeface="Times New Roman" panose="02020603050405020304" pitchFamily="18" charset="0"/>
                              <a:cs typeface="Times New Roman" panose="02020603050405020304" pitchFamily="18" charset="0"/>
                            </a:rPr>
                            <a:t>Weight</a:t>
                          </a:r>
                        </a:p>
                        <a:p>
                          <a:pPr algn="ctr"/>
                          <a:r>
                            <a:rPr lang="en-US" sz="1400" dirty="0">
                              <a:latin typeface="Times New Roman" panose="02020603050405020304" pitchFamily="18" charset="0"/>
                              <a:cs typeface="Times New Roman" panose="02020603050405020304" pitchFamily="18" charset="0"/>
                            </a:rPr>
                            <a:t>(</a:t>
                          </a:r>
                          <a14:m>
                            <m:oMath xmlns:m="http://schemas.openxmlformats.org/officeDocument/2006/math">
                              <m:r>
                                <a:rPr lang="en-US" sz="1400" i="1" dirty="0" smtClean="0">
                                  <a:latin typeface="Cambria Math" panose="02040503050406030204" pitchFamily="18" charset="0"/>
                                  <a:cs typeface="Times New Roman" panose="02020603050405020304" pitchFamily="18" charset="0"/>
                                </a:rPr>
                                <m:t>𝐾𝑔</m:t>
                              </m:r>
                            </m:oMath>
                          </a14:m>
                          <a:r>
                            <a:rPr lang="en-US" sz="1400" dirty="0">
                              <a:latin typeface="Times New Roman" panose="02020603050405020304" pitchFamily="18" charset="0"/>
                              <a:cs typeface="Times New Roman" panose="02020603050405020304" pitchFamily="18" charset="0"/>
                            </a:rPr>
                            <a:t>)</a:t>
                          </a:r>
                        </a:p>
                      </a:txBody>
                      <a:tcPr/>
                    </a:tc>
                    <a:tc>
                      <a:txBody>
                        <a:bodyPr/>
                        <a:lstStyle/>
                        <a:p>
                          <a:pPr algn="ctr"/>
                          <a:r>
                            <a:rPr lang="en-US" sz="1400" dirty="0">
                              <a:latin typeface="Times New Roman" panose="02020603050405020304" pitchFamily="18" charset="0"/>
                              <a:cs typeface="Times New Roman" panose="02020603050405020304" pitchFamily="18" charset="0"/>
                            </a:rPr>
                            <a:t>Force</a:t>
                          </a:r>
                        </a:p>
                        <a:p>
                          <a:pPr algn="ctr"/>
                          <a:r>
                            <a:rPr lang="en-US" sz="1400" dirty="0">
                              <a:latin typeface="Times New Roman" panose="02020603050405020304" pitchFamily="18" charset="0"/>
                              <a:cs typeface="Times New Roman" panose="02020603050405020304" pitchFamily="18" charset="0"/>
                            </a:rPr>
                            <a:t>(N)</a:t>
                          </a:r>
                        </a:p>
                      </a:txBody>
                      <a:tcPr/>
                    </a:tc>
                    <a:tc>
                      <a:txBody>
                        <a:bodyPr/>
                        <a:lstStyle/>
                        <a:p>
                          <a:pPr algn="ctr"/>
                          <a:r>
                            <a:rPr lang="en-US" sz="1400" dirty="0">
                              <a:latin typeface="Times New Roman" panose="02020603050405020304" pitchFamily="18" charset="0"/>
                              <a:cs typeface="Times New Roman" panose="02020603050405020304" pitchFamily="18" charset="0"/>
                            </a:rPr>
                            <a:t>Area</a:t>
                          </a:r>
                        </a:p>
                        <a:p>
                          <a:pPr algn="ctr"/>
                          <a:r>
                            <a:rPr lang="en-US" sz="14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400" i="1" smtClean="0">
                                      <a:solidFill>
                                        <a:srgbClr val="836967"/>
                                      </a:solidFill>
                                      <a:latin typeface="Cambria Math" panose="02040503050406030204" pitchFamily="18" charset="0"/>
                                    </a:rPr>
                                  </m:ctrlPr>
                                </m:sSupPr>
                                <m:e>
                                  <m:r>
                                    <a:rPr lang="en-US" sz="1400" i="1" smtClean="0">
                                      <a:latin typeface="Cambria Math" panose="02040503050406030204" pitchFamily="18" charset="0"/>
                                    </a:rPr>
                                    <m:t>𝑚</m:t>
                                  </m:r>
                                </m:e>
                                <m:sup>
                                  <m:r>
                                    <a:rPr lang="en-US" sz="1400" i="1" smtClean="0">
                                      <a:latin typeface="Cambria Math" panose="02040503050406030204" pitchFamily="18" charset="0"/>
                                    </a:rPr>
                                    <m:t>2</m:t>
                                  </m:r>
                                </m:sup>
                              </m:sSup>
                            </m:oMath>
                          </a14:m>
                          <a:r>
                            <a:rPr lang="en-US" sz="1400" dirty="0">
                              <a:latin typeface="Times New Roman" panose="02020603050405020304" pitchFamily="18" charset="0"/>
                              <a:cs typeface="Times New Roman" panose="02020603050405020304" pitchFamily="18" charset="0"/>
                            </a:rPr>
                            <a:t>)</a:t>
                          </a:r>
                        </a:p>
                      </a:txBody>
                      <a:tcPr/>
                    </a:tc>
                    <a:tc>
                      <a:txBody>
                        <a:bodyPr/>
                        <a:lstStyle/>
                        <a:p>
                          <a:pPr algn="ctr"/>
                          <a:r>
                            <a:rPr lang="en-US" sz="1400" dirty="0">
                              <a:latin typeface="Times New Roman" panose="02020603050405020304" pitchFamily="18" charset="0"/>
                              <a:cs typeface="Times New Roman" panose="02020603050405020304" pitchFamily="18" charset="0"/>
                            </a:rPr>
                            <a:t>Pressure</a:t>
                          </a:r>
                        </a:p>
                        <a:p>
                          <a:pPr algn="ctr"/>
                          <a:r>
                            <a:rPr lang="en-US" sz="1400" dirty="0">
                              <a:latin typeface="Times New Roman" panose="02020603050405020304" pitchFamily="18" charset="0"/>
                              <a:cs typeface="Times New Roman" panose="02020603050405020304" pitchFamily="18" charset="0"/>
                            </a:rPr>
                            <a:t>(</a:t>
                          </a:r>
                          <a14:m>
                            <m:oMath xmlns:m="http://schemas.openxmlformats.org/officeDocument/2006/math">
                              <m:r>
                                <a:rPr lang="en-US" sz="1400" i="1" dirty="0" smtClean="0">
                                  <a:latin typeface="Cambria Math" panose="02040503050406030204" pitchFamily="18" charset="0"/>
                                  <a:cs typeface="Times New Roman" panose="02020603050405020304" pitchFamily="18" charset="0"/>
                                </a:rPr>
                                <m:t>𝑃𝑎</m:t>
                              </m:r>
                            </m:oMath>
                          </a14:m>
                          <a:r>
                            <a:rPr lang="en-US" sz="14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250187325"/>
                      </a:ext>
                    </a:extLst>
                  </a:tr>
                  <a:tr h="176491">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9.8</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148.48</a:t>
                          </a:r>
                        </a:p>
                      </a:txBody>
                      <a:tcPr marL="7620" marR="7620" marT="7620" marB="0" anchor="b"/>
                    </a:tc>
                    <a:extLst>
                      <a:ext uri="{0D108BD9-81ED-4DB2-BD59-A6C34878D82A}">
                        <a16:rowId xmlns:a16="http://schemas.microsoft.com/office/drawing/2014/main" val="2838235953"/>
                      </a:ext>
                    </a:extLst>
                  </a:tr>
                  <a:tr h="176491">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3</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29.4</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445.45</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496896081"/>
                      </a:ext>
                    </a:extLst>
                  </a:tr>
                  <a:tr h="176491">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5</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49</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742.42</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303160144"/>
                      </a:ext>
                    </a:extLst>
                  </a:tr>
                  <a:tr h="176491">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7</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68.6</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1039.39</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626563006"/>
                      </a:ext>
                    </a:extLst>
                  </a:tr>
                  <a:tr h="176491">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9</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88.2</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1336.36</a:t>
                          </a:r>
                        </a:p>
                      </a:txBody>
                      <a:tcPr marL="7620" marR="7620" marT="7620" marB="0" anchor="b"/>
                    </a:tc>
                    <a:extLst>
                      <a:ext uri="{0D108BD9-81ED-4DB2-BD59-A6C34878D82A}">
                        <a16:rowId xmlns:a16="http://schemas.microsoft.com/office/drawing/2014/main" val="2942023897"/>
                      </a:ext>
                    </a:extLst>
                  </a:tr>
                </a:tbl>
              </a:graphicData>
            </a:graphic>
          </p:graphicFrame>
        </mc:Choice>
        <mc:Fallback xmlns="">
          <p:graphicFrame>
            <p:nvGraphicFramePr>
              <p:cNvPr id="519" name="Table 518">
                <a:extLst>
                  <a:ext uri="{FF2B5EF4-FFF2-40B4-BE49-F238E27FC236}">
                    <a16:creationId xmlns:a16="http://schemas.microsoft.com/office/drawing/2014/main" id="{647B1165-3D0A-F83D-E822-FA9C8F27F0CC}"/>
                  </a:ext>
                </a:extLst>
              </p:cNvPr>
              <p:cNvGraphicFramePr>
                <a:graphicFrameLocks noGrp="1"/>
              </p:cNvGraphicFramePr>
              <p:nvPr>
                <p:extLst>
                  <p:ext uri="{D42A27DB-BD31-4B8C-83A1-F6EECF244321}">
                    <p14:modId xmlns:p14="http://schemas.microsoft.com/office/powerpoint/2010/main" val="3444170513"/>
                  </p:ext>
                </p:extLst>
              </p:nvPr>
            </p:nvGraphicFramePr>
            <p:xfrm>
              <a:off x="26298026" y="26608369"/>
              <a:ext cx="3127639" cy="1623060"/>
            </p:xfrm>
            <a:graphic>
              <a:graphicData uri="http://schemas.openxmlformats.org/drawingml/2006/table">
                <a:tbl>
                  <a:tblPr firstRow="1" bandRow="1">
                    <a:tableStyleId>{8FD4443E-F989-4FC4-A0C8-D5A2AF1F390B}</a:tableStyleId>
                  </a:tblPr>
                  <a:tblGrid>
                    <a:gridCol w="735723">
                      <a:extLst>
                        <a:ext uri="{9D8B030D-6E8A-4147-A177-3AD203B41FA5}">
                          <a16:colId xmlns:a16="http://schemas.microsoft.com/office/drawing/2014/main" val="258298303"/>
                        </a:ext>
                      </a:extLst>
                    </a:gridCol>
                    <a:gridCol w="735723">
                      <a:extLst>
                        <a:ext uri="{9D8B030D-6E8A-4147-A177-3AD203B41FA5}">
                          <a16:colId xmlns:a16="http://schemas.microsoft.com/office/drawing/2014/main" val="3008913425"/>
                        </a:ext>
                      </a:extLst>
                    </a:gridCol>
                    <a:gridCol w="735723">
                      <a:extLst>
                        <a:ext uri="{9D8B030D-6E8A-4147-A177-3AD203B41FA5}">
                          <a16:colId xmlns:a16="http://schemas.microsoft.com/office/drawing/2014/main" val="1303510088"/>
                        </a:ext>
                      </a:extLst>
                    </a:gridCol>
                    <a:gridCol w="920470">
                      <a:extLst>
                        <a:ext uri="{9D8B030D-6E8A-4147-A177-3AD203B41FA5}">
                          <a16:colId xmlns:a16="http://schemas.microsoft.com/office/drawing/2014/main" val="3102469480"/>
                        </a:ext>
                      </a:extLst>
                    </a:gridCol>
                  </a:tblGrid>
                  <a:tr h="518160">
                    <a:tc>
                      <a:txBody>
                        <a:bodyPr/>
                        <a:lstStyle/>
                        <a:p>
                          <a:endParaRPr lang="en-US"/>
                        </a:p>
                      </a:txBody>
                      <a:tcPr>
                        <a:blipFill>
                          <a:blip r:embed="rId73"/>
                          <a:stretch>
                            <a:fillRect t="-1163" r="-327273" b="-231395"/>
                          </a:stretch>
                        </a:blipFill>
                      </a:tcPr>
                    </a:tc>
                    <a:tc>
                      <a:txBody>
                        <a:bodyPr/>
                        <a:lstStyle/>
                        <a:p>
                          <a:pPr algn="ctr"/>
                          <a:r>
                            <a:rPr lang="en-US" sz="1400" dirty="0">
                              <a:latin typeface="Times New Roman" panose="02020603050405020304" pitchFamily="18" charset="0"/>
                              <a:cs typeface="Times New Roman" panose="02020603050405020304" pitchFamily="18" charset="0"/>
                            </a:rPr>
                            <a:t>Force</a:t>
                          </a:r>
                        </a:p>
                        <a:p>
                          <a:pPr algn="ctr"/>
                          <a:r>
                            <a:rPr lang="en-US" sz="1400" dirty="0">
                              <a:latin typeface="Times New Roman" panose="02020603050405020304" pitchFamily="18" charset="0"/>
                              <a:cs typeface="Times New Roman" panose="02020603050405020304" pitchFamily="18" charset="0"/>
                            </a:rPr>
                            <a:t>(N)</a:t>
                          </a:r>
                        </a:p>
                      </a:txBody>
                      <a:tcPr/>
                    </a:tc>
                    <a:tc>
                      <a:txBody>
                        <a:bodyPr/>
                        <a:lstStyle/>
                        <a:p>
                          <a:endParaRPr lang="en-US"/>
                        </a:p>
                      </a:txBody>
                      <a:tcPr>
                        <a:blipFill>
                          <a:blip r:embed="rId73"/>
                          <a:stretch>
                            <a:fillRect l="-200000" t="-1163" r="-127273" b="-231395"/>
                          </a:stretch>
                        </a:blipFill>
                      </a:tcPr>
                    </a:tc>
                    <a:tc>
                      <a:txBody>
                        <a:bodyPr/>
                        <a:lstStyle/>
                        <a:p>
                          <a:endParaRPr lang="en-US"/>
                        </a:p>
                      </a:txBody>
                      <a:tcPr>
                        <a:blipFill>
                          <a:blip r:embed="rId73"/>
                          <a:stretch>
                            <a:fillRect l="-238816" t="-1163" r="-1316" b="-231395"/>
                          </a:stretch>
                        </a:blipFill>
                      </a:tcPr>
                    </a:tc>
                    <a:extLst>
                      <a:ext uri="{0D108BD9-81ED-4DB2-BD59-A6C34878D82A}">
                        <a16:rowId xmlns:a16="http://schemas.microsoft.com/office/drawing/2014/main" val="2250187325"/>
                      </a:ext>
                    </a:extLst>
                  </a:tr>
                  <a:tr h="220980">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9.8</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148.48</a:t>
                          </a:r>
                        </a:p>
                      </a:txBody>
                      <a:tcPr marL="7620" marR="7620" marT="7620" marB="0" anchor="b"/>
                    </a:tc>
                    <a:extLst>
                      <a:ext uri="{0D108BD9-81ED-4DB2-BD59-A6C34878D82A}">
                        <a16:rowId xmlns:a16="http://schemas.microsoft.com/office/drawing/2014/main" val="2838235953"/>
                      </a:ext>
                    </a:extLst>
                  </a:tr>
                  <a:tr h="220980">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3</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29.4</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445.45</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3496896081"/>
                      </a:ext>
                    </a:extLst>
                  </a:tr>
                  <a:tr h="220980">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5</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49</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742.42</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1303160144"/>
                      </a:ext>
                    </a:extLst>
                  </a:tr>
                  <a:tr h="220980">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7</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68.6</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1039.39</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extLst>
                      <a:ext uri="{0D108BD9-81ED-4DB2-BD59-A6C34878D82A}">
                        <a16:rowId xmlns:a16="http://schemas.microsoft.com/office/drawing/2014/main" val="2626563006"/>
                      </a:ext>
                    </a:extLst>
                  </a:tr>
                  <a:tr h="220980">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9</a:t>
                          </a: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88.2</a:t>
                          </a:r>
                        </a:p>
                      </a:txBody>
                      <a:tcPr marL="7620" marR="7620" marT="7620" marB="0" anchor="b"/>
                    </a:tc>
                    <a:tc>
                      <a:txBody>
                        <a:bodyPr/>
                        <a:lstStyle/>
                        <a:p>
                          <a:pPr algn="ctr" fontAlgn="b"/>
                          <a:r>
                            <a:rPr lang="en-US" sz="1400" b="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0.066</a:t>
                          </a:r>
                          <a:endPar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endParaRPr>
                        </a:p>
                      </a:txBody>
                      <a:tcPr marL="7620" marR="7620" marT="7620" marB="0" anchor="b"/>
                    </a:tc>
                    <a:tc>
                      <a:txBody>
                        <a:bodyPr/>
                        <a:lstStyle/>
                        <a:p>
                          <a:pPr algn="ctr" fontAlgn="b"/>
                          <a:r>
                            <a:rPr lang="en-US" sz="1400" b="0" i="0" u="none" strike="noStrike" dirty="0">
                              <a:solidFill>
                                <a:srgbClr val="000000"/>
                              </a:solidFill>
                              <a:effectLst/>
                              <a:latin typeface="Times New Roman" panose="02020603050405020304" pitchFamily="18" charset="0"/>
                              <a:ea typeface="Verdana" panose="020B0604030504040204" pitchFamily="34" charset="0"/>
                              <a:cs typeface="Times New Roman" panose="02020603050405020304" pitchFamily="18" charset="0"/>
                            </a:rPr>
                            <a:t>1336.36</a:t>
                          </a:r>
                        </a:p>
                      </a:txBody>
                      <a:tcPr marL="7620" marR="7620" marT="7620" marB="0" anchor="b"/>
                    </a:tc>
                    <a:extLst>
                      <a:ext uri="{0D108BD9-81ED-4DB2-BD59-A6C34878D82A}">
                        <a16:rowId xmlns:a16="http://schemas.microsoft.com/office/drawing/2014/main" val="2942023897"/>
                      </a:ext>
                    </a:extLst>
                  </a:tr>
                </a:tbl>
              </a:graphicData>
            </a:graphic>
          </p:graphicFrame>
        </mc:Fallback>
      </mc:AlternateContent>
      <p:sp>
        <p:nvSpPr>
          <p:cNvPr id="520" name="Rectangle: Diagonal Corners Snipped 519">
            <a:extLst>
              <a:ext uri="{FF2B5EF4-FFF2-40B4-BE49-F238E27FC236}">
                <a16:creationId xmlns:a16="http://schemas.microsoft.com/office/drawing/2014/main" id="{897BCC75-B4FB-4B0C-F2D8-593FE83D67C9}"/>
              </a:ext>
            </a:extLst>
          </p:cNvPr>
          <p:cNvSpPr/>
          <p:nvPr/>
        </p:nvSpPr>
        <p:spPr>
          <a:xfrm>
            <a:off x="28670091" y="26340473"/>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Fig-19</a:t>
            </a:r>
          </a:p>
        </p:txBody>
      </p:sp>
      <mc:AlternateContent xmlns:mc="http://schemas.openxmlformats.org/markup-compatibility/2006" xmlns:a14="http://schemas.microsoft.com/office/drawing/2010/main">
        <mc:Choice Requires="a14">
          <p:sp>
            <p:nvSpPr>
              <p:cNvPr id="521" name="Rectangle: Rounded Corners 520">
                <a:extLst>
                  <a:ext uri="{FF2B5EF4-FFF2-40B4-BE49-F238E27FC236}">
                    <a16:creationId xmlns:a16="http://schemas.microsoft.com/office/drawing/2014/main" id="{D5DA1F9B-BDAA-2E82-1461-5A8795CB3344}"/>
                  </a:ext>
                </a:extLst>
              </p:cNvPr>
              <p:cNvSpPr/>
              <p:nvPr/>
            </p:nvSpPr>
            <p:spPr>
              <a:xfrm>
                <a:off x="29824485" y="4283488"/>
                <a:ext cx="9502478" cy="4311872"/>
              </a:xfrm>
              <a:prstGeom prst="roundRect">
                <a:avLst>
                  <a:gd name="adj" fmla="val 1603"/>
                </a:avLst>
              </a:prstGeom>
              <a:solidFill>
                <a:srgbClr val="EEEE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700" dirty="0">
                    <a:solidFill>
                      <a:srgbClr val="222831"/>
                    </a:solidFill>
                    <a:latin typeface="Times New Roman" panose="02020603050405020304" pitchFamily="18" charset="0"/>
                    <a:cs typeface="Times New Roman" panose="02020603050405020304" pitchFamily="18" charset="0"/>
                  </a:rPr>
                  <a:t>pressure can be calculated by putting various weights on the area, this is calculated in </a:t>
                </a:r>
                <a:r>
                  <a:rPr lang="en-US" sz="1700" b="1" dirty="0">
                    <a:solidFill>
                      <a:srgbClr val="222831"/>
                    </a:solidFill>
                    <a:latin typeface="Times New Roman" panose="02020603050405020304" pitchFamily="18" charset="0"/>
                    <a:cs typeface="Times New Roman" panose="02020603050405020304" pitchFamily="18" charset="0"/>
                  </a:rPr>
                  <a:t>fig. (18).</a:t>
                </a:r>
              </a:p>
              <a:p>
                <a:pPr algn="just"/>
                <a:endParaRPr lang="en-US" sz="1700" b="1" dirty="0">
                  <a:solidFill>
                    <a:srgbClr val="222831"/>
                  </a:solidFill>
                  <a:latin typeface="Times New Roman" panose="02020603050405020304" pitchFamily="18" charset="0"/>
                  <a:cs typeface="Times New Roman" panose="02020603050405020304" pitchFamily="18" charset="0"/>
                </a:endParaRPr>
              </a:p>
              <a:p>
                <a:pPr algn="just"/>
                <a:r>
                  <a:rPr lang="en-US" sz="1700" b="1" dirty="0">
                    <a:solidFill>
                      <a:srgbClr val="222831"/>
                    </a:solidFill>
                    <a:latin typeface="Times New Roman" panose="02020603050405020304" pitchFamily="18" charset="0"/>
                    <a:cs typeface="Times New Roman" panose="02020603050405020304" pitchFamily="18" charset="0"/>
                  </a:rPr>
                  <a:t>	Learning transfer: </a:t>
                </a:r>
              </a:p>
              <a:p>
                <a:pPr algn="just"/>
                <a:r>
                  <a:rPr lang="en-US" sz="1700" b="1" dirty="0">
                    <a:solidFill>
                      <a:srgbClr val="222831"/>
                    </a:solidFill>
                    <a:latin typeface="Times New Roman" panose="02020603050405020304" pitchFamily="18" charset="0"/>
                    <a:cs typeface="Times New Roman" panose="02020603050405020304" pitchFamily="18" charset="0"/>
                  </a:rPr>
                  <a:t>(PH 1.01) </a:t>
                </a:r>
                <a:r>
                  <a:rPr lang="en-US" sz="1700" dirty="0">
                    <a:solidFill>
                      <a:srgbClr val="222831"/>
                    </a:solidFill>
                    <a:latin typeface="Times New Roman" panose="02020603050405020304" pitchFamily="18" charset="0"/>
                    <a:cs typeface="Times New Roman" panose="02020603050405020304" pitchFamily="18" charset="0"/>
                  </a:rPr>
                  <a:t>Measurement errors occur when we measure the length and width of the bridge and during the test plan when we measure the deflection. </a:t>
                </a:r>
              </a:p>
              <a:p>
                <a:pPr algn="just"/>
                <a:r>
                  <a:rPr lang="en-US" sz="1700" b="1" dirty="0">
                    <a:solidFill>
                      <a:srgbClr val="222831"/>
                    </a:solidFill>
                    <a:latin typeface="Times New Roman" panose="02020603050405020304" pitchFamily="18" charset="0"/>
                    <a:cs typeface="Times New Roman" panose="02020603050405020304" pitchFamily="18" charset="0"/>
                  </a:rPr>
                  <a:t>(PH 1.05) </a:t>
                </a:r>
                <a:r>
                  <a:rPr lang="en-US" sz="1700" dirty="0">
                    <a:solidFill>
                      <a:srgbClr val="222831"/>
                    </a:solidFill>
                    <a:latin typeface="Times New Roman" panose="02020603050405020304" pitchFamily="18" charset="0"/>
                    <a:cs typeface="Times New Roman" panose="02020603050405020304" pitchFamily="18" charset="0"/>
                  </a:rPr>
                  <a:t>We used the torque law </a:t>
                </a:r>
                <a14:m>
                  <m:oMath xmlns:m="http://schemas.openxmlformats.org/officeDocument/2006/math">
                    <m:r>
                      <a:rPr lang="el-GR" sz="1700" b="1" i="1" dirty="0" smtClean="0">
                        <a:solidFill>
                          <a:srgbClr val="222831"/>
                        </a:solidFill>
                        <a:latin typeface="Cambria Math" panose="02040503050406030204" pitchFamily="18" charset="0"/>
                        <a:cs typeface="Times New Roman" panose="02020603050405020304" pitchFamily="18" charset="0"/>
                      </a:rPr>
                      <m:t>𝝉</m:t>
                    </m:r>
                    <m:r>
                      <a:rPr lang="el-GR" sz="1700" b="1" i="1" dirty="0" smtClean="0">
                        <a:solidFill>
                          <a:srgbClr val="222831"/>
                        </a:solidFill>
                        <a:latin typeface="Cambria Math" panose="02040503050406030204" pitchFamily="18" charset="0"/>
                        <a:cs typeface="Times New Roman" panose="02020603050405020304" pitchFamily="18" charset="0"/>
                      </a:rPr>
                      <m:t>=</m:t>
                    </m:r>
                    <m:r>
                      <a:rPr lang="en-US" sz="1700" b="1" i="1" dirty="0">
                        <a:solidFill>
                          <a:srgbClr val="222831"/>
                        </a:solidFill>
                        <a:latin typeface="Cambria Math" panose="02040503050406030204" pitchFamily="18" charset="0"/>
                        <a:cs typeface="Times New Roman" panose="02020603050405020304" pitchFamily="18" charset="0"/>
                      </a:rPr>
                      <m:t>𝒓</m:t>
                    </m:r>
                    <m:r>
                      <a:rPr lang="en-US" sz="1700" b="1" i="1" dirty="0" smtClean="0">
                        <a:solidFill>
                          <a:srgbClr val="222831"/>
                        </a:solidFill>
                        <a:latin typeface="Cambria Math" panose="02040503050406030204" pitchFamily="18" charset="0"/>
                      </a:rPr>
                      <m:t>𝑭</m:t>
                    </m:r>
                    <m:r>
                      <a:rPr lang="en-US" sz="1700" b="1" i="1" dirty="0">
                        <a:solidFill>
                          <a:srgbClr val="222831"/>
                        </a:solidFill>
                        <a:latin typeface="Cambria Math" panose="02040503050406030204" pitchFamily="18" charset="0"/>
                        <a:cs typeface="Times New Roman" panose="02020603050405020304" pitchFamily="18" charset="0"/>
                      </a:rPr>
                      <m:t>𝒔𝒊𝒏</m:t>
                    </m:r>
                    <m:r>
                      <a:rPr lang="el-GR" sz="1700" b="1" i="1" dirty="0">
                        <a:solidFill>
                          <a:srgbClr val="222831"/>
                        </a:solidFill>
                        <a:latin typeface="Cambria Math" panose="02040503050406030204" pitchFamily="18" charset="0"/>
                        <a:cs typeface="Times New Roman" panose="02020603050405020304" pitchFamily="18" charset="0"/>
                      </a:rPr>
                      <m:t>𝜽</m:t>
                    </m:r>
                  </m:oMath>
                </a14:m>
                <a:r>
                  <a:rPr lang="en-US" sz="1700" dirty="0">
                    <a:latin typeface="Times New Roman" panose="02020603050405020304" pitchFamily="18" charset="0"/>
                    <a:cs typeface="Times New Roman" panose="02020603050405020304" pitchFamily="18" charset="0"/>
                  </a:rPr>
                  <a:t> </a:t>
                </a:r>
                <a:r>
                  <a:rPr lang="en-US" sz="1700" dirty="0">
                    <a:solidFill>
                      <a:srgbClr val="222831"/>
                    </a:solidFill>
                    <a:latin typeface="Times New Roman" panose="02020603050405020304" pitchFamily="18" charset="0"/>
                    <a:cs typeface="Times New Roman" panose="02020603050405020304" pitchFamily="18" charset="0"/>
                  </a:rPr>
                  <a:t>to calculate the appropriate torque for the motor to lift the bridge. We also used a simple machine (pulley) to place the rope and the angular velocity and angular acceleration occurred as the bridge opened and closed.</a:t>
                </a:r>
              </a:p>
              <a:p>
                <a:pPr algn="just"/>
                <a:r>
                  <a:rPr lang="en-US" sz="1700" b="1" dirty="0">
                    <a:solidFill>
                      <a:srgbClr val="222831"/>
                    </a:solidFill>
                    <a:latin typeface="Times New Roman" panose="02020603050405020304" pitchFamily="18" charset="0"/>
                    <a:cs typeface="Times New Roman" panose="02020603050405020304" pitchFamily="18" charset="0"/>
                  </a:rPr>
                  <a:t>(ME 1.01) </a:t>
                </a:r>
                <a:r>
                  <a:rPr lang="en-US" sz="1700" dirty="0">
                    <a:solidFill>
                      <a:srgbClr val="222831"/>
                    </a:solidFill>
                    <a:latin typeface="Times New Roman" panose="02020603050405020304" pitchFamily="18" charset="0"/>
                    <a:cs typeface="Times New Roman" panose="02020603050405020304" pitchFamily="18" charset="0"/>
                  </a:rPr>
                  <a:t>We used graphs such as a velocity-time graph to describe the speed of the bridge opening and closing, but the velocity was converted to angular velocity by dividing by </a:t>
                </a:r>
                <a14:m>
                  <m:oMath xmlns:m="http://schemas.openxmlformats.org/officeDocument/2006/math">
                    <m:r>
                      <m:rPr>
                        <m:nor/>
                      </m:rPr>
                      <a:rPr lang="pt-BR" sz="1700" b="1" i="1" smtClean="0">
                        <a:solidFill>
                          <a:srgbClr val="222831"/>
                        </a:solidFill>
                        <a:latin typeface="Times New Roman" panose="02020603050405020304" pitchFamily="18" charset="0"/>
                        <a:cs typeface="Times New Roman" panose="02020603050405020304" pitchFamily="18" charset="0"/>
                      </a:rPr>
                      <m:t>r</m:t>
                    </m:r>
                  </m:oMath>
                </a14:m>
                <a:r>
                  <a:rPr lang="en-US" sz="1700" dirty="0">
                    <a:solidFill>
                      <a:srgbClr val="222831"/>
                    </a:solidFill>
                    <a:latin typeface="Times New Roman" panose="02020603050405020304" pitchFamily="18" charset="0"/>
                    <a:cs typeface="Times New Roman" panose="02020603050405020304" pitchFamily="18" charset="0"/>
                  </a:rPr>
                  <a:t>.</a:t>
                </a:r>
              </a:p>
              <a:p>
                <a:pPr algn="just"/>
                <a:r>
                  <a:rPr lang="en-US" sz="1700" b="1" dirty="0">
                    <a:solidFill>
                      <a:srgbClr val="222831"/>
                    </a:solidFill>
                    <a:latin typeface="Times New Roman" panose="02020603050405020304" pitchFamily="18" charset="0"/>
                    <a:cs typeface="Times New Roman" panose="02020603050405020304" pitchFamily="18" charset="0"/>
                  </a:rPr>
                  <a:t>(MA 1.02) </a:t>
                </a:r>
                <a:r>
                  <a:rPr lang="en-US" sz="1700" dirty="0">
                    <a:solidFill>
                      <a:srgbClr val="222831"/>
                    </a:solidFill>
                    <a:latin typeface="Times New Roman" panose="02020603050405020304" pitchFamily="18" charset="0"/>
                    <a:cs typeface="Times New Roman" panose="02020603050405020304" pitchFamily="18" charset="0"/>
                  </a:rPr>
                  <a:t>We used statistics to organize data such as using a histogram of a population growth problem and linear regression in deflection.</a:t>
                </a:r>
              </a:p>
              <a:p>
                <a:pPr algn="just"/>
                <a:r>
                  <a:rPr lang="en-US" sz="1700" b="1" dirty="0">
                    <a:solidFill>
                      <a:srgbClr val="222831"/>
                    </a:solidFill>
                    <a:latin typeface="Times New Roman" panose="02020603050405020304" pitchFamily="18" charset="0"/>
                    <a:cs typeface="Times New Roman" panose="02020603050405020304" pitchFamily="18" charset="0"/>
                  </a:rPr>
                  <a:t>(ES 1.03)	</a:t>
                </a:r>
                <a:r>
                  <a:rPr lang="en-US" sz="1700" dirty="0">
                    <a:solidFill>
                      <a:srgbClr val="222831"/>
                    </a:solidFill>
                    <a:latin typeface="Times New Roman" panose="02020603050405020304" pitchFamily="18" charset="0"/>
                    <a:cs typeface="Times New Roman" panose="02020603050405020304" pitchFamily="18" charset="0"/>
                  </a:rPr>
                  <a:t>We will use construction materials to build the bridge in reality such as cement, steel, etc.</a:t>
                </a:r>
              </a:p>
              <a:p>
                <a:pPr algn="just"/>
                <a:r>
                  <a:rPr lang="en-US" sz="1700" b="1" dirty="0">
                    <a:solidFill>
                      <a:srgbClr val="222831"/>
                    </a:solidFill>
                    <a:latin typeface="Times New Roman" panose="02020603050405020304" pitchFamily="18" charset="0"/>
                    <a:cs typeface="Times New Roman" panose="02020603050405020304" pitchFamily="18" charset="0"/>
                  </a:rPr>
                  <a:t>(CH 1.01) </a:t>
                </a:r>
                <a:r>
                  <a:rPr lang="en-US" sz="1700" dirty="0">
                    <a:solidFill>
                      <a:srgbClr val="222831"/>
                    </a:solidFill>
                    <a:latin typeface="Times New Roman" panose="02020603050405020304" pitchFamily="18" charset="0"/>
                    <a:cs typeface="Times New Roman" panose="02020603050405020304" pitchFamily="18" charset="0"/>
                  </a:rPr>
                  <a:t>Scientific methods helped us to identify the problem and find the best way to build a bridge that addresses most of the problems it can address in the best possible way.</a:t>
                </a:r>
                <a:endParaRPr lang="en-US" sz="1700" dirty="0">
                  <a:latin typeface="Times New Roman" panose="02020603050405020304" pitchFamily="18" charset="0"/>
                  <a:cs typeface="Times New Roman" panose="02020603050405020304" pitchFamily="18" charset="0"/>
                </a:endParaRPr>
              </a:p>
            </p:txBody>
          </p:sp>
        </mc:Choice>
        <mc:Fallback xmlns="">
          <p:sp>
            <p:nvSpPr>
              <p:cNvPr id="521" name="Rectangle: Rounded Corners 520">
                <a:extLst>
                  <a:ext uri="{FF2B5EF4-FFF2-40B4-BE49-F238E27FC236}">
                    <a16:creationId xmlns:a16="http://schemas.microsoft.com/office/drawing/2014/main" id="{D5DA1F9B-BDAA-2E82-1461-5A8795CB3344}"/>
                  </a:ext>
                </a:extLst>
              </p:cNvPr>
              <p:cNvSpPr>
                <a:spLocks noRot="1" noChangeAspect="1" noMove="1" noResize="1" noEditPoints="1" noAdjustHandles="1" noChangeArrowheads="1" noChangeShapeType="1" noTextEdit="1"/>
              </p:cNvSpPr>
              <p:nvPr/>
            </p:nvSpPr>
            <p:spPr>
              <a:xfrm>
                <a:off x="29824485" y="4283488"/>
                <a:ext cx="9502478" cy="4311872"/>
              </a:xfrm>
              <a:prstGeom prst="roundRect">
                <a:avLst>
                  <a:gd name="adj" fmla="val 1603"/>
                </a:avLst>
              </a:prstGeom>
              <a:blipFill>
                <a:blip r:embed="rId74"/>
                <a:stretch>
                  <a:fillRect l="-192" r="-192"/>
                </a:stretch>
              </a:blipFill>
              <a:ln>
                <a:noFill/>
              </a:ln>
            </p:spPr>
            <p:txBody>
              <a:bodyPr/>
              <a:lstStyle/>
              <a:p>
                <a:r>
                  <a:rPr lang="en-US">
                    <a:noFill/>
                  </a:rPr>
                  <a:t> </a:t>
                </a:r>
              </a:p>
            </p:txBody>
          </p:sp>
        </mc:Fallback>
      </mc:AlternateContent>
      <p:pic>
        <p:nvPicPr>
          <p:cNvPr id="528" name="Picture 527">
            <a:extLst>
              <a:ext uri="{FF2B5EF4-FFF2-40B4-BE49-F238E27FC236}">
                <a16:creationId xmlns:a16="http://schemas.microsoft.com/office/drawing/2014/main" id="{B7B15AEC-AEC8-F8FF-044C-8B909942743A}"/>
              </a:ext>
            </a:extLst>
          </p:cNvPr>
          <p:cNvPicPr>
            <a:picLocks noChangeAspect="1"/>
          </p:cNvPicPr>
          <p:nvPr/>
        </p:nvPicPr>
        <p:blipFill>
          <a:blip r:embed="rId75">
            <a:extLst>
              <a:ext uri="{28A0092B-C50C-407E-A947-70E740481C1C}">
                <a14:useLocalDpi xmlns:a14="http://schemas.microsoft.com/office/drawing/2010/main" val="0"/>
              </a:ext>
            </a:extLst>
          </a:blip>
          <a:stretch>
            <a:fillRect/>
          </a:stretch>
        </p:blipFill>
        <p:spPr>
          <a:xfrm>
            <a:off x="24765024" y="11350990"/>
            <a:ext cx="4648427" cy="1471983"/>
          </a:xfrm>
          <a:prstGeom prst="rect">
            <a:avLst/>
          </a:prstGeom>
        </p:spPr>
      </p:pic>
      <p:sp>
        <p:nvSpPr>
          <p:cNvPr id="529" name="Rectangle: Diagonal Corners Snipped 528">
            <a:extLst>
              <a:ext uri="{FF2B5EF4-FFF2-40B4-BE49-F238E27FC236}">
                <a16:creationId xmlns:a16="http://schemas.microsoft.com/office/drawing/2014/main" id="{8111E245-6580-51A6-AE11-BC14B5320169}"/>
              </a:ext>
            </a:extLst>
          </p:cNvPr>
          <p:cNvSpPr/>
          <p:nvPr/>
        </p:nvSpPr>
        <p:spPr>
          <a:xfrm>
            <a:off x="28612780" y="12819259"/>
            <a:ext cx="755573"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Fig-10</a:t>
            </a:r>
          </a:p>
        </p:txBody>
      </p:sp>
      <p:sp>
        <p:nvSpPr>
          <p:cNvPr id="506" name="Rectangle: Diagonal Corners Snipped 505">
            <a:extLst>
              <a:ext uri="{FF2B5EF4-FFF2-40B4-BE49-F238E27FC236}">
                <a16:creationId xmlns:a16="http://schemas.microsoft.com/office/drawing/2014/main" id="{7D416E0E-1050-16C1-56C7-379D95E0A7FB}"/>
              </a:ext>
            </a:extLst>
          </p:cNvPr>
          <p:cNvSpPr/>
          <p:nvPr/>
        </p:nvSpPr>
        <p:spPr>
          <a:xfrm>
            <a:off x="28701620" y="24010513"/>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Fig-17</a:t>
            </a:r>
          </a:p>
        </p:txBody>
      </p:sp>
      <p:sp>
        <p:nvSpPr>
          <p:cNvPr id="530" name="Left Brace 529">
            <a:extLst>
              <a:ext uri="{FF2B5EF4-FFF2-40B4-BE49-F238E27FC236}">
                <a16:creationId xmlns:a16="http://schemas.microsoft.com/office/drawing/2014/main" id="{2DAE951E-8FF6-8E07-F848-41F55A406C57}"/>
              </a:ext>
            </a:extLst>
          </p:cNvPr>
          <p:cNvSpPr/>
          <p:nvPr/>
        </p:nvSpPr>
        <p:spPr>
          <a:xfrm>
            <a:off x="19946350" y="22520282"/>
            <a:ext cx="173959" cy="3833637"/>
          </a:xfrm>
          <a:prstGeom prst="leftBrace">
            <a:avLst>
              <a:gd name="adj1" fmla="val 49896"/>
              <a:gd name="adj2" fmla="val 50000"/>
            </a:avLst>
          </a:prstGeom>
          <a:ln w="38100">
            <a:solidFill>
              <a:srgbClr val="00B05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
        <p:nvSpPr>
          <p:cNvPr id="532" name="Left Brace 531">
            <a:extLst>
              <a:ext uri="{FF2B5EF4-FFF2-40B4-BE49-F238E27FC236}">
                <a16:creationId xmlns:a16="http://schemas.microsoft.com/office/drawing/2014/main" id="{A2EFA2E0-3620-44BE-3BD5-83C5C690D5CB}"/>
              </a:ext>
            </a:extLst>
          </p:cNvPr>
          <p:cNvSpPr/>
          <p:nvPr/>
        </p:nvSpPr>
        <p:spPr>
          <a:xfrm rot="10800000">
            <a:off x="29302572" y="12609590"/>
            <a:ext cx="203608" cy="3729695"/>
          </a:xfrm>
          <a:prstGeom prst="leftBrace">
            <a:avLst>
              <a:gd name="adj1" fmla="val 49896"/>
              <a:gd name="adj2" fmla="val 50000"/>
            </a:avLst>
          </a:prstGeom>
          <a:ln w="38100">
            <a:solidFill>
              <a:srgbClr val="00B05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
        <p:nvSpPr>
          <p:cNvPr id="533" name="TextBox 532">
            <a:extLst>
              <a:ext uri="{FF2B5EF4-FFF2-40B4-BE49-F238E27FC236}">
                <a16:creationId xmlns:a16="http://schemas.microsoft.com/office/drawing/2014/main" id="{3A9E0B7D-379F-B49E-BEB5-0C0823F8D17D}"/>
              </a:ext>
            </a:extLst>
          </p:cNvPr>
          <p:cNvSpPr txBox="1"/>
          <p:nvPr/>
        </p:nvSpPr>
        <p:spPr>
          <a:xfrm rot="16200000">
            <a:off x="29282111" y="14303740"/>
            <a:ext cx="713657" cy="307777"/>
          </a:xfrm>
          <a:prstGeom prst="rect">
            <a:avLst/>
          </a:prstGeom>
          <a:noFill/>
        </p:spPr>
        <p:txBody>
          <a:bodyPr wrap="none" rtlCol="0">
            <a:spAutoFit/>
          </a:bodyPr>
          <a:lstStyle/>
          <a:p>
            <a:r>
              <a:rPr lang="en-US" sz="1400" dirty="0">
                <a:solidFill>
                  <a:srgbClr val="00ADB5"/>
                </a:solidFill>
                <a:latin typeface="Verdana" panose="020B0604030504040204" pitchFamily="34" charset="0"/>
                <a:ea typeface="Verdana" panose="020B0604030504040204" pitchFamily="34" charset="0"/>
              </a:rPr>
              <a:t>Cite 5</a:t>
            </a:r>
          </a:p>
        </p:txBody>
      </p:sp>
      <p:grpSp>
        <p:nvGrpSpPr>
          <p:cNvPr id="4" name="Group 3">
            <a:extLst>
              <a:ext uri="{FF2B5EF4-FFF2-40B4-BE49-F238E27FC236}">
                <a16:creationId xmlns:a16="http://schemas.microsoft.com/office/drawing/2014/main" id="{BD2E9BD7-81ED-2616-6DBE-D4B3890444C2}"/>
              </a:ext>
            </a:extLst>
          </p:cNvPr>
          <p:cNvGrpSpPr/>
          <p:nvPr/>
        </p:nvGrpSpPr>
        <p:grpSpPr>
          <a:xfrm>
            <a:off x="10207477" y="19028787"/>
            <a:ext cx="9419235" cy="2326728"/>
            <a:chOff x="10207477" y="19028787"/>
            <a:chExt cx="9419235" cy="2326728"/>
          </a:xfrm>
        </p:grpSpPr>
        <p:grpSp>
          <p:nvGrpSpPr>
            <p:cNvPr id="9" name="Group 8">
              <a:extLst>
                <a:ext uri="{FF2B5EF4-FFF2-40B4-BE49-F238E27FC236}">
                  <a16:creationId xmlns:a16="http://schemas.microsoft.com/office/drawing/2014/main" id="{FCE71F07-E6B3-C819-AE2B-73E52F021ADB}"/>
                </a:ext>
              </a:extLst>
            </p:cNvPr>
            <p:cNvGrpSpPr/>
            <p:nvPr/>
          </p:nvGrpSpPr>
          <p:grpSpPr>
            <a:xfrm>
              <a:off x="10207477" y="19120059"/>
              <a:ext cx="7154847" cy="1681163"/>
              <a:chOff x="10207477" y="19120059"/>
              <a:chExt cx="7154847" cy="1681163"/>
            </a:xfrm>
          </p:grpSpPr>
          <p:grpSp>
            <p:nvGrpSpPr>
              <p:cNvPr id="56" name="Group 55">
                <a:extLst>
                  <a:ext uri="{FF2B5EF4-FFF2-40B4-BE49-F238E27FC236}">
                    <a16:creationId xmlns:a16="http://schemas.microsoft.com/office/drawing/2014/main" id="{B25BF909-6CDF-441A-362C-B813C4395DEE}"/>
                  </a:ext>
                </a:extLst>
              </p:cNvPr>
              <p:cNvGrpSpPr/>
              <p:nvPr/>
            </p:nvGrpSpPr>
            <p:grpSpPr>
              <a:xfrm>
                <a:off x="10207477" y="19120059"/>
                <a:ext cx="7154847" cy="1565280"/>
                <a:chOff x="10258115" y="18696518"/>
                <a:chExt cx="7154847" cy="1565280"/>
              </a:xfrm>
            </p:grpSpPr>
            <p:pic>
              <p:nvPicPr>
                <p:cNvPr id="32" name="Picture 31">
                  <a:extLst>
                    <a:ext uri="{FF2B5EF4-FFF2-40B4-BE49-F238E27FC236}">
                      <a16:creationId xmlns:a16="http://schemas.microsoft.com/office/drawing/2014/main" id="{D400EE29-0225-ED3F-C8A2-CB7E57BEE70D}"/>
                    </a:ext>
                  </a:extLst>
                </p:cNvPr>
                <p:cNvPicPr>
                  <a:picLocks noChangeAspect="1"/>
                </p:cNvPicPr>
                <p:nvPr/>
              </p:nvPicPr>
              <p:blipFill>
                <a:blip r:embed="rId76">
                  <a:extLst>
                    <a:ext uri="{BEBA8EAE-BF5A-486C-A8C5-ECC9F3942E4B}">
                      <a14:imgProps xmlns:a14="http://schemas.microsoft.com/office/drawing/2010/main">
                        <a14:imgLayer r:embed="rId77">
                          <a14:imgEffect>
                            <a14:backgroundRemoval t="59964" b="97865" l="46000" r="98400">
                              <a14:foregroundMark x1="48100" y1="78648" x2="48100" y2="78648"/>
                              <a14:foregroundMark x1="46000" y1="81851" x2="46000" y2="81851"/>
                              <a14:foregroundMark x1="92600" y1="74555" x2="92600" y2="74555"/>
                              <a14:foregroundMark x1="91800" y1="70107" x2="91800" y2="70107"/>
                              <a14:foregroundMark x1="95100" y1="80961" x2="95100" y2="80961"/>
                              <a14:foregroundMark x1="96400" y1="84164" x2="96400" y2="84164"/>
                              <a14:foregroundMark x1="60000" y1="97331" x2="60000" y2="97331"/>
                              <a14:foregroundMark x1="67000" y1="97865" x2="67000" y2="97865"/>
                              <a14:foregroundMark x1="98400" y1="88790" x2="98400" y2="88790"/>
                              <a14:foregroundMark x1="86000" y1="61210" x2="86000" y2="61210"/>
                            </a14:backgroundRemoval>
                          </a14:imgEffect>
                        </a14:imgLayer>
                      </a14:imgProps>
                    </a:ext>
                    <a:ext uri="{28A0092B-C50C-407E-A947-70E740481C1C}">
                      <a14:useLocalDpi xmlns:a14="http://schemas.microsoft.com/office/drawing/2010/main" val="0"/>
                    </a:ext>
                  </a:extLst>
                </a:blip>
                <a:srcRect l="44852" t="56870"/>
                <a:stretch/>
              </p:blipFill>
              <p:spPr>
                <a:xfrm>
                  <a:off x="13043796" y="18696518"/>
                  <a:ext cx="3561259" cy="1565280"/>
                </a:xfrm>
                <a:prstGeom prst="rect">
                  <a:avLst/>
                </a:prstGeom>
              </p:spPr>
            </p:pic>
            <p:sp>
              <p:nvSpPr>
                <p:cNvPr id="46" name="Rectangle: Diagonal Corners Snipped 45">
                  <a:extLst>
                    <a:ext uri="{FF2B5EF4-FFF2-40B4-BE49-F238E27FC236}">
                      <a16:creationId xmlns:a16="http://schemas.microsoft.com/office/drawing/2014/main" id="{A05DF576-4C52-B0A4-BC84-787F9D4130B0}"/>
                    </a:ext>
                  </a:extLst>
                </p:cNvPr>
                <p:cNvSpPr/>
                <p:nvPr/>
              </p:nvSpPr>
              <p:spPr>
                <a:xfrm>
                  <a:off x="10258115" y="18702019"/>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Fig-3</a:t>
                  </a:r>
                </a:p>
              </p:txBody>
            </p:sp>
            <p:sp>
              <p:nvSpPr>
                <p:cNvPr id="47" name="Rectangle: Diagonal Corners Snipped 46">
                  <a:extLst>
                    <a:ext uri="{FF2B5EF4-FFF2-40B4-BE49-F238E27FC236}">
                      <a16:creationId xmlns:a16="http://schemas.microsoft.com/office/drawing/2014/main" id="{9D8AC0DF-EDBD-B535-75AE-0B30C5DD0015}"/>
                    </a:ext>
                  </a:extLst>
                </p:cNvPr>
                <p:cNvSpPr/>
                <p:nvPr/>
              </p:nvSpPr>
              <p:spPr>
                <a:xfrm>
                  <a:off x="13149693" y="18702706"/>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Fig-4</a:t>
                  </a:r>
                </a:p>
              </p:txBody>
            </p:sp>
            <p:sp>
              <p:nvSpPr>
                <p:cNvPr id="54" name="Rectangle: Diagonal Corners Snipped 53">
                  <a:extLst>
                    <a:ext uri="{FF2B5EF4-FFF2-40B4-BE49-F238E27FC236}">
                      <a16:creationId xmlns:a16="http://schemas.microsoft.com/office/drawing/2014/main" id="{7A8B2334-4E44-7CA4-D2AF-746009E4BF8F}"/>
                    </a:ext>
                  </a:extLst>
                </p:cNvPr>
                <p:cNvSpPr/>
                <p:nvPr/>
              </p:nvSpPr>
              <p:spPr>
                <a:xfrm>
                  <a:off x="16744111" y="18696518"/>
                  <a:ext cx="668851" cy="241104"/>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Fig-5</a:t>
                  </a:r>
                </a:p>
              </p:txBody>
            </p:sp>
          </p:grpSp>
          <p:pic>
            <p:nvPicPr>
              <p:cNvPr id="8" name="Picture 7">
                <a:extLst>
                  <a:ext uri="{FF2B5EF4-FFF2-40B4-BE49-F238E27FC236}">
                    <a16:creationId xmlns:a16="http://schemas.microsoft.com/office/drawing/2014/main" id="{7B1BB504-7BB9-AE5D-41EC-2929C4DFE2EB}"/>
                  </a:ext>
                </a:extLst>
              </p:cNvPr>
              <p:cNvPicPr>
                <a:picLocks noChangeAspect="1"/>
              </p:cNvPicPr>
              <p:nvPr/>
            </p:nvPicPr>
            <p:blipFill>
              <a:blip r:embed="rId78">
                <a:extLst>
                  <a:ext uri="{28A0092B-C50C-407E-A947-70E740481C1C}">
                    <a14:useLocalDpi xmlns:a14="http://schemas.microsoft.com/office/drawing/2010/main" val="0"/>
                  </a:ext>
                </a:extLst>
              </a:blip>
              <a:stretch>
                <a:fillRect/>
              </a:stretch>
            </p:blipFill>
            <p:spPr>
              <a:xfrm>
                <a:off x="10233060" y="19123016"/>
                <a:ext cx="2560163" cy="1678206"/>
              </a:xfrm>
              <a:prstGeom prst="rect">
                <a:avLst/>
              </a:prstGeom>
            </p:spPr>
          </p:pic>
        </p:grpSp>
        <p:pic>
          <p:nvPicPr>
            <p:cNvPr id="544" name="Picture 543">
              <a:extLst>
                <a:ext uri="{FF2B5EF4-FFF2-40B4-BE49-F238E27FC236}">
                  <a16:creationId xmlns:a16="http://schemas.microsoft.com/office/drawing/2014/main" id="{12A1F79E-EDAC-B878-4F09-3DEFC80247A7}"/>
                </a:ext>
              </a:extLst>
            </p:cNvPr>
            <p:cNvPicPr>
              <a:picLocks noChangeAspect="1"/>
            </p:cNvPicPr>
            <p:nvPr/>
          </p:nvPicPr>
          <p:blipFill>
            <a:blip r:embed="rId79">
              <a:extLst>
                <a:ext uri="{28A0092B-C50C-407E-A947-70E740481C1C}">
                  <a14:useLocalDpi xmlns:a14="http://schemas.microsoft.com/office/drawing/2010/main" val="0"/>
                </a:ext>
              </a:extLst>
            </a:blip>
            <a:stretch>
              <a:fillRect/>
            </a:stretch>
          </p:blipFill>
          <p:spPr>
            <a:xfrm rot="16047093">
              <a:off x="16909504" y="18638306"/>
              <a:ext cx="2326728" cy="3107689"/>
            </a:xfrm>
            <a:prstGeom prst="rect">
              <a:avLst/>
            </a:prstGeom>
          </p:spPr>
        </p:pic>
      </p:grpSp>
      <p:sp>
        <p:nvSpPr>
          <p:cNvPr id="547" name="TextBox 546">
            <a:extLst>
              <a:ext uri="{FF2B5EF4-FFF2-40B4-BE49-F238E27FC236}">
                <a16:creationId xmlns:a16="http://schemas.microsoft.com/office/drawing/2014/main" id="{E0A3EF18-757D-51AB-E58E-70BB7FD056BD}"/>
              </a:ext>
            </a:extLst>
          </p:cNvPr>
          <p:cNvSpPr txBox="1"/>
          <p:nvPr/>
        </p:nvSpPr>
        <p:spPr>
          <a:xfrm rot="16200000">
            <a:off x="19497798" y="24283211"/>
            <a:ext cx="713657" cy="307777"/>
          </a:xfrm>
          <a:prstGeom prst="rect">
            <a:avLst/>
          </a:prstGeom>
          <a:noFill/>
        </p:spPr>
        <p:txBody>
          <a:bodyPr wrap="none" rtlCol="0">
            <a:spAutoFit/>
          </a:bodyPr>
          <a:lstStyle/>
          <a:p>
            <a:r>
              <a:rPr lang="en-US" sz="1400" dirty="0">
                <a:solidFill>
                  <a:srgbClr val="00ADB5"/>
                </a:solidFill>
                <a:latin typeface="Verdana" panose="020B0604030504040204" pitchFamily="34" charset="0"/>
                <a:ea typeface="Verdana" panose="020B0604030504040204" pitchFamily="34" charset="0"/>
              </a:rPr>
              <a:t>Cite 4</a:t>
            </a:r>
          </a:p>
        </p:txBody>
      </p:sp>
      <p:sp>
        <p:nvSpPr>
          <p:cNvPr id="517" name="Rectangle: Diagonal Corners Snipped 516">
            <a:extLst>
              <a:ext uri="{FF2B5EF4-FFF2-40B4-BE49-F238E27FC236}">
                <a16:creationId xmlns:a16="http://schemas.microsoft.com/office/drawing/2014/main" id="{5DF4FB29-3854-B3AB-6120-34D74A745358}"/>
              </a:ext>
            </a:extLst>
          </p:cNvPr>
          <p:cNvSpPr/>
          <p:nvPr/>
        </p:nvSpPr>
        <p:spPr>
          <a:xfrm>
            <a:off x="26246932" y="26347113"/>
            <a:ext cx="755573" cy="266265"/>
          </a:xfrm>
          <a:prstGeom prst="snip2Diag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Fig-18</a:t>
            </a:r>
          </a:p>
        </p:txBody>
      </p:sp>
    </p:spTree>
    <p:extLst>
      <p:ext uri="{BB962C8B-B14F-4D97-AF65-F5344CB8AC3E}">
        <p14:creationId xmlns:p14="http://schemas.microsoft.com/office/powerpoint/2010/main" val="12917674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10287</TotalTime>
  <Words>4139</Words>
  <Application>Microsoft Office PowerPoint</Application>
  <PresentationFormat>Custom</PresentationFormat>
  <Paragraphs>316</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Arial</vt:lpstr>
      <vt:lpstr>Calibri</vt:lpstr>
      <vt:lpstr>Calibri Light</vt:lpstr>
      <vt:lpstr>Cambria Math</vt:lpstr>
      <vt:lpstr>Century Schoolbook</vt:lpstr>
      <vt:lpstr>Good Times Rg</vt:lpstr>
      <vt:lpstr>Rockwell</vt:lpstr>
      <vt:lpstr>Times New Roman</vt:lpstr>
      <vt:lpstr>Verdana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Mahmoud Elnaggar</dc:creator>
  <cp:lastModifiedBy>Philopateer Nabil Aziz Soliman</cp:lastModifiedBy>
  <cp:revision>61</cp:revision>
  <dcterms:created xsi:type="dcterms:W3CDTF">2024-11-25T16:19:49Z</dcterms:created>
  <dcterms:modified xsi:type="dcterms:W3CDTF">2025-11-30T23:57:12Z</dcterms:modified>
</cp:coreProperties>
</file>