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9600188" cy="28800425"/>
  <p:notesSz cx="6858000" cy="9144000"/>
  <p:defaultTextStyle>
    <a:defPPr>
      <a:defRPr lang="en-US"/>
    </a:defPPr>
    <a:lvl1pPr marL="0" algn="l" defTabSz="3283153" rtl="0" eaLnBrk="1" latinLnBrk="0" hangingPunct="1">
      <a:defRPr sz="6463" kern="1200">
        <a:solidFill>
          <a:schemeClr val="tx1"/>
        </a:solidFill>
        <a:latin typeface="+mn-lt"/>
        <a:ea typeface="+mn-ea"/>
        <a:cs typeface="+mn-cs"/>
      </a:defRPr>
    </a:lvl1pPr>
    <a:lvl2pPr marL="1641577" algn="l" defTabSz="3283153" rtl="0" eaLnBrk="1" latinLnBrk="0" hangingPunct="1">
      <a:defRPr sz="6463" kern="1200">
        <a:solidFill>
          <a:schemeClr val="tx1"/>
        </a:solidFill>
        <a:latin typeface="+mn-lt"/>
        <a:ea typeface="+mn-ea"/>
        <a:cs typeface="+mn-cs"/>
      </a:defRPr>
    </a:lvl2pPr>
    <a:lvl3pPr marL="3283153" algn="l" defTabSz="3283153" rtl="0" eaLnBrk="1" latinLnBrk="0" hangingPunct="1">
      <a:defRPr sz="6463" kern="1200">
        <a:solidFill>
          <a:schemeClr val="tx1"/>
        </a:solidFill>
        <a:latin typeface="+mn-lt"/>
        <a:ea typeface="+mn-ea"/>
        <a:cs typeface="+mn-cs"/>
      </a:defRPr>
    </a:lvl3pPr>
    <a:lvl4pPr marL="4924730" algn="l" defTabSz="3283153" rtl="0" eaLnBrk="1" latinLnBrk="0" hangingPunct="1">
      <a:defRPr sz="6463" kern="1200">
        <a:solidFill>
          <a:schemeClr val="tx1"/>
        </a:solidFill>
        <a:latin typeface="+mn-lt"/>
        <a:ea typeface="+mn-ea"/>
        <a:cs typeface="+mn-cs"/>
      </a:defRPr>
    </a:lvl4pPr>
    <a:lvl5pPr marL="6566306" algn="l" defTabSz="3283153" rtl="0" eaLnBrk="1" latinLnBrk="0" hangingPunct="1">
      <a:defRPr sz="6463" kern="1200">
        <a:solidFill>
          <a:schemeClr val="tx1"/>
        </a:solidFill>
        <a:latin typeface="+mn-lt"/>
        <a:ea typeface="+mn-ea"/>
        <a:cs typeface="+mn-cs"/>
      </a:defRPr>
    </a:lvl5pPr>
    <a:lvl6pPr marL="8207883" algn="l" defTabSz="3283153" rtl="0" eaLnBrk="1" latinLnBrk="0" hangingPunct="1">
      <a:defRPr sz="6463" kern="1200">
        <a:solidFill>
          <a:schemeClr val="tx1"/>
        </a:solidFill>
        <a:latin typeface="+mn-lt"/>
        <a:ea typeface="+mn-ea"/>
        <a:cs typeface="+mn-cs"/>
      </a:defRPr>
    </a:lvl6pPr>
    <a:lvl7pPr marL="9849460" algn="l" defTabSz="3283153" rtl="0" eaLnBrk="1" latinLnBrk="0" hangingPunct="1">
      <a:defRPr sz="6463" kern="1200">
        <a:solidFill>
          <a:schemeClr val="tx1"/>
        </a:solidFill>
        <a:latin typeface="+mn-lt"/>
        <a:ea typeface="+mn-ea"/>
        <a:cs typeface="+mn-cs"/>
      </a:defRPr>
    </a:lvl7pPr>
    <a:lvl8pPr marL="11491036" algn="l" defTabSz="3283153" rtl="0" eaLnBrk="1" latinLnBrk="0" hangingPunct="1">
      <a:defRPr sz="6463" kern="1200">
        <a:solidFill>
          <a:schemeClr val="tx1"/>
        </a:solidFill>
        <a:latin typeface="+mn-lt"/>
        <a:ea typeface="+mn-ea"/>
        <a:cs typeface="+mn-cs"/>
      </a:defRPr>
    </a:lvl8pPr>
    <a:lvl9pPr marL="13132613" algn="l" defTabSz="3283153" rtl="0" eaLnBrk="1" latinLnBrk="0" hangingPunct="1">
      <a:defRPr sz="6463"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hmed Ali Abdelrigal Hassan" initials="AA" lastIdx="1" clrIdx="0">
    <p:extLst>
      <p:ext uri="{19B8F6BF-5375-455C-9EA6-DF929625EA0E}">
        <p15:presenceInfo xmlns:p15="http://schemas.microsoft.com/office/powerpoint/2012/main" userId="S::Ahmed.2324006@stemqena.moe.edu.eg::1e3f65f8-bcc1-4cc7-bdd8-5cc1fa640b0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FADAD8"/>
    <a:srgbClr val="D09E88"/>
    <a:srgbClr val="F8F9FA"/>
    <a:srgbClr val="EDF2F4"/>
    <a:srgbClr val="ADE8F4"/>
    <a:srgbClr val="90E0EF"/>
    <a:srgbClr val="00B4D8"/>
    <a:srgbClr val="E1E8F7"/>
    <a:srgbClr val="3A4B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06" autoAdjust="0"/>
    <p:restoredTop sz="95033" autoAdjust="0"/>
  </p:normalViewPr>
  <p:slideViewPr>
    <p:cSldViewPr snapToGrid="0">
      <p:cViewPr>
        <p:scale>
          <a:sx n="125" d="100"/>
          <a:sy n="125" d="100"/>
        </p:scale>
        <p:origin x="-8304" y="-12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Electric</a:t>
            </a:r>
            <a:r>
              <a:rPr lang="en-US" baseline="0" dirty="0"/>
              <a:t> current intensity (In Ampere)</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cked"/>
        <c:varyColors val="0"/>
        <c:ser>
          <c:idx val="0"/>
          <c:order val="0"/>
          <c:tx>
            <c:strRef>
              <c:f>Sheet1!$B$1</c:f>
              <c:strCache>
                <c:ptCount val="1"/>
                <c:pt idx="0">
                  <c:v>Electric current intensity (In Ampere)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Sheet1!$A$2:$A$11</c:f>
              <c:strCache>
                <c:ptCount val="10"/>
                <c:pt idx="0">
                  <c:v>30 seconds </c:v>
                </c:pt>
                <c:pt idx="1">
                  <c:v>60 seconds</c:v>
                </c:pt>
                <c:pt idx="2">
                  <c:v>90 seconds</c:v>
                </c:pt>
                <c:pt idx="3">
                  <c:v>120 seconds</c:v>
                </c:pt>
                <c:pt idx="4">
                  <c:v>150 seconds</c:v>
                </c:pt>
                <c:pt idx="5">
                  <c:v>180 seconds</c:v>
                </c:pt>
                <c:pt idx="6">
                  <c:v>210 seconds </c:v>
                </c:pt>
                <c:pt idx="7">
                  <c:v>240 seconds</c:v>
                </c:pt>
                <c:pt idx="8">
                  <c:v>270 seconds</c:v>
                </c:pt>
                <c:pt idx="9">
                  <c:v>300 seconds</c:v>
                </c:pt>
              </c:strCache>
            </c:strRef>
          </c:cat>
          <c:val>
            <c:numRef>
              <c:f>Sheet1!$B$2:$B$11</c:f>
              <c:numCache>
                <c:formatCode>General</c:formatCode>
                <c:ptCount val="10"/>
                <c:pt idx="0">
                  <c:v>4.5999999999999999E-2</c:v>
                </c:pt>
                <c:pt idx="1">
                  <c:v>4.9000000000000002E-2</c:v>
                </c:pt>
                <c:pt idx="2">
                  <c:v>4.7E-2</c:v>
                </c:pt>
                <c:pt idx="3">
                  <c:v>5.0999999999999997E-2</c:v>
                </c:pt>
                <c:pt idx="4">
                  <c:v>0.05</c:v>
                </c:pt>
                <c:pt idx="5">
                  <c:v>4.2999999999999997E-2</c:v>
                </c:pt>
                <c:pt idx="6">
                  <c:v>4.2000000000000003E-2</c:v>
                </c:pt>
                <c:pt idx="7">
                  <c:v>4.3999999999999997E-2</c:v>
                </c:pt>
                <c:pt idx="8">
                  <c:v>4.5999999999999999E-2</c:v>
                </c:pt>
                <c:pt idx="9">
                  <c:v>4.1000000000000002E-2</c:v>
                </c:pt>
              </c:numCache>
            </c:numRef>
          </c:val>
          <c:smooth val="0"/>
          <c:extLst>
            <c:ext xmlns:c16="http://schemas.microsoft.com/office/drawing/2014/chart" uri="{C3380CC4-5D6E-409C-BE32-E72D297353CC}">
              <c16:uniqueId val="{00000000-FA23-4482-ADCA-877BC8EF1727}"/>
            </c:ext>
          </c:extLst>
        </c:ser>
        <c:dLbls>
          <c:showLegendKey val="0"/>
          <c:showVal val="0"/>
          <c:showCatName val="0"/>
          <c:showSerName val="0"/>
          <c:showPercent val="0"/>
          <c:showBubbleSize val="0"/>
        </c:dLbls>
        <c:marker val="1"/>
        <c:smooth val="0"/>
        <c:axId val="550611424"/>
        <c:axId val="550612504"/>
      </c:lineChart>
      <c:catAx>
        <c:axId val="5506114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50612504"/>
        <c:crosses val="autoZero"/>
        <c:auto val="1"/>
        <c:lblAlgn val="ctr"/>
        <c:lblOffset val="100"/>
        <c:noMultiLvlLbl val="0"/>
      </c:catAx>
      <c:valAx>
        <c:axId val="550612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50611424"/>
        <c:crosses val="autoZero"/>
        <c:crossBetween val="between"/>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Potential Difference (In Volts)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9433698273435771E-2"/>
          <c:y val="0.17296540839551477"/>
          <c:w val="0.8988072718459803"/>
          <c:h val="0.56926115038416758"/>
        </c:manualLayout>
      </c:layout>
      <c:lineChart>
        <c:grouping val="stacked"/>
        <c:varyColors val="0"/>
        <c:ser>
          <c:idx val="2"/>
          <c:order val="0"/>
          <c:tx>
            <c:strRef>
              <c:f>Sheet1!$B$1</c:f>
              <c:strCache>
                <c:ptCount val="1"/>
                <c:pt idx="0">
                  <c:v>Potential Difference (In Joules)</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Sheet1!$A$2:$A$11</c:f>
              <c:strCache>
                <c:ptCount val="10"/>
                <c:pt idx="0">
                  <c:v>30 Seconds</c:v>
                </c:pt>
                <c:pt idx="1">
                  <c:v>60 Seconds</c:v>
                </c:pt>
                <c:pt idx="2">
                  <c:v>90 Seconds</c:v>
                </c:pt>
                <c:pt idx="3">
                  <c:v>120 Seconds</c:v>
                </c:pt>
                <c:pt idx="4">
                  <c:v>150 Seconds</c:v>
                </c:pt>
                <c:pt idx="5">
                  <c:v>180 Seconds</c:v>
                </c:pt>
                <c:pt idx="6">
                  <c:v>210 Seconds</c:v>
                </c:pt>
                <c:pt idx="7">
                  <c:v>240 Seconds</c:v>
                </c:pt>
                <c:pt idx="8">
                  <c:v>270 Seconds</c:v>
                </c:pt>
                <c:pt idx="9">
                  <c:v>300 Seconds</c:v>
                </c:pt>
              </c:strCache>
            </c:strRef>
          </c:cat>
          <c:val>
            <c:numRef>
              <c:f>Sheet1!$B$2:$B$11</c:f>
              <c:numCache>
                <c:formatCode>General</c:formatCode>
                <c:ptCount val="10"/>
                <c:pt idx="0">
                  <c:v>4.2</c:v>
                </c:pt>
                <c:pt idx="1">
                  <c:v>4.17</c:v>
                </c:pt>
                <c:pt idx="2">
                  <c:v>4.1500000000000004</c:v>
                </c:pt>
                <c:pt idx="3">
                  <c:v>4.18</c:v>
                </c:pt>
                <c:pt idx="4">
                  <c:v>4.1900000000000004</c:v>
                </c:pt>
                <c:pt idx="5">
                  <c:v>4.22</c:v>
                </c:pt>
                <c:pt idx="6">
                  <c:v>4.2300000000000004</c:v>
                </c:pt>
                <c:pt idx="7">
                  <c:v>4.21</c:v>
                </c:pt>
                <c:pt idx="8">
                  <c:v>4.18</c:v>
                </c:pt>
                <c:pt idx="9">
                  <c:v>4.1900000000000004</c:v>
                </c:pt>
              </c:numCache>
            </c:numRef>
          </c:val>
          <c:smooth val="0"/>
          <c:extLst>
            <c:ext xmlns:c16="http://schemas.microsoft.com/office/drawing/2014/chart" uri="{C3380CC4-5D6E-409C-BE32-E72D297353CC}">
              <c16:uniqueId val="{00000002-9D84-46BD-BE12-C05359DBC87D}"/>
            </c:ext>
          </c:extLst>
        </c:ser>
        <c:dLbls>
          <c:showLegendKey val="0"/>
          <c:showVal val="0"/>
          <c:showCatName val="0"/>
          <c:showSerName val="0"/>
          <c:showPercent val="0"/>
          <c:showBubbleSize val="0"/>
        </c:dLbls>
        <c:marker val="1"/>
        <c:smooth val="0"/>
        <c:axId val="686590480"/>
        <c:axId val="686586520"/>
      </c:lineChart>
      <c:catAx>
        <c:axId val="686590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86586520"/>
        <c:crosses val="autoZero"/>
        <c:auto val="1"/>
        <c:lblAlgn val="ctr"/>
        <c:lblOffset val="100"/>
        <c:noMultiLvlLbl val="0"/>
      </c:catAx>
      <c:valAx>
        <c:axId val="6865865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86590480"/>
        <c:crosses val="autoZero"/>
        <c:crossBetween val="between"/>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0" i="0" u="none" strike="noStrike" kern="1200" spc="0" normalizeH="0" baseline="0">
                <a:solidFill>
                  <a:schemeClr val="tx1">
                    <a:lumMod val="65000"/>
                    <a:lumOff val="35000"/>
                  </a:schemeClr>
                </a:solidFill>
                <a:latin typeface="+mj-lt"/>
                <a:ea typeface="+mj-ea"/>
                <a:cs typeface="+mj-cs"/>
              </a:defRPr>
            </a:pPr>
            <a:r>
              <a:rPr lang="en-US"/>
              <a:t>Power Input (W)</a:t>
            </a:r>
          </a:p>
        </c:rich>
      </c:tx>
      <c:layout>
        <c:manualLayout>
          <c:xMode val="edge"/>
          <c:yMode val="edge"/>
          <c:x val="5.0055325553729914E-2"/>
          <c:y val="1.6394551535433659E-2"/>
        </c:manualLayout>
      </c:layout>
      <c:overlay val="0"/>
      <c:spPr>
        <a:noFill/>
        <a:ln>
          <a:noFill/>
        </a:ln>
        <a:effectLst/>
      </c:spPr>
      <c:txPr>
        <a:bodyPr rot="0" spcFirstLastPara="1" vertOverflow="ellipsis" vert="horz" wrap="square" anchor="ctr" anchorCtr="1"/>
        <a:lstStyle/>
        <a:p>
          <a:pPr>
            <a:defRPr sz="2200" b="0" i="0" u="none" strike="noStrike" kern="1200" spc="0" normalizeH="0" baseline="0">
              <a:solidFill>
                <a:schemeClr val="tx1">
                  <a:lumMod val="65000"/>
                  <a:lumOff val="35000"/>
                </a:schemeClr>
              </a:solidFill>
              <a:latin typeface="+mj-lt"/>
              <a:ea typeface="+mj-ea"/>
              <a:cs typeface="+mj-cs"/>
            </a:defRPr>
          </a:pPr>
          <a:endParaRPr lang="en-US"/>
        </a:p>
      </c:txPr>
    </c:title>
    <c:autoTitleDeleted val="0"/>
    <c:plotArea>
      <c:layout>
        <c:manualLayout>
          <c:layoutTarget val="inner"/>
          <c:xMode val="edge"/>
          <c:yMode val="edge"/>
          <c:x val="9.625896780646076E-2"/>
          <c:y val="4.3200569215252213E-2"/>
          <c:w val="0.90794377460629916"/>
          <c:h val="0.82951139090112014"/>
        </c:manualLayout>
      </c:layout>
      <c:scatterChart>
        <c:scatterStyle val="lineMarker"/>
        <c:varyColors val="0"/>
        <c:ser>
          <c:idx val="1"/>
          <c:order val="0"/>
          <c:tx>
            <c:strRef>
              <c:f>Sheet1!$B$1</c:f>
              <c:strCache>
                <c:ptCount val="1"/>
                <c:pt idx="0">
                  <c:v>power input</c:v>
                </c:pt>
              </c:strCache>
            </c:strRef>
          </c:tx>
          <c:spPr>
            <a:ln w="25400" cap="flat" cmpd="dbl" algn="ctr">
              <a:solidFill>
                <a:schemeClr val="accent2">
                  <a:alpha val="50000"/>
                </a:schemeClr>
              </a:solidFill>
              <a:round/>
            </a:ln>
            <a:effectLst/>
          </c:spPr>
          <c:marker>
            <c:symbol val="none"/>
          </c:marker>
          <c:xVal>
            <c:numRef>
              <c:f>Sheet1!$A$2:$A$10</c:f>
              <c:numCache>
                <c:formatCode>General</c:formatCode>
                <c:ptCount val="9"/>
                <c:pt idx="0">
                  <c:v>0</c:v>
                </c:pt>
                <c:pt idx="1">
                  <c:v>2</c:v>
                </c:pt>
                <c:pt idx="2">
                  <c:v>4</c:v>
                </c:pt>
                <c:pt idx="3">
                  <c:v>6</c:v>
                </c:pt>
                <c:pt idx="4">
                  <c:v>8</c:v>
                </c:pt>
                <c:pt idx="5">
                  <c:v>10</c:v>
                </c:pt>
                <c:pt idx="6">
                  <c:v>11</c:v>
                </c:pt>
              </c:numCache>
            </c:numRef>
          </c:xVal>
          <c:yVal>
            <c:numRef>
              <c:f>Sheet1!$B$2:$B$10</c:f>
              <c:numCache>
                <c:formatCode>General</c:formatCode>
                <c:ptCount val="9"/>
                <c:pt idx="0">
                  <c:v>0</c:v>
                </c:pt>
                <c:pt idx="1">
                  <c:v>2E-3</c:v>
                </c:pt>
                <c:pt idx="2">
                  <c:v>0.02</c:v>
                </c:pt>
                <c:pt idx="3">
                  <c:v>6.8000000000000005E-2</c:v>
                </c:pt>
                <c:pt idx="4">
                  <c:v>0.16200000000000001</c:v>
                </c:pt>
                <c:pt idx="5">
                  <c:v>0.315</c:v>
                </c:pt>
                <c:pt idx="6">
                  <c:v>0.46200000000000002</c:v>
                </c:pt>
              </c:numCache>
            </c:numRef>
          </c:yVal>
          <c:smooth val="0"/>
          <c:extLst>
            <c:ext xmlns:c16="http://schemas.microsoft.com/office/drawing/2014/chart" uri="{C3380CC4-5D6E-409C-BE32-E72D297353CC}">
              <c16:uniqueId val="{00000000-6879-4760-9E2E-C9827759794B}"/>
            </c:ext>
          </c:extLst>
        </c:ser>
        <c:dLbls>
          <c:showLegendKey val="0"/>
          <c:showVal val="0"/>
          <c:showCatName val="0"/>
          <c:showSerName val="0"/>
          <c:showPercent val="0"/>
          <c:showBubbleSize val="0"/>
        </c:dLbls>
        <c:axId val="1493342079"/>
        <c:axId val="1497083967"/>
      </c:scatterChart>
      <c:valAx>
        <c:axId val="1493342079"/>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97083967"/>
        <c:crosses val="autoZero"/>
        <c:crossBetween val="midCat"/>
      </c:valAx>
      <c:valAx>
        <c:axId val="1497083967"/>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93342079"/>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5056339413578891"/>
          <c:y val="5.1440329218106996E-3"/>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9714377778234321E-2"/>
          <c:y val="3.5995792543365629E-2"/>
          <c:w val="0.98011225325637663"/>
          <c:h val="0.92848920493788556"/>
        </c:manualLayout>
      </c:layout>
      <c:lineChart>
        <c:grouping val="stacked"/>
        <c:varyColors val="0"/>
        <c:ser>
          <c:idx val="1"/>
          <c:order val="0"/>
          <c:tx>
            <c:strRef>
              <c:f>Sheet1!$B$1</c:f>
              <c:strCache>
                <c:ptCount val="1"/>
                <c:pt idx="0">
                  <c:v>Energy (In Joules)</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Sheet1!$A$2:$A$11</c:f>
              <c:strCache>
                <c:ptCount val="10"/>
                <c:pt idx="0">
                  <c:v>30 Seconds</c:v>
                </c:pt>
                <c:pt idx="1">
                  <c:v>60 Sseconds</c:v>
                </c:pt>
                <c:pt idx="2">
                  <c:v>90 Seconds</c:v>
                </c:pt>
                <c:pt idx="3">
                  <c:v>120 Seconds</c:v>
                </c:pt>
                <c:pt idx="4">
                  <c:v>150 Seconds</c:v>
                </c:pt>
                <c:pt idx="5">
                  <c:v>180 Seconds</c:v>
                </c:pt>
                <c:pt idx="6">
                  <c:v>210 Seconds</c:v>
                </c:pt>
                <c:pt idx="7">
                  <c:v>240 Seconds</c:v>
                </c:pt>
                <c:pt idx="8">
                  <c:v>270 Seconds</c:v>
                </c:pt>
                <c:pt idx="9">
                  <c:v>300 Seconds</c:v>
                </c:pt>
              </c:strCache>
            </c:strRef>
          </c:cat>
          <c:val>
            <c:numRef>
              <c:f>Sheet1!$B$2:$B$11</c:f>
              <c:numCache>
                <c:formatCode>General</c:formatCode>
                <c:ptCount val="10"/>
                <c:pt idx="0">
                  <c:v>5.79</c:v>
                </c:pt>
                <c:pt idx="1">
                  <c:v>11.92</c:v>
                </c:pt>
                <c:pt idx="2">
                  <c:v>17.77</c:v>
                </c:pt>
                <c:pt idx="3">
                  <c:v>24.17</c:v>
                </c:pt>
                <c:pt idx="4">
                  <c:v>30.46</c:v>
                </c:pt>
                <c:pt idx="5">
                  <c:v>36.28</c:v>
                </c:pt>
                <c:pt idx="6">
                  <c:v>41.61</c:v>
                </c:pt>
                <c:pt idx="7">
                  <c:v>47.17</c:v>
                </c:pt>
                <c:pt idx="8">
                  <c:v>52.94</c:v>
                </c:pt>
                <c:pt idx="9">
                  <c:v>58.09</c:v>
                </c:pt>
              </c:numCache>
            </c:numRef>
          </c:val>
          <c:smooth val="0"/>
          <c:extLst>
            <c:ext xmlns:c16="http://schemas.microsoft.com/office/drawing/2014/chart" uri="{C3380CC4-5D6E-409C-BE32-E72D297353CC}">
              <c16:uniqueId val="{00000001-52D1-4967-BB97-3B2D1393C1C7}"/>
            </c:ext>
          </c:extLst>
        </c:ser>
        <c:dLbls>
          <c:showLegendKey val="0"/>
          <c:showVal val="0"/>
          <c:showCatName val="0"/>
          <c:showSerName val="0"/>
          <c:showPercent val="0"/>
          <c:showBubbleSize val="0"/>
        </c:dLbls>
        <c:marker val="1"/>
        <c:smooth val="0"/>
        <c:axId val="445390984"/>
        <c:axId val="445392064"/>
      </c:lineChart>
      <c:catAx>
        <c:axId val="445390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45392064"/>
        <c:crossesAt val="0"/>
        <c:auto val="1"/>
        <c:lblAlgn val="ctr"/>
        <c:lblOffset val="100"/>
        <c:noMultiLvlLbl val="0"/>
      </c:catAx>
      <c:valAx>
        <c:axId val="445392064"/>
        <c:scaling>
          <c:orientation val="minMax"/>
          <c:max val="6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45390984"/>
        <c:crosses val="autoZero"/>
        <c:crossBetween val="between"/>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tx1">
        <a:lumMod val="65000"/>
        <a:lumOff val="35000"/>
      </a:schemeClr>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5400" cap="flat" cmpd="dbl" algn="ctr">
        <a:solidFill>
          <a:schemeClr val="phClr">
            <a:alpha val="50000"/>
          </a:schemeClr>
        </a:solidFill>
        <a:round/>
      </a:ln>
    </cs:spPr>
  </cs:dataPointLine>
  <cs:dataPointMarker>
    <cs:lnRef idx="0">
      <cs:styleClr val="auto"/>
    </cs:lnRef>
    <cs:fillRef idx="0">
      <cs:styleClr val="auto"/>
    </cs:fillRef>
    <cs:effectRef idx="0"/>
    <cs:fontRef idx="minor">
      <a:schemeClr val="dk1"/>
    </cs:fontRef>
    <cs:spPr>
      <a:ln w="34925" cap="flat" cmpd="dbl" algn="ctr">
        <a:solidFill>
          <a:schemeClr val="phClr">
            <a:lumMod val="75000"/>
            <a:alpha val="70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kern="1200" spc="0" normalizeH="0" baseline="0"/>
  </cs:title>
  <cs:trendline>
    <cs:lnRef idx="0">
      <cs:styleClr val="0"/>
    </cs:lnRef>
    <cs:fillRef idx="0"/>
    <cs:effectRef idx="0"/>
    <cs:fontRef idx="minor">
      <a:schemeClr val="tx1"/>
    </cs:fontRef>
    <cs:spPr>
      <a:ln w="38100" cap="rnd" cmpd="sng" algn="ctr">
        <a:solidFill>
          <a:schemeClr val="phClr">
            <a:lumMod val="75000"/>
            <a:alpha val="25000"/>
          </a:scheme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b="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0.41598</cdr:x>
      <cdr:y>0.61946</cdr:y>
    </cdr:from>
    <cdr:to>
      <cdr:x>0.54262</cdr:x>
      <cdr:y>0.85554</cdr:y>
    </cdr:to>
    <cdr:sp macro="" textlink="">
      <cdr:nvSpPr>
        <cdr:cNvPr id="2" name="TextBox 1">
          <a:extLst xmlns:a="http://schemas.openxmlformats.org/drawingml/2006/main">
            <a:ext uri="{FF2B5EF4-FFF2-40B4-BE49-F238E27FC236}">
              <a16:creationId xmlns:a16="http://schemas.microsoft.com/office/drawing/2014/main" id="{FA225C0D-85C9-415C-B700-DCAC30AF7E39}"/>
            </a:ext>
          </a:extLst>
        </cdr:cNvPr>
        <cdr:cNvSpPr txBox="1"/>
      </cdr:nvSpPr>
      <cdr:spPr>
        <a:xfrm xmlns:a="http://schemas.openxmlformats.org/drawingml/2006/main">
          <a:off x="1690317" y="1330300"/>
          <a:ext cx="514592" cy="50698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0.60212</cdr:x>
      <cdr:y>0.74499</cdr:y>
    </cdr:from>
    <cdr:to>
      <cdr:x>1</cdr:x>
      <cdr:y>0.92725</cdr:y>
    </cdr:to>
    <cdr:sp macro="" textlink="">
      <cdr:nvSpPr>
        <cdr:cNvPr id="3" name="TextBox 2">
          <a:extLst xmlns:a="http://schemas.openxmlformats.org/drawingml/2006/main">
            <a:ext uri="{FF2B5EF4-FFF2-40B4-BE49-F238E27FC236}">
              <a16:creationId xmlns:a16="http://schemas.microsoft.com/office/drawing/2014/main" id="{192000B6-FC3A-479C-B9E9-2F3912FA0360}"/>
            </a:ext>
          </a:extLst>
        </cdr:cNvPr>
        <cdr:cNvSpPr txBox="1"/>
      </cdr:nvSpPr>
      <cdr:spPr>
        <a:xfrm xmlns:a="http://schemas.openxmlformats.org/drawingml/2006/main">
          <a:off x="2704187" y="1782103"/>
          <a:ext cx="1786894" cy="43597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400" dirty="0">
              <a:solidFill>
                <a:schemeClr val="bg1">
                  <a:lumMod val="50000"/>
                </a:schemeClr>
              </a:solidFill>
            </a:rPr>
            <a:t>Wind velocity(m/s)</a:t>
          </a:r>
          <a:endParaRPr lang="en-US" sz="1100" dirty="0">
            <a:solidFill>
              <a:schemeClr val="bg1">
                <a:lumMod val="50000"/>
              </a:schemeClr>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DB497-8811-4E25-88FF-D64AED4BBA3B}" type="datetimeFigureOut">
              <a:rPr lang="en-US" smtClean="0"/>
              <a:t>4/27/2025</a:t>
            </a:fld>
            <a:endParaRPr lang="en-US"/>
          </a:p>
        </p:txBody>
      </p:sp>
      <p:sp>
        <p:nvSpPr>
          <p:cNvPr id="4" name="Slide Image Placeholder 3"/>
          <p:cNvSpPr>
            <a:spLocks noGrp="1" noRot="1" noChangeAspect="1"/>
          </p:cNvSpPr>
          <p:nvPr>
            <p:ph type="sldImg" idx="2"/>
          </p:nvPr>
        </p:nvSpPr>
        <p:spPr>
          <a:xfrm>
            <a:off x="1308100" y="1143000"/>
            <a:ext cx="4241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CE7DCB-9007-4A30-A9C5-F74B6A821A26}" type="slidenum">
              <a:rPr lang="en-US" smtClean="0"/>
              <a:t>‹#›</a:t>
            </a:fld>
            <a:endParaRPr lang="en-US"/>
          </a:p>
        </p:txBody>
      </p:sp>
    </p:spTree>
    <p:extLst>
      <p:ext uri="{BB962C8B-B14F-4D97-AF65-F5344CB8AC3E}">
        <p14:creationId xmlns:p14="http://schemas.microsoft.com/office/powerpoint/2010/main" val="3633051431"/>
      </p:ext>
    </p:extLst>
  </p:cSld>
  <p:clrMap bg1="lt1" tx1="dk1" bg2="lt2" tx2="dk2" accent1="accent1" accent2="accent2" accent3="accent3" accent4="accent4" accent5="accent5" accent6="accent6" hlink="hlink" folHlink="folHlink"/>
  <p:notesStyle>
    <a:lvl1pPr marL="0" algn="l" defTabSz="3283153" rtl="0" eaLnBrk="1" latinLnBrk="0" hangingPunct="1">
      <a:defRPr sz="4309" kern="1200">
        <a:solidFill>
          <a:schemeClr val="tx1"/>
        </a:solidFill>
        <a:latin typeface="+mn-lt"/>
        <a:ea typeface="+mn-ea"/>
        <a:cs typeface="+mn-cs"/>
      </a:defRPr>
    </a:lvl1pPr>
    <a:lvl2pPr marL="1641577" algn="l" defTabSz="3283153" rtl="0" eaLnBrk="1" latinLnBrk="0" hangingPunct="1">
      <a:defRPr sz="4309" kern="1200">
        <a:solidFill>
          <a:schemeClr val="tx1"/>
        </a:solidFill>
        <a:latin typeface="+mn-lt"/>
        <a:ea typeface="+mn-ea"/>
        <a:cs typeface="+mn-cs"/>
      </a:defRPr>
    </a:lvl2pPr>
    <a:lvl3pPr marL="3283153" algn="l" defTabSz="3283153" rtl="0" eaLnBrk="1" latinLnBrk="0" hangingPunct="1">
      <a:defRPr sz="4309" kern="1200">
        <a:solidFill>
          <a:schemeClr val="tx1"/>
        </a:solidFill>
        <a:latin typeface="+mn-lt"/>
        <a:ea typeface="+mn-ea"/>
        <a:cs typeface="+mn-cs"/>
      </a:defRPr>
    </a:lvl3pPr>
    <a:lvl4pPr marL="4924730" algn="l" defTabSz="3283153" rtl="0" eaLnBrk="1" latinLnBrk="0" hangingPunct="1">
      <a:defRPr sz="4309" kern="1200">
        <a:solidFill>
          <a:schemeClr val="tx1"/>
        </a:solidFill>
        <a:latin typeface="+mn-lt"/>
        <a:ea typeface="+mn-ea"/>
        <a:cs typeface="+mn-cs"/>
      </a:defRPr>
    </a:lvl4pPr>
    <a:lvl5pPr marL="6566306" algn="l" defTabSz="3283153" rtl="0" eaLnBrk="1" latinLnBrk="0" hangingPunct="1">
      <a:defRPr sz="4309" kern="1200">
        <a:solidFill>
          <a:schemeClr val="tx1"/>
        </a:solidFill>
        <a:latin typeface="+mn-lt"/>
        <a:ea typeface="+mn-ea"/>
        <a:cs typeface="+mn-cs"/>
      </a:defRPr>
    </a:lvl5pPr>
    <a:lvl6pPr marL="8207883" algn="l" defTabSz="3283153" rtl="0" eaLnBrk="1" latinLnBrk="0" hangingPunct="1">
      <a:defRPr sz="4309" kern="1200">
        <a:solidFill>
          <a:schemeClr val="tx1"/>
        </a:solidFill>
        <a:latin typeface="+mn-lt"/>
        <a:ea typeface="+mn-ea"/>
        <a:cs typeface="+mn-cs"/>
      </a:defRPr>
    </a:lvl6pPr>
    <a:lvl7pPr marL="9849460" algn="l" defTabSz="3283153" rtl="0" eaLnBrk="1" latinLnBrk="0" hangingPunct="1">
      <a:defRPr sz="4309" kern="1200">
        <a:solidFill>
          <a:schemeClr val="tx1"/>
        </a:solidFill>
        <a:latin typeface="+mn-lt"/>
        <a:ea typeface="+mn-ea"/>
        <a:cs typeface="+mn-cs"/>
      </a:defRPr>
    </a:lvl7pPr>
    <a:lvl8pPr marL="11491036" algn="l" defTabSz="3283153" rtl="0" eaLnBrk="1" latinLnBrk="0" hangingPunct="1">
      <a:defRPr sz="4309" kern="1200">
        <a:solidFill>
          <a:schemeClr val="tx1"/>
        </a:solidFill>
        <a:latin typeface="+mn-lt"/>
        <a:ea typeface="+mn-ea"/>
        <a:cs typeface="+mn-cs"/>
      </a:defRPr>
    </a:lvl8pPr>
    <a:lvl9pPr marL="13132613" algn="l" defTabSz="3283153" rtl="0" eaLnBrk="1" latinLnBrk="0" hangingPunct="1">
      <a:defRPr sz="4309"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CBCC4-E84F-1DF5-9E6C-FF9E241A3371}"/>
              </a:ext>
            </a:extLst>
          </p:cNvPr>
          <p:cNvSpPr>
            <a:spLocks noGrp="1"/>
          </p:cNvSpPr>
          <p:nvPr>
            <p:ph type="ctrTitle"/>
          </p:nvPr>
        </p:nvSpPr>
        <p:spPr>
          <a:xfrm>
            <a:off x="4950024" y="4713405"/>
            <a:ext cx="29700141" cy="10026815"/>
          </a:xfrm>
        </p:spPr>
        <p:txBody>
          <a:bodyPr anchor="b"/>
          <a:lstStyle>
            <a:lvl1pPr algn="ctr">
              <a:defRPr sz="19489"/>
            </a:lvl1pPr>
          </a:lstStyle>
          <a:p>
            <a:r>
              <a:rPr lang="en-US"/>
              <a:t>Click to edit Master title style</a:t>
            </a:r>
          </a:p>
        </p:txBody>
      </p:sp>
      <p:sp>
        <p:nvSpPr>
          <p:cNvPr id="3" name="Subtitle 2">
            <a:extLst>
              <a:ext uri="{FF2B5EF4-FFF2-40B4-BE49-F238E27FC236}">
                <a16:creationId xmlns:a16="http://schemas.microsoft.com/office/drawing/2014/main" id="{C7FE9322-A2A9-C50C-C7C8-33119AB2C2A3}"/>
              </a:ext>
            </a:extLst>
          </p:cNvPr>
          <p:cNvSpPr>
            <a:spLocks noGrp="1"/>
          </p:cNvSpPr>
          <p:nvPr>
            <p:ph type="subTitle" idx="1"/>
          </p:nvPr>
        </p:nvSpPr>
        <p:spPr>
          <a:xfrm>
            <a:off x="4950024" y="15126892"/>
            <a:ext cx="29700141" cy="6953434"/>
          </a:xfrm>
        </p:spPr>
        <p:txBody>
          <a:bodyPr/>
          <a:lstStyle>
            <a:lvl1pPr marL="0" indent="0" algn="ctr">
              <a:buNone/>
              <a:defRPr sz="7796"/>
            </a:lvl1pPr>
            <a:lvl2pPr marL="1485030" indent="0" algn="ctr">
              <a:buNone/>
              <a:defRPr sz="6496"/>
            </a:lvl2pPr>
            <a:lvl3pPr marL="2970059" indent="0" algn="ctr">
              <a:buNone/>
              <a:defRPr sz="5846"/>
            </a:lvl3pPr>
            <a:lvl4pPr marL="4455089" indent="0" algn="ctr">
              <a:buNone/>
              <a:defRPr sz="5197"/>
            </a:lvl4pPr>
            <a:lvl5pPr marL="5940117" indent="0" algn="ctr">
              <a:buNone/>
              <a:defRPr sz="5197"/>
            </a:lvl5pPr>
            <a:lvl6pPr marL="7425147" indent="0" algn="ctr">
              <a:buNone/>
              <a:defRPr sz="5197"/>
            </a:lvl6pPr>
            <a:lvl7pPr marL="8910177" indent="0" algn="ctr">
              <a:buNone/>
              <a:defRPr sz="5197"/>
            </a:lvl7pPr>
            <a:lvl8pPr marL="10395206" indent="0" algn="ctr">
              <a:buNone/>
              <a:defRPr sz="5197"/>
            </a:lvl8pPr>
            <a:lvl9pPr marL="11880236" indent="0" algn="ctr">
              <a:buNone/>
              <a:defRPr sz="5197"/>
            </a:lvl9pPr>
          </a:lstStyle>
          <a:p>
            <a:r>
              <a:rPr lang="en-US"/>
              <a:t>Click to edit Master subtitle style</a:t>
            </a:r>
          </a:p>
        </p:txBody>
      </p:sp>
      <p:sp>
        <p:nvSpPr>
          <p:cNvPr id="4" name="Date Placeholder 3">
            <a:extLst>
              <a:ext uri="{FF2B5EF4-FFF2-40B4-BE49-F238E27FC236}">
                <a16:creationId xmlns:a16="http://schemas.microsoft.com/office/drawing/2014/main" id="{A2E798AF-EEE2-5A16-16AE-188109FC97E6}"/>
              </a:ext>
            </a:extLst>
          </p:cNvPr>
          <p:cNvSpPr>
            <a:spLocks noGrp="1"/>
          </p:cNvSpPr>
          <p:nvPr>
            <p:ph type="dt" sz="half" idx="10"/>
          </p:nvPr>
        </p:nvSpPr>
        <p:spPr/>
        <p:txBody>
          <a:bodyPr/>
          <a:lstStyle/>
          <a:p>
            <a:fld id="{678A8508-1DC0-4C03-B230-FA6C7E63560F}" type="datetimeFigureOut">
              <a:rPr lang="en-US" smtClean="0"/>
              <a:t>4/27/2025</a:t>
            </a:fld>
            <a:endParaRPr lang="en-US"/>
          </a:p>
        </p:txBody>
      </p:sp>
      <p:sp>
        <p:nvSpPr>
          <p:cNvPr id="5" name="Footer Placeholder 4">
            <a:extLst>
              <a:ext uri="{FF2B5EF4-FFF2-40B4-BE49-F238E27FC236}">
                <a16:creationId xmlns:a16="http://schemas.microsoft.com/office/drawing/2014/main" id="{3909D240-E053-5A12-D25F-BA0348E47D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A73F18-87C9-9899-886B-980DE80A78B6}"/>
              </a:ext>
            </a:extLst>
          </p:cNvPr>
          <p:cNvSpPr>
            <a:spLocks noGrp="1"/>
          </p:cNvSpPr>
          <p:nvPr>
            <p:ph type="sldNum" sz="quarter" idx="12"/>
          </p:nvPr>
        </p:nvSpPr>
        <p:spPr/>
        <p:txBody>
          <a:bodyPr/>
          <a:lstStyle/>
          <a:p>
            <a:fld id="{8B465FFD-28A4-44A8-9FDB-7C6CF903437D}" type="slidenum">
              <a:rPr lang="en-US" smtClean="0"/>
              <a:t>‹#›</a:t>
            </a:fld>
            <a:endParaRPr lang="en-US"/>
          </a:p>
        </p:txBody>
      </p:sp>
    </p:spTree>
    <p:extLst>
      <p:ext uri="{BB962C8B-B14F-4D97-AF65-F5344CB8AC3E}">
        <p14:creationId xmlns:p14="http://schemas.microsoft.com/office/powerpoint/2010/main" val="24194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270D2-01F0-4C4B-4A6C-4C670DE8CA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6F14E3-DE78-4EB2-C6FE-0473629442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803215-F4DC-6624-27B8-BB9509697F81}"/>
              </a:ext>
            </a:extLst>
          </p:cNvPr>
          <p:cNvSpPr>
            <a:spLocks noGrp="1"/>
          </p:cNvSpPr>
          <p:nvPr>
            <p:ph type="dt" sz="half" idx="10"/>
          </p:nvPr>
        </p:nvSpPr>
        <p:spPr/>
        <p:txBody>
          <a:bodyPr/>
          <a:lstStyle/>
          <a:p>
            <a:fld id="{678A8508-1DC0-4C03-B230-FA6C7E63560F}" type="datetimeFigureOut">
              <a:rPr lang="en-US" smtClean="0"/>
              <a:t>4/27/2025</a:t>
            </a:fld>
            <a:endParaRPr lang="en-US"/>
          </a:p>
        </p:txBody>
      </p:sp>
      <p:sp>
        <p:nvSpPr>
          <p:cNvPr id="5" name="Footer Placeholder 4">
            <a:extLst>
              <a:ext uri="{FF2B5EF4-FFF2-40B4-BE49-F238E27FC236}">
                <a16:creationId xmlns:a16="http://schemas.microsoft.com/office/drawing/2014/main" id="{D8D2AB52-E2F9-B933-980D-EF5E908515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069CA-797A-A51C-5F0C-61CA3227B532}"/>
              </a:ext>
            </a:extLst>
          </p:cNvPr>
          <p:cNvSpPr>
            <a:spLocks noGrp="1"/>
          </p:cNvSpPr>
          <p:nvPr>
            <p:ph type="sldNum" sz="quarter" idx="12"/>
          </p:nvPr>
        </p:nvSpPr>
        <p:spPr/>
        <p:txBody>
          <a:bodyPr/>
          <a:lstStyle/>
          <a:p>
            <a:fld id="{8B465FFD-28A4-44A8-9FDB-7C6CF903437D}" type="slidenum">
              <a:rPr lang="en-US" smtClean="0"/>
              <a:t>‹#›</a:t>
            </a:fld>
            <a:endParaRPr lang="en-US"/>
          </a:p>
        </p:txBody>
      </p:sp>
    </p:spTree>
    <p:extLst>
      <p:ext uri="{BB962C8B-B14F-4D97-AF65-F5344CB8AC3E}">
        <p14:creationId xmlns:p14="http://schemas.microsoft.com/office/powerpoint/2010/main" val="317663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C997A-B5B2-FFD9-1050-1C0B5442AD8F}"/>
              </a:ext>
            </a:extLst>
          </p:cNvPr>
          <p:cNvSpPr>
            <a:spLocks noGrp="1"/>
          </p:cNvSpPr>
          <p:nvPr>
            <p:ph type="title"/>
          </p:nvPr>
        </p:nvSpPr>
        <p:spPr>
          <a:xfrm>
            <a:off x="2701888" y="7180110"/>
            <a:ext cx="34155163" cy="11980175"/>
          </a:xfrm>
        </p:spPr>
        <p:txBody>
          <a:bodyPr anchor="b"/>
          <a:lstStyle>
            <a:lvl1pPr>
              <a:defRPr sz="19489"/>
            </a:lvl1pPr>
          </a:lstStyle>
          <a:p>
            <a:r>
              <a:rPr lang="en-US"/>
              <a:t>Click to edit Master title style</a:t>
            </a:r>
          </a:p>
        </p:txBody>
      </p:sp>
      <p:sp>
        <p:nvSpPr>
          <p:cNvPr id="3" name="Text Placeholder 2">
            <a:extLst>
              <a:ext uri="{FF2B5EF4-FFF2-40B4-BE49-F238E27FC236}">
                <a16:creationId xmlns:a16="http://schemas.microsoft.com/office/drawing/2014/main" id="{04C845E8-D4AE-9888-C78F-03AEDCEB5DBE}"/>
              </a:ext>
            </a:extLst>
          </p:cNvPr>
          <p:cNvSpPr>
            <a:spLocks noGrp="1"/>
          </p:cNvSpPr>
          <p:nvPr>
            <p:ph type="body" idx="1"/>
          </p:nvPr>
        </p:nvSpPr>
        <p:spPr>
          <a:xfrm>
            <a:off x="2701888" y="19273623"/>
            <a:ext cx="34155163" cy="6300091"/>
          </a:xfrm>
        </p:spPr>
        <p:txBody>
          <a:bodyPr/>
          <a:lstStyle>
            <a:lvl1pPr marL="0" indent="0">
              <a:buNone/>
              <a:defRPr sz="7796">
                <a:solidFill>
                  <a:schemeClr val="tx1">
                    <a:tint val="82000"/>
                  </a:schemeClr>
                </a:solidFill>
              </a:defRPr>
            </a:lvl1pPr>
            <a:lvl2pPr marL="1485030" indent="0">
              <a:buNone/>
              <a:defRPr sz="6496">
                <a:solidFill>
                  <a:schemeClr val="tx1">
                    <a:tint val="82000"/>
                  </a:schemeClr>
                </a:solidFill>
              </a:defRPr>
            </a:lvl2pPr>
            <a:lvl3pPr marL="2970059" indent="0">
              <a:buNone/>
              <a:defRPr sz="5846">
                <a:solidFill>
                  <a:schemeClr val="tx1">
                    <a:tint val="82000"/>
                  </a:schemeClr>
                </a:solidFill>
              </a:defRPr>
            </a:lvl3pPr>
            <a:lvl4pPr marL="4455089" indent="0">
              <a:buNone/>
              <a:defRPr sz="5197">
                <a:solidFill>
                  <a:schemeClr val="tx1">
                    <a:tint val="82000"/>
                  </a:schemeClr>
                </a:solidFill>
              </a:defRPr>
            </a:lvl4pPr>
            <a:lvl5pPr marL="5940117" indent="0">
              <a:buNone/>
              <a:defRPr sz="5197">
                <a:solidFill>
                  <a:schemeClr val="tx1">
                    <a:tint val="82000"/>
                  </a:schemeClr>
                </a:solidFill>
              </a:defRPr>
            </a:lvl5pPr>
            <a:lvl6pPr marL="7425147" indent="0">
              <a:buNone/>
              <a:defRPr sz="5197">
                <a:solidFill>
                  <a:schemeClr val="tx1">
                    <a:tint val="82000"/>
                  </a:schemeClr>
                </a:solidFill>
              </a:defRPr>
            </a:lvl6pPr>
            <a:lvl7pPr marL="8910177" indent="0">
              <a:buNone/>
              <a:defRPr sz="5197">
                <a:solidFill>
                  <a:schemeClr val="tx1">
                    <a:tint val="82000"/>
                  </a:schemeClr>
                </a:solidFill>
              </a:defRPr>
            </a:lvl7pPr>
            <a:lvl8pPr marL="10395206" indent="0">
              <a:buNone/>
              <a:defRPr sz="5197">
                <a:solidFill>
                  <a:schemeClr val="tx1">
                    <a:tint val="82000"/>
                  </a:schemeClr>
                </a:solidFill>
              </a:defRPr>
            </a:lvl8pPr>
            <a:lvl9pPr marL="11880236" indent="0">
              <a:buNone/>
              <a:defRPr sz="5197">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245BF3-747C-9639-CB3A-EB29B03DB8D5}"/>
              </a:ext>
            </a:extLst>
          </p:cNvPr>
          <p:cNvSpPr>
            <a:spLocks noGrp="1"/>
          </p:cNvSpPr>
          <p:nvPr>
            <p:ph type="dt" sz="half" idx="10"/>
          </p:nvPr>
        </p:nvSpPr>
        <p:spPr/>
        <p:txBody>
          <a:bodyPr/>
          <a:lstStyle/>
          <a:p>
            <a:fld id="{678A8508-1DC0-4C03-B230-FA6C7E63560F}" type="datetimeFigureOut">
              <a:rPr lang="en-US" smtClean="0"/>
              <a:t>4/27/2025</a:t>
            </a:fld>
            <a:endParaRPr lang="en-US"/>
          </a:p>
        </p:txBody>
      </p:sp>
      <p:sp>
        <p:nvSpPr>
          <p:cNvPr id="5" name="Footer Placeholder 4">
            <a:extLst>
              <a:ext uri="{FF2B5EF4-FFF2-40B4-BE49-F238E27FC236}">
                <a16:creationId xmlns:a16="http://schemas.microsoft.com/office/drawing/2014/main" id="{122B7974-F3A7-BFF6-6AB4-8208BA1CC1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B15CA8-4B78-F687-E985-2EF145A32C70}"/>
              </a:ext>
            </a:extLst>
          </p:cNvPr>
          <p:cNvSpPr>
            <a:spLocks noGrp="1"/>
          </p:cNvSpPr>
          <p:nvPr>
            <p:ph type="sldNum" sz="quarter" idx="12"/>
          </p:nvPr>
        </p:nvSpPr>
        <p:spPr/>
        <p:txBody>
          <a:bodyPr/>
          <a:lstStyle/>
          <a:p>
            <a:fld id="{8B465FFD-28A4-44A8-9FDB-7C6CF903437D}" type="slidenum">
              <a:rPr lang="en-US" smtClean="0"/>
              <a:t>‹#›</a:t>
            </a:fld>
            <a:endParaRPr lang="en-US"/>
          </a:p>
        </p:txBody>
      </p:sp>
    </p:spTree>
    <p:extLst>
      <p:ext uri="{BB962C8B-B14F-4D97-AF65-F5344CB8AC3E}">
        <p14:creationId xmlns:p14="http://schemas.microsoft.com/office/powerpoint/2010/main" val="566632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768F9-8FC0-6CDC-0186-BBC8B9C960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2556CE-650D-1388-D054-8B8A24FB87B0}"/>
              </a:ext>
            </a:extLst>
          </p:cNvPr>
          <p:cNvSpPr>
            <a:spLocks noGrp="1"/>
          </p:cNvSpPr>
          <p:nvPr>
            <p:ph sz="half" idx="1"/>
          </p:nvPr>
        </p:nvSpPr>
        <p:spPr>
          <a:xfrm>
            <a:off x="2722513" y="7666780"/>
            <a:ext cx="16830080" cy="182736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BE4F50-B84A-7176-C6AD-36C939ED54A6}"/>
              </a:ext>
            </a:extLst>
          </p:cNvPr>
          <p:cNvSpPr>
            <a:spLocks noGrp="1"/>
          </p:cNvSpPr>
          <p:nvPr>
            <p:ph sz="half" idx="2"/>
          </p:nvPr>
        </p:nvSpPr>
        <p:spPr>
          <a:xfrm>
            <a:off x="20047595" y="7666780"/>
            <a:ext cx="16830080" cy="182736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881AC2-7424-28A8-8F4D-4CA37BB6AA14}"/>
              </a:ext>
            </a:extLst>
          </p:cNvPr>
          <p:cNvSpPr>
            <a:spLocks noGrp="1"/>
          </p:cNvSpPr>
          <p:nvPr>
            <p:ph type="dt" sz="half" idx="10"/>
          </p:nvPr>
        </p:nvSpPr>
        <p:spPr/>
        <p:txBody>
          <a:bodyPr/>
          <a:lstStyle/>
          <a:p>
            <a:fld id="{678A8508-1DC0-4C03-B230-FA6C7E63560F}" type="datetimeFigureOut">
              <a:rPr lang="en-US" smtClean="0"/>
              <a:t>4/27/2025</a:t>
            </a:fld>
            <a:endParaRPr lang="en-US"/>
          </a:p>
        </p:txBody>
      </p:sp>
      <p:sp>
        <p:nvSpPr>
          <p:cNvPr id="6" name="Footer Placeholder 5">
            <a:extLst>
              <a:ext uri="{FF2B5EF4-FFF2-40B4-BE49-F238E27FC236}">
                <a16:creationId xmlns:a16="http://schemas.microsoft.com/office/drawing/2014/main" id="{AA5DEE46-533A-82C3-83B6-C1497E1E45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B2DE14-4E92-18BD-3B27-784D24B4F485}"/>
              </a:ext>
            </a:extLst>
          </p:cNvPr>
          <p:cNvSpPr>
            <a:spLocks noGrp="1"/>
          </p:cNvSpPr>
          <p:nvPr>
            <p:ph type="sldNum" sz="quarter" idx="12"/>
          </p:nvPr>
        </p:nvSpPr>
        <p:spPr/>
        <p:txBody>
          <a:bodyPr/>
          <a:lstStyle/>
          <a:p>
            <a:fld id="{8B465FFD-28A4-44A8-9FDB-7C6CF903437D}" type="slidenum">
              <a:rPr lang="en-US" smtClean="0"/>
              <a:t>‹#›</a:t>
            </a:fld>
            <a:endParaRPr lang="en-US"/>
          </a:p>
        </p:txBody>
      </p:sp>
    </p:spTree>
    <p:extLst>
      <p:ext uri="{BB962C8B-B14F-4D97-AF65-F5344CB8AC3E}">
        <p14:creationId xmlns:p14="http://schemas.microsoft.com/office/powerpoint/2010/main" val="4118540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1D4FD-E1A1-3879-A854-AE9B88170F95}"/>
              </a:ext>
            </a:extLst>
          </p:cNvPr>
          <p:cNvSpPr>
            <a:spLocks noGrp="1"/>
          </p:cNvSpPr>
          <p:nvPr>
            <p:ph type="title"/>
          </p:nvPr>
        </p:nvSpPr>
        <p:spPr>
          <a:xfrm>
            <a:off x="2727671" y="1533359"/>
            <a:ext cx="34155163" cy="55667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159E2B-36E2-138C-7589-26D8F605AD80}"/>
              </a:ext>
            </a:extLst>
          </p:cNvPr>
          <p:cNvSpPr>
            <a:spLocks noGrp="1"/>
          </p:cNvSpPr>
          <p:nvPr>
            <p:ph type="body" idx="1"/>
          </p:nvPr>
        </p:nvSpPr>
        <p:spPr>
          <a:xfrm>
            <a:off x="2727674" y="7060107"/>
            <a:ext cx="16752734" cy="3460049"/>
          </a:xfrm>
        </p:spPr>
        <p:txBody>
          <a:bodyPr anchor="b"/>
          <a:lstStyle>
            <a:lvl1pPr marL="0" indent="0">
              <a:buNone/>
              <a:defRPr sz="7796" b="1"/>
            </a:lvl1pPr>
            <a:lvl2pPr marL="1485030" indent="0">
              <a:buNone/>
              <a:defRPr sz="6496" b="1"/>
            </a:lvl2pPr>
            <a:lvl3pPr marL="2970059" indent="0">
              <a:buNone/>
              <a:defRPr sz="5846" b="1"/>
            </a:lvl3pPr>
            <a:lvl4pPr marL="4455089" indent="0">
              <a:buNone/>
              <a:defRPr sz="5197" b="1"/>
            </a:lvl4pPr>
            <a:lvl5pPr marL="5940117" indent="0">
              <a:buNone/>
              <a:defRPr sz="5197" b="1"/>
            </a:lvl5pPr>
            <a:lvl6pPr marL="7425147" indent="0">
              <a:buNone/>
              <a:defRPr sz="5197" b="1"/>
            </a:lvl6pPr>
            <a:lvl7pPr marL="8910177" indent="0">
              <a:buNone/>
              <a:defRPr sz="5197" b="1"/>
            </a:lvl7pPr>
            <a:lvl8pPr marL="10395206" indent="0">
              <a:buNone/>
              <a:defRPr sz="5197" b="1"/>
            </a:lvl8pPr>
            <a:lvl9pPr marL="11880236" indent="0">
              <a:buNone/>
              <a:defRPr sz="5197" b="1"/>
            </a:lvl9pPr>
          </a:lstStyle>
          <a:p>
            <a:pPr lvl="0"/>
            <a:r>
              <a:rPr lang="en-US"/>
              <a:t>Click to edit Master text styles</a:t>
            </a:r>
          </a:p>
        </p:txBody>
      </p:sp>
      <p:sp>
        <p:nvSpPr>
          <p:cNvPr id="4" name="Content Placeholder 3">
            <a:extLst>
              <a:ext uri="{FF2B5EF4-FFF2-40B4-BE49-F238E27FC236}">
                <a16:creationId xmlns:a16="http://schemas.microsoft.com/office/drawing/2014/main" id="{09B3EA0F-D7BB-1E0B-E462-2F4B8943AC8A}"/>
              </a:ext>
            </a:extLst>
          </p:cNvPr>
          <p:cNvSpPr>
            <a:spLocks noGrp="1"/>
          </p:cNvSpPr>
          <p:nvPr>
            <p:ph sz="half" idx="2"/>
          </p:nvPr>
        </p:nvSpPr>
        <p:spPr>
          <a:xfrm>
            <a:off x="2727674" y="10520155"/>
            <a:ext cx="16752734" cy="154735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E98E52-AC38-34E5-E703-0C038EDA81BF}"/>
              </a:ext>
            </a:extLst>
          </p:cNvPr>
          <p:cNvSpPr>
            <a:spLocks noGrp="1"/>
          </p:cNvSpPr>
          <p:nvPr>
            <p:ph type="body" sz="quarter" idx="3"/>
          </p:nvPr>
        </p:nvSpPr>
        <p:spPr>
          <a:xfrm>
            <a:off x="20047595" y="7060107"/>
            <a:ext cx="16835238" cy="3460049"/>
          </a:xfrm>
        </p:spPr>
        <p:txBody>
          <a:bodyPr anchor="b"/>
          <a:lstStyle>
            <a:lvl1pPr marL="0" indent="0">
              <a:buNone/>
              <a:defRPr sz="7796" b="1"/>
            </a:lvl1pPr>
            <a:lvl2pPr marL="1485030" indent="0">
              <a:buNone/>
              <a:defRPr sz="6496" b="1"/>
            </a:lvl2pPr>
            <a:lvl3pPr marL="2970059" indent="0">
              <a:buNone/>
              <a:defRPr sz="5846" b="1"/>
            </a:lvl3pPr>
            <a:lvl4pPr marL="4455089" indent="0">
              <a:buNone/>
              <a:defRPr sz="5197" b="1"/>
            </a:lvl4pPr>
            <a:lvl5pPr marL="5940117" indent="0">
              <a:buNone/>
              <a:defRPr sz="5197" b="1"/>
            </a:lvl5pPr>
            <a:lvl6pPr marL="7425147" indent="0">
              <a:buNone/>
              <a:defRPr sz="5197" b="1"/>
            </a:lvl6pPr>
            <a:lvl7pPr marL="8910177" indent="0">
              <a:buNone/>
              <a:defRPr sz="5197" b="1"/>
            </a:lvl7pPr>
            <a:lvl8pPr marL="10395206" indent="0">
              <a:buNone/>
              <a:defRPr sz="5197" b="1"/>
            </a:lvl8pPr>
            <a:lvl9pPr marL="11880236" indent="0">
              <a:buNone/>
              <a:defRPr sz="5197" b="1"/>
            </a:lvl9pPr>
          </a:lstStyle>
          <a:p>
            <a:pPr lvl="0"/>
            <a:r>
              <a:rPr lang="en-US"/>
              <a:t>Click to edit Master text styles</a:t>
            </a:r>
          </a:p>
        </p:txBody>
      </p:sp>
      <p:sp>
        <p:nvSpPr>
          <p:cNvPr id="6" name="Content Placeholder 5">
            <a:extLst>
              <a:ext uri="{FF2B5EF4-FFF2-40B4-BE49-F238E27FC236}">
                <a16:creationId xmlns:a16="http://schemas.microsoft.com/office/drawing/2014/main" id="{ED3975AE-437E-19BB-E6ED-689367CD7F14}"/>
              </a:ext>
            </a:extLst>
          </p:cNvPr>
          <p:cNvSpPr>
            <a:spLocks noGrp="1"/>
          </p:cNvSpPr>
          <p:nvPr>
            <p:ph sz="quarter" idx="4"/>
          </p:nvPr>
        </p:nvSpPr>
        <p:spPr>
          <a:xfrm>
            <a:off x="20047595" y="10520155"/>
            <a:ext cx="16835238" cy="154735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11E61A-3A84-2F9A-1070-6E1D24C578C2}"/>
              </a:ext>
            </a:extLst>
          </p:cNvPr>
          <p:cNvSpPr>
            <a:spLocks noGrp="1"/>
          </p:cNvSpPr>
          <p:nvPr>
            <p:ph type="dt" sz="half" idx="10"/>
          </p:nvPr>
        </p:nvSpPr>
        <p:spPr/>
        <p:txBody>
          <a:bodyPr/>
          <a:lstStyle/>
          <a:p>
            <a:fld id="{678A8508-1DC0-4C03-B230-FA6C7E63560F}" type="datetimeFigureOut">
              <a:rPr lang="en-US" smtClean="0"/>
              <a:t>4/27/2025</a:t>
            </a:fld>
            <a:endParaRPr lang="en-US"/>
          </a:p>
        </p:txBody>
      </p:sp>
      <p:sp>
        <p:nvSpPr>
          <p:cNvPr id="8" name="Footer Placeholder 7">
            <a:extLst>
              <a:ext uri="{FF2B5EF4-FFF2-40B4-BE49-F238E27FC236}">
                <a16:creationId xmlns:a16="http://schemas.microsoft.com/office/drawing/2014/main" id="{2714CBD0-DD6A-AF9F-5840-91B83B0653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71E6ED-CE9F-B587-E8FD-EE0E77858F89}"/>
              </a:ext>
            </a:extLst>
          </p:cNvPr>
          <p:cNvSpPr>
            <a:spLocks noGrp="1"/>
          </p:cNvSpPr>
          <p:nvPr>
            <p:ph type="sldNum" sz="quarter" idx="12"/>
          </p:nvPr>
        </p:nvSpPr>
        <p:spPr/>
        <p:txBody>
          <a:bodyPr/>
          <a:lstStyle/>
          <a:p>
            <a:fld id="{8B465FFD-28A4-44A8-9FDB-7C6CF903437D}" type="slidenum">
              <a:rPr lang="en-US" smtClean="0"/>
              <a:t>‹#›</a:t>
            </a:fld>
            <a:endParaRPr lang="en-US"/>
          </a:p>
        </p:txBody>
      </p:sp>
    </p:spTree>
    <p:extLst>
      <p:ext uri="{BB962C8B-B14F-4D97-AF65-F5344CB8AC3E}">
        <p14:creationId xmlns:p14="http://schemas.microsoft.com/office/powerpoint/2010/main" val="4166514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BE954-6A1A-EAE5-31C1-AC85372D69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BF99F82-F95E-3272-703C-A4B446777BB8}"/>
              </a:ext>
            </a:extLst>
          </p:cNvPr>
          <p:cNvSpPr>
            <a:spLocks noGrp="1"/>
          </p:cNvSpPr>
          <p:nvPr>
            <p:ph type="dt" sz="half" idx="10"/>
          </p:nvPr>
        </p:nvSpPr>
        <p:spPr/>
        <p:txBody>
          <a:bodyPr/>
          <a:lstStyle/>
          <a:p>
            <a:fld id="{678A8508-1DC0-4C03-B230-FA6C7E63560F}" type="datetimeFigureOut">
              <a:rPr lang="en-US" smtClean="0"/>
              <a:t>4/27/2025</a:t>
            </a:fld>
            <a:endParaRPr lang="en-US"/>
          </a:p>
        </p:txBody>
      </p:sp>
      <p:sp>
        <p:nvSpPr>
          <p:cNvPr id="4" name="Footer Placeholder 3">
            <a:extLst>
              <a:ext uri="{FF2B5EF4-FFF2-40B4-BE49-F238E27FC236}">
                <a16:creationId xmlns:a16="http://schemas.microsoft.com/office/drawing/2014/main" id="{EA97B93E-2386-2468-ED95-93ADAE207D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E18A74-A318-FDC2-1C83-8EE2A6183309}"/>
              </a:ext>
            </a:extLst>
          </p:cNvPr>
          <p:cNvSpPr>
            <a:spLocks noGrp="1"/>
          </p:cNvSpPr>
          <p:nvPr>
            <p:ph type="sldNum" sz="quarter" idx="12"/>
          </p:nvPr>
        </p:nvSpPr>
        <p:spPr/>
        <p:txBody>
          <a:bodyPr/>
          <a:lstStyle/>
          <a:p>
            <a:fld id="{8B465FFD-28A4-44A8-9FDB-7C6CF903437D}" type="slidenum">
              <a:rPr lang="en-US" smtClean="0"/>
              <a:t>‹#›</a:t>
            </a:fld>
            <a:endParaRPr lang="en-US"/>
          </a:p>
        </p:txBody>
      </p:sp>
    </p:spTree>
    <p:extLst>
      <p:ext uri="{BB962C8B-B14F-4D97-AF65-F5344CB8AC3E}">
        <p14:creationId xmlns:p14="http://schemas.microsoft.com/office/powerpoint/2010/main" val="1203175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550023-7BB3-A8E8-34B9-0549353B12E4}"/>
              </a:ext>
            </a:extLst>
          </p:cNvPr>
          <p:cNvSpPr>
            <a:spLocks noGrp="1"/>
          </p:cNvSpPr>
          <p:nvPr>
            <p:ph type="dt" sz="half" idx="10"/>
          </p:nvPr>
        </p:nvSpPr>
        <p:spPr/>
        <p:txBody>
          <a:bodyPr/>
          <a:lstStyle/>
          <a:p>
            <a:fld id="{678A8508-1DC0-4C03-B230-FA6C7E63560F}" type="datetimeFigureOut">
              <a:rPr lang="en-US" smtClean="0"/>
              <a:t>4/27/2025</a:t>
            </a:fld>
            <a:endParaRPr lang="en-US"/>
          </a:p>
        </p:txBody>
      </p:sp>
      <p:sp>
        <p:nvSpPr>
          <p:cNvPr id="3" name="Footer Placeholder 2">
            <a:extLst>
              <a:ext uri="{FF2B5EF4-FFF2-40B4-BE49-F238E27FC236}">
                <a16:creationId xmlns:a16="http://schemas.microsoft.com/office/drawing/2014/main" id="{EEDFBA77-345B-31A2-90D1-8B9F408338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807990-0DC3-46EA-E552-E13867BC14A9}"/>
              </a:ext>
            </a:extLst>
          </p:cNvPr>
          <p:cNvSpPr>
            <a:spLocks noGrp="1"/>
          </p:cNvSpPr>
          <p:nvPr>
            <p:ph type="sldNum" sz="quarter" idx="12"/>
          </p:nvPr>
        </p:nvSpPr>
        <p:spPr/>
        <p:txBody>
          <a:bodyPr/>
          <a:lstStyle/>
          <a:p>
            <a:fld id="{8B465FFD-28A4-44A8-9FDB-7C6CF903437D}" type="slidenum">
              <a:rPr lang="en-US" smtClean="0"/>
              <a:t>‹#›</a:t>
            </a:fld>
            <a:endParaRPr lang="en-US"/>
          </a:p>
        </p:txBody>
      </p:sp>
    </p:spTree>
    <p:extLst>
      <p:ext uri="{BB962C8B-B14F-4D97-AF65-F5344CB8AC3E}">
        <p14:creationId xmlns:p14="http://schemas.microsoft.com/office/powerpoint/2010/main" val="2335996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038E1-8076-4006-47A6-DCDA5ED5DC09}"/>
              </a:ext>
            </a:extLst>
          </p:cNvPr>
          <p:cNvSpPr>
            <a:spLocks noGrp="1"/>
          </p:cNvSpPr>
          <p:nvPr>
            <p:ph type="title"/>
          </p:nvPr>
        </p:nvSpPr>
        <p:spPr>
          <a:xfrm>
            <a:off x="2727674" y="1920028"/>
            <a:ext cx="12772089" cy="6720099"/>
          </a:xfrm>
        </p:spPr>
        <p:txBody>
          <a:bodyPr anchor="b"/>
          <a:lstStyle>
            <a:lvl1pPr>
              <a:defRPr sz="10395"/>
            </a:lvl1pPr>
          </a:lstStyle>
          <a:p>
            <a:r>
              <a:rPr lang="en-US"/>
              <a:t>Click to edit Master title style</a:t>
            </a:r>
          </a:p>
        </p:txBody>
      </p:sp>
      <p:sp>
        <p:nvSpPr>
          <p:cNvPr id="3" name="Content Placeholder 2">
            <a:extLst>
              <a:ext uri="{FF2B5EF4-FFF2-40B4-BE49-F238E27FC236}">
                <a16:creationId xmlns:a16="http://schemas.microsoft.com/office/drawing/2014/main" id="{EB630EE6-EF53-F26E-7BAE-800FB0ACE597}"/>
              </a:ext>
            </a:extLst>
          </p:cNvPr>
          <p:cNvSpPr>
            <a:spLocks noGrp="1"/>
          </p:cNvSpPr>
          <p:nvPr>
            <p:ph idx="1"/>
          </p:nvPr>
        </p:nvSpPr>
        <p:spPr>
          <a:xfrm>
            <a:off x="16835238" y="4146730"/>
            <a:ext cx="20047595" cy="20466969"/>
          </a:xfrm>
        </p:spPr>
        <p:txBody>
          <a:bodyPr/>
          <a:lstStyle>
            <a:lvl1pPr>
              <a:defRPr sz="10395"/>
            </a:lvl1pPr>
            <a:lvl2pPr>
              <a:defRPr sz="9094"/>
            </a:lvl2pPr>
            <a:lvl3pPr>
              <a:defRPr sz="7796"/>
            </a:lvl3pPr>
            <a:lvl4pPr>
              <a:defRPr sz="6496"/>
            </a:lvl4pPr>
            <a:lvl5pPr>
              <a:defRPr sz="6496"/>
            </a:lvl5pPr>
            <a:lvl6pPr>
              <a:defRPr sz="6496"/>
            </a:lvl6pPr>
            <a:lvl7pPr>
              <a:defRPr sz="6496"/>
            </a:lvl7pPr>
            <a:lvl8pPr>
              <a:defRPr sz="6496"/>
            </a:lvl8pPr>
            <a:lvl9pPr>
              <a:defRPr sz="649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9D0BC4-F846-23E5-2744-512D5DF8E387}"/>
              </a:ext>
            </a:extLst>
          </p:cNvPr>
          <p:cNvSpPr>
            <a:spLocks noGrp="1"/>
          </p:cNvSpPr>
          <p:nvPr>
            <p:ph type="body" sz="half" idx="2"/>
          </p:nvPr>
        </p:nvSpPr>
        <p:spPr>
          <a:xfrm>
            <a:off x="2727674" y="8640128"/>
            <a:ext cx="12772089" cy="16006905"/>
          </a:xfrm>
        </p:spPr>
        <p:txBody>
          <a:bodyPr/>
          <a:lstStyle>
            <a:lvl1pPr marL="0" indent="0">
              <a:buNone/>
              <a:defRPr sz="5197"/>
            </a:lvl1pPr>
            <a:lvl2pPr marL="1485030" indent="0">
              <a:buNone/>
              <a:defRPr sz="4547"/>
            </a:lvl2pPr>
            <a:lvl3pPr marL="2970059" indent="0">
              <a:buNone/>
              <a:defRPr sz="3898"/>
            </a:lvl3pPr>
            <a:lvl4pPr marL="4455089" indent="0">
              <a:buNone/>
              <a:defRPr sz="3248"/>
            </a:lvl4pPr>
            <a:lvl5pPr marL="5940117" indent="0">
              <a:buNone/>
              <a:defRPr sz="3248"/>
            </a:lvl5pPr>
            <a:lvl6pPr marL="7425147" indent="0">
              <a:buNone/>
              <a:defRPr sz="3248"/>
            </a:lvl6pPr>
            <a:lvl7pPr marL="8910177" indent="0">
              <a:buNone/>
              <a:defRPr sz="3248"/>
            </a:lvl7pPr>
            <a:lvl8pPr marL="10395206" indent="0">
              <a:buNone/>
              <a:defRPr sz="3248"/>
            </a:lvl8pPr>
            <a:lvl9pPr marL="11880236" indent="0">
              <a:buNone/>
              <a:defRPr sz="3248"/>
            </a:lvl9pPr>
          </a:lstStyle>
          <a:p>
            <a:pPr lvl="0"/>
            <a:r>
              <a:rPr lang="en-US"/>
              <a:t>Click to edit Master text styles</a:t>
            </a:r>
          </a:p>
        </p:txBody>
      </p:sp>
      <p:sp>
        <p:nvSpPr>
          <p:cNvPr id="5" name="Date Placeholder 4">
            <a:extLst>
              <a:ext uri="{FF2B5EF4-FFF2-40B4-BE49-F238E27FC236}">
                <a16:creationId xmlns:a16="http://schemas.microsoft.com/office/drawing/2014/main" id="{4AD5C79D-E019-EB2E-9179-FB9A08F32D15}"/>
              </a:ext>
            </a:extLst>
          </p:cNvPr>
          <p:cNvSpPr>
            <a:spLocks noGrp="1"/>
          </p:cNvSpPr>
          <p:nvPr>
            <p:ph type="dt" sz="half" idx="10"/>
          </p:nvPr>
        </p:nvSpPr>
        <p:spPr/>
        <p:txBody>
          <a:bodyPr/>
          <a:lstStyle/>
          <a:p>
            <a:fld id="{678A8508-1DC0-4C03-B230-FA6C7E63560F}" type="datetimeFigureOut">
              <a:rPr lang="en-US" smtClean="0"/>
              <a:t>4/27/2025</a:t>
            </a:fld>
            <a:endParaRPr lang="en-US"/>
          </a:p>
        </p:txBody>
      </p:sp>
      <p:sp>
        <p:nvSpPr>
          <p:cNvPr id="6" name="Footer Placeholder 5">
            <a:extLst>
              <a:ext uri="{FF2B5EF4-FFF2-40B4-BE49-F238E27FC236}">
                <a16:creationId xmlns:a16="http://schemas.microsoft.com/office/drawing/2014/main" id="{85B214CC-9524-2DAD-1C18-49B8DAD07C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F5A6C-7164-6260-C36B-F9BDA400F0E6}"/>
              </a:ext>
            </a:extLst>
          </p:cNvPr>
          <p:cNvSpPr>
            <a:spLocks noGrp="1"/>
          </p:cNvSpPr>
          <p:nvPr>
            <p:ph type="sldNum" sz="quarter" idx="12"/>
          </p:nvPr>
        </p:nvSpPr>
        <p:spPr/>
        <p:txBody>
          <a:bodyPr/>
          <a:lstStyle/>
          <a:p>
            <a:fld id="{8B465FFD-28A4-44A8-9FDB-7C6CF903437D}" type="slidenum">
              <a:rPr lang="en-US" smtClean="0"/>
              <a:t>‹#›</a:t>
            </a:fld>
            <a:endParaRPr lang="en-US"/>
          </a:p>
        </p:txBody>
      </p:sp>
    </p:spTree>
    <p:extLst>
      <p:ext uri="{BB962C8B-B14F-4D97-AF65-F5344CB8AC3E}">
        <p14:creationId xmlns:p14="http://schemas.microsoft.com/office/powerpoint/2010/main" val="34614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2B622-FE8D-F6A3-EF21-53E4071D1898}"/>
              </a:ext>
            </a:extLst>
          </p:cNvPr>
          <p:cNvSpPr>
            <a:spLocks noGrp="1"/>
          </p:cNvSpPr>
          <p:nvPr>
            <p:ph type="title"/>
          </p:nvPr>
        </p:nvSpPr>
        <p:spPr>
          <a:xfrm>
            <a:off x="2727674" y="1920028"/>
            <a:ext cx="12772089" cy="6720099"/>
          </a:xfrm>
        </p:spPr>
        <p:txBody>
          <a:bodyPr anchor="b"/>
          <a:lstStyle>
            <a:lvl1pPr>
              <a:defRPr sz="10395"/>
            </a:lvl1pPr>
          </a:lstStyle>
          <a:p>
            <a:r>
              <a:rPr lang="en-US"/>
              <a:t>Click to edit Master title style</a:t>
            </a:r>
          </a:p>
        </p:txBody>
      </p:sp>
      <p:sp>
        <p:nvSpPr>
          <p:cNvPr id="3" name="Picture Placeholder 2">
            <a:extLst>
              <a:ext uri="{FF2B5EF4-FFF2-40B4-BE49-F238E27FC236}">
                <a16:creationId xmlns:a16="http://schemas.microsoft.com/office/drawing/2014/main" id="{49153712-7345-8959-51A2-EBB47AFD179D}"/>
              </a:ext>
            </a:extLst>
          </p:cNvPr>
          <p:cNvSpPr>
            <a:spLocks noGrp="1"/>
          </p:cNvSpPr>
          <p:nvPr>
            <p:ph type="pic" idx="1"/>
          </p:nvPr>
        </p:nvSpPr>
        <p:spPr>
          <a:xfrm>
            <a:off x="16835238" y="4146730"/>
            <a:ext cx="20047595" cy="20466969"/>
          </a:xfrm>
        </p:spPr>
        <p:txBody>
          <a:bodyPr/>
          <a:lstStyle>
            <a:lvl1pPr marL="0" indent="0">
              <a:buNone/>
              <a:defRPr sz="10395"/>
            </a:lvl1pPr>
            <a:lvl2pPr marL="1485030" indent="0">
              <a:buNone/>
              <a:defRPr sz="9094"/>
            </a:lvl2pPr>
            <a:lvl3pPr marL="2970059" indent="0">
              <a:buNone/>
              <a:defRPr sz="7796"/>
            </a:lvl3pPr>
            <a:lvl4pPr marL="4455089" indent="0">
              <a:buNone/>
              <a:defRPr sz="6496"/>
            </a:lvl4pPr>
            <a:lvl5pPr marL="5940117" indent="0">
              <a:buNone/>
              <a:defRPr sz="6496"/>
            </a:lvl5pPr>
            <a:lvl6pPr marL="7425147" indent="0">
              <a:buNone/>
              <a:defRPr sz="6496"/>
            </a:lvl6pPr>
            <a:lvl7pPr marL="8910177" indent="0">
              <a:buNone/>
              <a:defRPr sz="6496"/>
            </a:lvl7pPr>
            <a:lvl8pPr marL="10395206" indent="0">
              <a:buNone/>
              <a:defRPr sz="6496"/>
            </a:lvl8pPr>
            <a:lvl9pPr marL="11880236" indent="0">
              <a:buNone/>
              <a:defRPr sz="6496"/>
            </a:lvl9pPr>
          </a:lstStyle>
          <a:p>
            <a:endParaRPr lang="en-US"/>
          </a:p>
        </p:txBody>
      </p:sp>
      <p:sp>
        <p:nvSpPr>
          <p:cNvPr id="4" name="Text Placeholder 3">
            <a:extLst>
              <a:ext uri="{FF2B5EF4-FFF2-40B4-BE49-F238E27FC236}">
                <a16:creationId xmlns:a16="http://schemas.microsoft.com/office/drawing/2014/main" id="{C2CD044C-B22C-9088-CDC9-867FD470B203}"/>
              </a:ext>
            </a:extLst>
          </p:cNvPr>
          <p:cNvSpPr>
            <a:spLocks noGrp="1"/>
          </p:cNvSpPr>
          <p:nvPr>
            <p:ph type="body" sz="half" idx="2"/>
          </p:nvPr>
        </p:nvSpPr>
        <p:spPr>
          <a:xfrm>
            <a:off x="2727674" y="8640128"/>
            <a:ext cx="12772089" cy="16006905"/>
          </a:xfrm>
        </p:spPr>
        <p:txBody>
          <a:bodyPr/>
          <a:lstStyle>
            <a:lvl1pPr marL="0" indent="0">
              <a:buNone/>
              <a:defRPr sz="5197"/>
            </a:lvl1pPr>
            <a:lvl2pPr marL="1485030" indent="0">
              <a:buNone/>
              <a:defRPr sz="4547"/>
            </a:lvl2pPr>
            <a:lvl3pPr marL="2970059" indent="0">
              <a:buNone/>
              <a:defRPr sz="3898"/>
            </a:lvl3pPr>
            <a:lvl4pPr marL="4455089" indent="0">
              <a:buNone/>
              <a:defRPr sz="3248"/>
            </a:lvl4pPr>
            <a:lvl5pPr marL="5940117" indent="0">
              <a:buNone/>
              <a:defRPr sz="3248"/>
            </a:lvl5pPr>
            <a:lvl6pPr marL="7425147" indent="0">
              <a:buNone/>
              <a:defRPr sz="3248"/>
            </a:lvl6pPr>
            <a:lvl7pPr marL="8910177" indent="0">
              <a:buNone/>
              <a:defRPr sz="3248"/>
            </a:lvl7pPr>
            <a:lvl8pPr marL="10395206" indent="0">
              <a:buNone/>
              <a:defRPr sz="3248"/>
            </a:lvl8pPr>
            <a:lvl9pPr marL="11880236" indent="0">
              <a:buNone/>
              <a:defRPr sz="3248"/>
            </a:lvl9pPr>
          </a:lstStyle>
          <a:p>
            <a:pPr lvl="0"/>
            <a:r>
              <a:rPr lang="en-US"/>
              <a:t>Click to edit Master text styles</a:t>
            </a:r>
          </a:p>
        </p:txBody>
      </p:sp>
      <p:sp>
        <p:nvSpPr>
          <p:cNvPr id="5" name="Date Placeholder 4">
            <a:extLst>
              <a:ext uri="{FF2B5EF4-FFF2-40B4-BE49-F238E27FC236}">
                <a16:creationId xmlns:a16="http://schemas.microsoft.com/office/drawing/2014/main" id="{FD981F6B-CF1A-1F57-684C-C559BFE6F98F}"/>
              </a:ext>
            </a:extLst>
          </p:cNvPr>
          <p:cNvSpPr>
            <a:spLocks noGrp="1"/>
          </p:cNvSpPr>
          <p:nvPr>
            <p:ph type="dt" sz="half" idx="10"/>
          </p:nvPr>
        </p:nvSpPr>
        <p:spPr/>
        <p:txBody>
          <a:bodyPr/>
          <a:lstStyle/>
          <a:p>
            <a:fld id="{678A8508-1DC0-4C03-B230-FA6C7E63560F}" type="datetimeFigureOut">
              <a:rPr lang="en-US" smtClean="0"/>
              <a:t>4/27/2025</a:t>
            </a:fld>
            <a:endParaRPr lang="en-US"/>
          </a:p>
        </p:txBody>
      </p:sp>
      <p:sp>
        <p:nvSpPr>
          <p:cNvPr id="6" name="Footer Placeholder 5">
            <a:extLst>
              <a:ext uri="{FF2B5EF4-FFF2-40B4-BE49-F238E27FC236}">
                <a16:creationId xmlns:a16="http://schemas.microsoft.com/office/drawing/2014/main" id="{CEFA06DB-D13F-B3AA-85B9-0FC9496483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12A985-E30B-F630-D054-2E577EC5070C}"/>
              </a:ext>
            </a:extLst>
          </p:cNvPr>
          <p:cNvSpPr>
            <a:spLocks noGrp="1"/>
          </p:cNvSpPr>
          <p:nvPr>
            <p:ph type="sldNum" sz="quarter" idx="12"/>
          </p:nvPr>
        </p:nvSpPr>
        <p:spPr/>
        <p:txBody>
          <a:bodyPr/>
          <a:lstStyle/>
          <a:p>
            <a:fld id="{8B465FFD-28A4-44A8-9FDB-7C6CF903437D}" type="slidenum">
              <a:rPr lang="en-US" smtClean="0"/>
              <a:t>‹#›</a:t>
            </a:fld>
            <a:endParaRPr lang="en-US"/>
          </a:p>
        </p:txBody>
      </p:sp>
    </p:spTree>
    <p:extLst>
      <p:ext uri="{BB962C8B-B14F-4D97-AF65-F5344CB8AC3E}">
        <p14:creationId xmlns:p14="http://schemas.microsoft.com/office/powerpoint/2010/main" val="3460019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6B8EB-2EE7-BC40-024E-B5206291D7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D10895-D6AE-2AD0-3BD9-28296CF26C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A593E0-99C5-DEA4-A3DD-439E881C20F6}"/>
              </a:ext>
            </a:extLst>
          </p:cNvPr>
          <p:cNvSpPr>
            <a:spLocks noGrp="1"/>
          </p:cNvSpPr>
          <p:nvPr>
            <p:ph type="dt" sz="half" idx="10"/>
          </p:nvPr>
        </p:nvSpPr>
        <p:spPr/>
        <p:txBody>
          <a:bodyPr/>
          <a:lstStyle/>
          <a:p>
            <a:fld id="{678A8508-1DC0-4C03-B230-FA6C7E63560F}" type="datetimeFigureOut">
              <a:rPr lang="en-US" smtClean="0"/>
              <a:t>4/27/2025</a:t>
            </a:fld>
            <a:endParaRPr lang="en-US"/>
          </a:p>
        </p:txBody>
      </p:sp>
      <p:sp>
        <p:nvSpPr>
          <p:cNvPr id="5" name="Footer Placeholder 4">
            <a:extLst>
              <a:ext uri="{FF2B5EF4-FFF2-40B4-BE49-F238E27FC236}">
                <a16:creationId xmlns:a16="http://schemas.microsoft.com/office/drawing/2014/main" id="{36E62CD5-617A-9E6B-B870-6B4ECF2A92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10669-3FEF-A75E-057F-B6EB76DD0A70}"/>
              </a:ext>
            </a:extLst>
          </p:cNvPr>
          <p:cNvSpPr>
            <a:spLocks noGrp="1"/>
          </p:cNvSpPr>
          <p:nvPr>
            <p:ph type="sldNum" sz="quarter" idx="12"/>
          </p:nvPr>
        </p:nvSpPr>
        <p:spPr/>
        <p:txBody>
          <a:bodyPr/>
          <a:lstStyle/>
          <a:p>
            <a:fld id="{8B465FFD-28A4-44A8-9FDB-7C6CF903437D}" type="slidenum">
              <a:rPr lang="en-US" smtClean="0"/>
              <a:t>‹#›</a:t>
            </a:fld>
            <a:endParaRPr lang="en-US"/>
          </a:p>
        </p:txBody>
      </p:sp>
    </p:spTree>
    <p:extLst>
      <p:ext uri="{BB962C8B-B14F-4D97-AF65-F5344CB8AC3E}">
        <p14:creationId xmlns:p14="http://schemas.microsoft.com/office/powerpoint/2010/main" val="3468219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1D037A-7C02-D115-144C-3820D1D2FF10}"/>
              </a:ext>
            </a:extLst>
          </p:cNvPr>
          <p:cNvSpPr>
            <a:spLocks noGrp="1"/>
          </p:cNvSpPr>
          <p:nvPr>
            <p:ph type="title" orient="vert"/>
          </p:nvPr>
        </p:nvSpPr>
        <p:spPr>
          <a:xfrm>
            <a:off x="28338884" y="1533357"/>
            <a:ext cx="8538792" cy="2440702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AEAE2C-BD52-2BA3-0225-9D327840700D}"/>
              </a:ext>
            </a:extLst>
          </p:cNvPr>
          <p:cNvSpPr>
            <a:spLocks noGrp="1"/>
          </p:cNvSpPr>
          <p:nvPr>
            <p:ph type="body" orient="vert" idx="1"/>
          </p:nvPr>
        </p:nvSpPr>
        <p:spPr>
          <a:xfrm>
            <a:off x="2722515" y="1533357"/>
            <a:ext cx="25121368" cy="24407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8E7BDC-ED80-9992-AD2F-D76696072A0D}"/>
              </a:ext>
            </a:extLst>
          </p:cNvPr>
          <p:cNvSpPr>
            <a:spLocks noGrp="1"/>
          </p:cNvSpPr>
          <p:nvPr>
            <p:ph type="dt" sz="half" idx="10"/>
          </p:nvPr>
        </p:nvSpPr>
        <p:spPr/>
        <p:txBody>
          <a:bodyPr/>
          <a:lstStyle/>
          <a:p>
            <a:fld id="{678A8508-1DC0-4C03-B230-FA6C7E63560F}" type="datetimeFigureOut">
              <a:rPr lang="en-US" smtClean="0"/>
              <a:t>4/27/2025</a:t>
            </a:fld>
            <a:endParaRPr lang="en-US"/>
          </a:p>
        </p:txBody>
      </p:sp>
      <p:sp>
        <p:nvSpPr>
          <p:cNvPr id="5" name="Footer Placeholder 4">
            <a:extLst>
              <a:ext uri="{FF2B5EF4-FFF2-40B4-BE49-F238E27FC236}">
                <a16:creationId xmlns:a16="http://schemas.microsoft.com/office/drawing/2014/main" id="{5D6413D6-EFC1-AC39-4713-A3BF1A8E66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2DB2B0-CAB5-62CE-A879-F27F9C45ECDC}"/>
              </a:ext>
            </a:extLst>
          </p:cNvPr>
          <p:cNvSpPr>
            <a:spLocks noGrp="1"/>
          </p:cNvSpPr>
          <p:nvPr>
            <p:ph type="sldNum" sz="quarter" idx="12"/>
          </p:nvPr>
        </p:nvSpPr>
        <p:spPr/>
        <p:txBody>
          <a:bodyPr/>
          <a:lstStyle/>
          <a:p>
            <a:fld id="{8B465FFD-28A4-44A8-9FDB-7C6CF903437D}" type="slidenum">
              <a:rPr lang="en-US" smtClean="0"/>
              <a:t>‹#›</a:t>
            </a:fld>
            <a:endParaRPr lang="en-US"/>
          </a:p>
        </p:txBody>
      </p:sp>
    </p:spTree>
    <p:extLst>
      <p:ext uri="{BB962C8B-B14F-4D97-AF65-F5344CB8AC3E}">
        <p14:creationId xmlns:p14="http://schemas.microsoft.com/office/powerpoint/2010/main" val="3658750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69D147-4E75-BA52-B8BE-F354C518F649}"/>
              </a:ext>
            </a:extLst>
          </p:cNvPr>
          <p:cNvSpPr>
            <a:spLocks noGrp="1"/>
          </p:cNvSpPr>
          <p:nvPr>
            <p:ph type="title"/>
          </p:nvPr>
        </p:nvSpPr>
        <p:spPr>
          <a:xfrm>
            <a:off x="2722513" y="1533359"/>
            <a:ext cx="34155163" cy="556675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AC7D2D-8A57-5CE3-BCD9-63CF99BB4DBB}"/>
              </a:ext>
            </a:extLst>
          </p:cNvPr>
          <p:cNvSpPr>
            <a:spLocks noGrp="1"/>
          </p:cNvSpPr>
          <p:nvPr>
            <p:ph type="body" idx="1"/>
          </p:nvPr>
        </p:nvSpPr>
        <p:spPr>
          <a:xfrm>
            <a:off x="2722513" y="7666780"/>
            <a:ext cx="34155163" cy="1827360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9AFB9E-E345-292D-0E1D-EBFA113B47EC}"/>
              </a:ext>
            </a:extLst>
          </p:cNvPr>
          <p:cNvSpPr>
            <a:spLocks noGrp="1"/>
          </p:cNvSpPr>
          <p:nvPr>
            <p:ph type="dt" sz="half" idx="2"/>
          </p:nvPr>
        </p:nvSpPr>
        <p:spPr>
          <a:xfrm>
            <a:off x="2722514" y="26693730"/>
            <a:ext cx="8910042" cy="1533356"/>
          </a:xfrm>
          <a:prstGeom prst="rect">
            <a:avLst/>
          </a:prstGeom>
        </p:spPr>
        <p:txBody>
          <a:bodyPr vert="horz" lIns="91440" tIns="45720" rIns="91440" bIns="45720" rtlCol="0" anchor="ctr"/>
          <a:lstStyle>
            <a:lvl1pPr algn="l">
              <a:defRPr sz="3898">
                <a:solidFill>
                  <a:schemeClr val="tx1">
                    <a:tint val="82000"/>
                  </a:schemeClr>
                </a:solidFill>
              </a:defRPr>
            </a:lvl1pPr>
          </a:lstStyle>
          <a:p>
            <a:fld id="{678A8508-1DC0-4C03-B230-FA6C7E63560F}" type="datetimeFigureOut">
              <a:rPr lang="en-US" smtClean="0"/>
              <a:t>4/27/2025</a:t>
            </a:fld>
            <a:endParaRPr lang="en-US"/>
          </a:p>
        </p:txBody>
      </p:sp>
      <p:sp>
        <p:nvSpPr>
          <p:cNvPr id="5" name="Footer Placeholder 4">
            <a:extLst>
              <a:ext uri="{FF2B5EF4-FFF2-40B4-BE49-F238E27FC236}">
                <a16:creationId xmlns:a16="http://schemas.microsoft.com/office/drawing/2014/main" id="{C68B069E-F5A5-822F-8B49-C8A92CECE5AA}"/>
              </a:ext>
            </a:extLst>
          </p:cNvPr>
          <p:cNvSpPr>
            <a:spLocks noGrp="1"/>
          </p:cNvSpPr>
          <p:nvPr>
            <p:ph type="ftr" sz="quarter" idx="3"/>
          </p:nvPr>
        </p:nvSpPr>
        <p:spPr>
          <a:xfrm>
            <a:off x="13117565" y="26693730"/>
            <a:ext cx="13365063" cy="1533356"/>
          </a:xfrm>
          <a:prstGeom prst="rect">
            <a:avLst/>
          </a:prstGeom>
        </p:spPr>
        <p:txBody>
          <a:bodyPr vert="horz" lIns="91440" tIns="45720" rIns="91440" bIns="45720" rtlCol="0" anchor="ctr"/>
          <a:lstStyle>
            <a:lvl1pPr algn="ctr">
              <a:defRPr sz="3898">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99766B8-FB2A-9AF1-D137-07825BAEF65C}"/>
              </a:ext>
            </a:extLst>
          </p:cNvPr>
          <p:cNvSpPr>
            <a:spLocks noGrp="1"/>
          </p:cNvSpPr>
          <p:nvPr>
            <p:ph type="sldNum" sz="quarter" idx="4"/>
          </p:nvPr>
        </p:nvSpPr>
        <p:spPr>
          <a:xfrm>
            <a:off x="27967634" y="26693730"/>
            <a:ext cx="8910042" cy="1533356"/>
          </a:xfrm>
          <a:prstGeom prst="rect">
            <a:avLst/>
          </a:prstGeom>
        </p:spPr>
        <p:txBody>
          <a:bodyPr vert="horz" lIns="91440" tIns="45720" rIns="91440" bIns="45720" rtlCol="0" anchor="ctr"/>
          <a:lstStyle>
            <a:lvl1pPr algn="r">
              <a:defRPr sz="3898">
                <a:solidFill>
                  <a:schemeClr val="tx1">
                    <a:tint val="82000"/>
                  </a:schemeClr>
                </a:solidFill>
              </a:defRPr>
            </a:lvl1pPr>
          </a:lstStyle>
          <a:p>
            <a:fld id="{8B465FFD-28A4-44A8-9FDB-7C6CF903437D}" type="slidenum">
              <a:rPr lang="en-US" smtClean="0"/>
              <a:t>‹#›</a:t>
            </a:fld>
            <a:endParaRPr lang="en-US"/>
          </a:p>
        </p:txBody>
      </p:sp>
    </p:spTree>
    <p:extLst>
      <p:ext uri="{BB962C8B-B14F-4D97-AF65-F5344CB8AC3E}">
        <p14:creationId xmlns:p14="http://schemas.microsoft.com/office/powerpoint/2010/main" val="42387990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2970059" rtl="0" eaLnBrk="1" latinLnBrk="0" hangingPunct="1">
        <a:lnSpc>
          <a:spcPct val="90000"/>
        </a:lnSpc>
        <a:spcBef>
          <a:spcPct val="0"/>
        </a:spcBef>
        <a:buNone/>
        <a:defRPr sz="14291" kern="1200">
          <a:solidFill>
            <a:schemeClr val="tx1"/>
          </a:solidFill>
          <a:latin typeface="+mj-lt"/>
          <a:ea typeface="+mj-ea"/>
          <a:cs typeface="+mj-cs"/>
        </a:defRPr>
      </a:lvl1pPr>
    </p:titleStyle>
    <p:bodyStyle>
      <a:lvl1pPr marL="742515" indent="-742515" algn="l" defTabSz="2970059" rtl="0" eaLnBrk="1" latinLnBrk="0" hangingPunct="1">
        <a:lnSpc>
          <a:spcPct val="90000"/>
        </a:lnSpc>
        <a:spcBef>
          <a:spcPts val="3248"/>
        </a:spcBef>
        <a:buFont typeface="Arial" panose="020B0604020202020204" pitchFamily="34" charset="0"/>
        <a:buChar char="•"/>
        <a:defRPr sz="9094" kern="1200">
          <a:solidFill>
            <a:schemeClr val="tx1"/>
          </a:solidFill>
          <a:latin typeface="+mn-lt"/>
          <a:ea typeface="+mn-ea"/>
          <a:cs typeface="+mn-cs"/>
        </a:defRPr>
      </a:lvl1pPr>
      <a:lvl2pPr marL="2227544" indent="-742515" algn="l" defTabSz="2970059" rtl="0" eaLnBrk="1" latinLnBrk="0" hangingPunct="1">
        <a:lnSpc>
          <a:spcPct val="90000"/>
        </a:lnSpc>
        <a:spcBef>
          <a:spcPts val="1624"/>
        </a:spcBef>
        <a:buFont typeface="Arial" panose="020B0604020202020204" pitchFamily="34" charset="0"/>
        <a:buChar char="•"/>
        <a:defRPr sz="7796" kern="1200">
          <a:solidFill>
            <a:schemeClr val="tx1"/>
          </a:solidFill>
          <a:latin typeface="+mn-lt"/>
          <a:ea typeface="+mn-ea"/>
          <a:cs typeface="+mn-cs"/>
        </a:defRPr>
      </a:lvl2pPr>
      <a:lvl3pPr marL="3712574" indent="-742515" algn="l" defTabSz="2970059" rtl="0" eaLnBrk="1" latinLnBrk="0" hangingPunct="1">
        <a:lnSpc>
          <a:spcPct val="90000"/>
        </a:lnSpc>
        <a:spcBef>
          <a:spcPts val="1624"/>
        </a:spcBef>
        <a:buFont typeface="Arial" panose="020B0604020202020204" pitchFamily="34" charset="0"/>
        <a:buChar char="•"/>
        <a:defRPr sz="6496" kern="1200">
          <a:solidFill>
            <a:schemeClr val="tx1"/>
          </a:solidFill>
          <a:latin typeface="+mn-lt"/>
          <a:ea typeface="+mn-ea"/>
          <a:cs typeface="+mn-cs"/>
        </a:defRPr>
      </a:lvl3pPr>
      <a:lvl4pPr marL="5197603" indent="-742515" algn="l" defTabSz="2970059" rtl="0" eaLnBrk="1" latinLnBrk="0" hangingPunct="1">
        <a:lnSpc>
          <a:spcPct val="90000"/>
        </a:lnSpc>
        <a:spcBef>
          <a:spcPts val="1624"/>
        </a:spcBef>
        <a:buFont typeface="Arial" panose="020B0604020202020204" pitchFamily="34" charset="0"/>
        <a:buChar char="•"/>
        <a:defRPr sz="5846" kern="1200">
          <a:solidFill>
            <a:schemeClr val="tx1"/>
          </a:solidFill>
          <a:latin typeface="+mn-lt"/>
          <a:ea typeface="+mn-ea"/>
          <a:cs typeface="+mn-cs"/>
        </a:defRPr>
      </a:lvl4pPr>
      <a:lvl5pPr marL="6682633" indent="-742515" algn="l" defTabSz="2970059" rtl="0" eaLnBrk="1" latinLnBrk="0" hangingPunct="1">
        <a:lnSpc>
          <a:spcPct val="90000"/>
        </a:lnSpc>
        <a:spcBef>
          <a:spcPts val="1624"/>
        </a:spcBef>
        <a:buFont typeface="Arial" panose="020B0604020202020204" pitchFamily="34" charset="0"/>
        <a:buChar char="•"/>
        <a:defRPr sz="5846" kern="1200">
          <a:solidFill>
            <a:schemeClr val="tx1"/>
          </a:solidFill>
          <a:latin typeface="+mn-lt"/>
          <a:ea typeface="+mn-ea"/>
          <a:cs typeface="+mn-cs"/>
        </a:defRPr>
      </a:lvl5pPr>
      <a:lvl6pPr marL="8167662" indent="-742515" algn="l" defTabSz="2970059" rtl="0" eaLnBrk="1" latinLnBrk="0" hangingPunct="1">
        <a:lnSpc>
          <a:spcPct val="90000"/>
        </a:lnSpc>
        <a:spcBef>
          <a:spcPts val="1624"/>
        </a:spcBef>
        <a:buFont typeface="Arial" panose="020B0604020202020204" pitchFamily="34" charset="0"/>
        <a:buChar char="•"/>
        <a:defRPr sz="5846" kern="1200">
          <a:solidFill>
            <a:schemeClr val="tx1"/>
          </a:solidFill>
          <a:latin typeface="+mn-lt"/>
          <a:ea typeface="+mn-ea"/>
          <a:cs typeface="+mn-cs"/>
        </a:defRPr>
      </a:lvl6pPr>
      <a:lvl7pPr marL="9652691" indent="-742515" algn="l" defTabSz="2970059" rtl="0" eaLnBrk="1" latinLnBrk="0" hangingPunct="1">
        <a:lnSpc>
          <a:spcPct val="90000"/>
        </a:lnSpc>
        <a:spcBef>
          <a:spcPts val="1624"/>
        </a:spcBef>
        <a:buFont typeface="Arial" panose="020B0604020202020204" pitchFamily="34" charset="0"/>
        <a:buChar char="•"/>
        <a:defRPr sz="5846" kern="1200">
          <a:solidFill>
            <a:schemeClr val="tx1"/>
          </a:solidFill>
          <a:latin typeface="+mn-lt"/>
          <a:ea typeface="+mn-ea"/>
          <a:cs typeface="+mn-cs"/>
        </a:defRPr>
      </a:lvl7pPr>
      <a:lvl8pPr marL="11137721" indent="-742515" algn="l" defTabSz="2970059" rtl="0" eaLnBrk="1" latinLnBrk="0" hangingPunct="1">
        <a:lnSpc>
          <a:spcPct val="90000"/>
        </a:lnSpc>
        <a:spcBef>
          <a:spcPts val="1624"/>
        </a:spcBef>
        <a:buFont typeface="Arial" panose="020B0604020202020204" pitchFamily="34" charset="0"/>
        <a:buChar char="•"/>
        <a:defRPr sz="5846" kern="1200">
          <a:solidFill>
            <a:schemeClr val="tx1"/>
          </a:solidFill>
          <a:latin typeface="+mn-lt"/>
          <a:ea typeface="+mn-ea"/>
          <a:cs typeface="+mn-cs"/>
        </a:defRPr>
      </a:lvl8pPr>
      <a:lvl9pPr marL="12622750" indent="-742515" algn="l" defTabSz="2970059" rtl="0" eaLnBrk="1" latinLnBrk="0" hangingPunct="1">
        <a:lnSpc>
          <a:spcPct val="90000"/>
        </a:lnSpc>
        <a:spcBef>
          <a:spcPts val="1624"/>
        </a:spcBef>
        <a:buFont typeface="Arial" panose="020B0604020202020204" pitchFamily="34" charset="0"/>
        <a:buChar char="•"/>
        <a:defRPr sz="5846" kern="1200">
          <a:solidFill>
            <a:schemeClr val="tx1"/>
          </a:solidFill>
          <a:latin typeface="+mn-lt"/>
          <a:ea typeface="+mn-ea"/>
          <a:cs typeface="+mn-cs"/>
        </a:defRPr>
      </a:lvl9pPr>
    </p:bodyStyle>
    <p:otherStyle>
      <a:defPPr>
        <a:defRPr lang="en-US"/>
      </a:defPPr>
      <a:lvl1pPr marL="0" algn="l" defTabSz="2970059" rtl="0" eaLnBrk="1" latinLnBrk="0" hangingPunct="1">
        <a:defRPr sz="5846" kern="1200">
          <a:solidFill>
            <a:schemeClr val="tx1"/>
          </a:solidFill>
          <a:latin typeface="+mn-lt"/>
          <a:ea typeface="+mn-ea"/>
          <a:cs typeface="+mn-cs"/>
        </a:defRPr>
      </a:lvl1pPr>
      <a:lvl2pPr marL="1485030" algn="l" defTabSz="2970059" rtl="0" eaLnBrk="1" latinLnBrk="0" hangingPunct="1">
        <a:defRPr sz="5846" kern="1200">
          <a:solidFill>
            <a:schemeClr val="tx1"/>
          </a:solidFill>
          <a:latin typeface="+mn-lt"/>
          <a:ea typeface="+mn-ea"/>
          <a:cs typeface="+mn-cs"/>
        </a:defRPr>
      </a:lvl2pPr>
      <a:lvl3pPr marL="2970059" algn="l" defTabSz="2970059" rtl="0" eaLnBrk="1" latinLnBrk="0" hangingPunct="1">
        <a:defRPr sz="5846" kern="1200">
          <a:solidFill>
            <a:schemeClr val="tx1"/>
          </a:solidFill>
          <a:latin typeface="+mn-lt"/>
          <a:ea typeface="+mn-ea"/>
          <a:cs typeface="+mn-cs"/>
        </a:defRPr>
      </a:lvl3pPr>
      <a:lvl4pPr marL="4455089" algn="l" defTabSz="2970059" rtl="0" eaLnBrk="1" latinLnBrk="0" hangingPunct="1">
        <a:defRPr sz="5846" kern="1200">
          <a:solidFill>
            <a:schemeClr val="tx1"/>
          </a:solidFill>
          <a:latin typeface="+mn-lt"/>
          <a:ea typeface="+mn-ea"/>
          <a:cs typeface="+mn-cs"/>
        </a:defRPr>
      </a:lvl4pPr>
      <a:lvl5pPr marL="5940117" algn="l" defTabSz="2970059" rtl="0" eaLnBrk="1" latinLnBrk="0" hangingPunct="1">
        <a:defRPr sz="5846" kern="1200">
          <a:solidFill>
            <a:schemeClr val="tx1"/>
          </a:solidFill>
          <a:latin typeface="+mn-lt"/>
          <a:ea typeface="+mn-ea"/>
          <a:cs typeface="+mn-cs"/>
        </a:defRPr>
      </a:lvl5pPr>
      <a:lvl6pPr marL="7425147" algn="l" defTabSz="2970059" rtl="0" eaLnBrk="1" latinLnBrk="0" hangingPunct="1">
        <a:defRPr sz="5846" kern="1200">
          <a:solidFill>
            <a:schemeClr val="tx1"/>
          </a:solidFill>
          <a:latin typeface="+mn-lt"/>
          <a:ea typeface="+mn-ea"/>
          <a:cs typeface="+mn-cs"/>
        </a:defRPr>
      </a:lvl6pPr>
      <a:lvl7pPr marL="8910177" algn="l" defTabSz="2970059" rtl="0" eaLnBrk="1" latinLnBrk="0" hangingPunct="1">
        <a:defRPr sz="5846" kern="1200">
          <a:solidFill>
            <a:schemeClr val="tx1"/>
          </a:solidFill>
          <a:latin typeface="+mn-lt"/>
          <a:ea typeface="+mn-ea"/>
          <a:cs typeface="+mn-cs"/>
        </a:defRPr>
      </a:lvl7pPr>
      <a:lvl8pPr marL="10395206" algn="l" defTabSz="2970059" rtl="0" eaLnBrk="1" latinLnBrk="0" hangingPunct="1">
        <a:defRPr sz="5846" kern="1200">
          <a:solidFill>
            <a:schemeClr val="tx1"/>
          </a:solidFill>
          <a:latin typeface="+mn-lt"/>
          <a:ea typeface="+mn-ea"/>
          <a:cs typeface="+mn-cs"/>
        </a:defRPr>
      </a:lvl8pPr>
      <a:lvl9pPr marL="11880236" algn="l" defTabSz="2970059" rtl="0" eaLnBrk="1" latinLnBrk="0" hangingPunct="1">
        <a:defRPr sz="584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7.png"/><Relationship Id="rId18" Type="http://schemas.openxmlformats.org/officeDocument/2006/relationships/image" Target="../media/image12.png"/><Relationship Id="rId26" Type="http://schemas.openxmlformats.org/officeDocument/2006/relationships/chart" Target="../charts/chart3.xml"/><Relationship Id="rId39" Type="http://schemas.openxmlformats.org/officeDocument/2006/relationships/image" Target="../media/image23.png"/><Relationship Id="rId21" Type="http://schemas.openxmlformats.org/officeDocument/2006/relationships/image" Target="../media/image15.png"/><Relationship Id="rId34" Type="http://schemas.openxmlformats.org/officeDocument/2006/relationships/image" Target="../media/image19.png"/><Relationship Id="rId42" Type="http://schemas.openxmlformats.org/officeDocument/2006/relationships/image" Target="../media/image26.png"/><Relationship Id="rId7" Type="http://schemas.openxmlformats.org/officeDocument/2006/relationships/image" Target="../media/image1.png"/><Relationship Id="rId2" Type="http://schemas.openxmlformats.org/officeDocument/2006/relationships/hyperlink" Target="https://news.mit.edu/2024/new-theory-could-improve-design-and-operation-wind-farms-0821" TargetMode="External"/><Relationship Id="rId16" Type="http://schemas.openxmlformats.org/officeDocument/2006/relationships/image" Target="../media/image10.png"/><Relationship Id="rId20" Type="http://schemas.openxmlformats.org/officeDocument/2006/relationships/image" Target="../media/image14.png"/><Relationship Id="rId29" Type="http://schemas.openxmlformats.org/officeDocument/2006/relationships/hyperlink" Target="mailto:Mohamed.2324049@stemqena.moe.edu.eg" TargetMode="External"/><Relationship Id="rId41"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hyperlink" Target="https://www.eia.gov/international/content/analysis/countries_long/Egypt/pdf/Egypt.pdf" TargetMode="External"/><Relationship Id="rId11" Type="http://schemas.openxmlformats.org/officeDocument/2006/relationships/image" Target="../media/image5.png"/><Relationship Id="rId24" Type="http://schemas.openxmlformats.org/officeDocument/2006/relationships/image" Target="../media/image16.png"/><Relationship Id="rId32" Type="http://schemas.openxmlformats.org/officeDocument/2006/relationships/image" Target="../media/image18.png"/><Relationship Id="rId37" Type="http://schemas.openxmlformats.org/officeDocument/2006/relationships/image" Target="../media/image21.png"/><Relationship Id="rId40" Type="http://schemas.openxmlformats.org/officeDocument/2006/relationships/image" Target="../media/image24.png"/><Relationship Id="rId5" Type="http://schemas.openxmlformats.org/officeDocument/2006/relationships/hyperlink" Target="https://www.energy.gov/eere/wind/wind-energy-basics" TargetMode="External"/><Relationship Id="rId15" Type="http://schemas.openxmlformats.org/officeDocument/2006/relationships/image" Target="../media/image9.png"/><Relationship Id="rId23" Type="http://schemas.openxmlformats.org/officeDocument/2006/relationships/chart" Target="../charts/chart2.xml"/><Relationship Id="rId28" Type="http://schemas.openxmlformats.org/officeDocument/2006/relationships/hyperlink" Target="mailto:Ahmed.2324004@stemqena.moe.edu.eg" TargetMode="External"/><Relationship Id="rId36" Type="http://schemas.openxmlformats.org/officeDocument/2006/relationships/image" Target="../media/image20.png"/><Relationship Id="rId10" Type="http://schemas.openxmlformats.org/officeDocument/2006/relationships/image" Target="../media/image4.png"/><Relationship Id="rId19" Type="http://schemas.openxmlformats.org/officeDocument/2006/relationships/image" Target="../media/image13.png"/><Relationship Id="rId31" Type="http://schemas.openxmlformats.org/officeDocument/2006/relationships/hyperlink" Target="mailto:Ahmed.2324006@stemqena.moe.edu.eg" TargetMode="External"/><Relationship Id="rId4" Type="http://schemas.openxmlformats.org/officeDocument/2006/relationships/hyperlink" Target="https://m-selig.ae.illinois.edu/pubs/GiguereSelig-2000-AIAA-2000-0045.pdf" TargetMode="External"/><Relationship Id="rId9" Type="http://schemas.openxmlformats.org/officeDocument/2006/relationships/image" Target="../media/image3.png"/><Relationship Id="rId14" Type="http://schemas.openxmlformats.org/officeDocument/2006/relationships/image" Target="../media/image8.png"/><Relationship Id="rId22" Type="http://schemas.openxmlformats.org/officeDocument/2006/relationships/chart" Target="../charts/chart1.xml"/><Relationship Id="rId27" Type="http://schemas.openxmlformats.org/officeDocument/2006/relationships/hyperlink" Target="mailto:Emad.2324027@stemqena.moe.edu.eg" TargetMode="External"/><Relationship Id="rId30" Type="http://schemas.openxmlformats.org/officeDocument/2006/relationships/hyperlink" Target="mailto:philopateer.2324039@stemqena.moe.edu.eg" TargetMode="External"/><Relationship Id="rId35" Type="http://schemas.microsoft.com/office/2007/relationships/hdphoto" Target="../media/hdphoto1.wdp"/><Relationship Id="rId8" Type="http://schemas.openxmlformats.org/officeDocument/2006/relationships/image" Target="../media/image2.png"/><Relationship Id="rId3" Type="http://schemas.openxmlformats.org/officeDocument/2006/relationships/hyperlink" Target="https://tfaws.nasa.gov/wp-content/uploads/TFAWS2020-ID-512-El-Nenaey-Paper.pdf" TargetMode="External"/><Relationship Id="rId12" Type="http://schemas.openxmlformats.org/officeDocument/2006/relationships/image" Target="../media/image6.png"/><Relationship Id="rId17" Type="http://schemas.openxmlformats.org/officeDocument/2006/relationships/image" Target="../media/image11.png"/><Relationship Id="rId25" Type="http://schemas.openxmlformats.org/officeDocument/2006/relationships/image" Target="../media/image17.png"/><Relationship Id="rId33" Type="http://schemas.openxmlformats.org/officeDocument/2006/relationships/chart" Target="../charts/chart4.xml"/><Relationship Id="rId38"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524DF62A-CD06-38BA-B60C-07DD76BF5374}"/>
              </a:ext>
            </a:extLst>
          </p:cNvPr>
          <p:cNvSpPr/>
          <p:nvPr/>
        </p:nvSpPr>
        <p:spPr>
          <a:xfrm>
            <a:off x="19592201" y="4893204"/>
            <a:ext cx="9745837" cy="23907221"/>
          </a:xfrm>
          <a:prstGeom prst="rect">
            <a:avLst/>
          </a:prstGeom>
          <a:solidFill>
            <a:srgbClr val="F8F9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s-AR" sz="1700" dirty="0">
              <a:solidFill>
                <a:schemeClr val="tx1"/>
              </a:solidFill>
              <a:latin typeface="Times New Roman" panose="02020603050405020304" pitchFamily="18" charset="0"/>
              <a:cs typeface="Times New Roman" panose="02020603050405020304" pitchFamily="18" charset="0"/>
            </a:endParaRPr>
          </a:p>
        </p:txBody>
      </p:sp>
      <p:sp>
        <p:nvSpPr>
          <p:cNvPr id="42" name="Rectangle 41">
            <a:extLst>
              <a:ext uri="{FF2B5EF4-FFF2-40B4-BE49-F238E27FC236}">
                <a16:creationId xmlns:a16="http://schemas.microsoft.com/office/drawing/2014/main" id="{4DE4A449-48E0-F5F0-248C-CC58C6FAFFD1}"/>
              </a:ext>
            </a:extLst>
          </p:cNvPr>
          <p:cNvSpPr/>
          <p:nvPr/>
        </p:nvSpPr>
        <p:spPr>
          <a:xfrm>
            <a:off x="720532" y="5844717"/>
            <a:ext cx="9488016" cy="3374042"/>
          </a:xfrm>
          <a:prstGeom prst="rect">
            <a:avLst/>
          </a:prstGeom>
          <a:solidFill>
            <a:srgbClr val="F8F9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700" dirty="0">
              <a:solidFill>
                <a:schemeClr val="tx1"/>
              </a:solidFill>
              <a:latin typeface="Times New Roman" panose="02020603050405020304" pitchFamily="18" charset="0"/>
              <a:cs typeface="Times New Roman" panose="02020603050405020304" pitchFamily="18" charset="0"/>
            </a:endParaRPr>
          </a:p>
        </p:txBody>
      </p:sp>
      <p:sp>
        <p:nvSpPr>
          <p:cNvPr id="41" name="Rectangle 40">
            <a:extLst>
              <a:ext uri="{FF2B5EF4-FFF2-40B4-BE49-F238E27FC236}">
                <a16:creationId xmlns:a16="http://schemas.microsoft.com/office/drawing/2014/main" id="{14B0CDDF-6501-D1A3-E6C7-CB107891D1BE}"/>
              </a:ext>
            </a:extLst>
          </p:cNvPr>
          <p:cNvSpPr/>
          <p:nvPr/>
        </p:nvSpPr>
        <p:spPr>
          <a:xfrm>
            <a:off x="720532" y="10194990"/>
            <a:ext cx="9499106" cy="11807382"/>
          </a:xfrm>
          <a:prstGeom prst="rect">
            <a:avLst/>
          </a:prstGeom>
          <a:solidFill>
            <a:srgbClr val="F8F9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700" dirty="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67FE21EA-DF69-E049-095A-09B9AEBE3C99}"/>
              </a:ext>
            </a:extLst>
          </p:cNvPr>
          <p:cNvSpPr/>
          <p:nvPr/>
        </p:nvSpPr>
        <p:spPr>
          <a:xfrm>
            <a:off x="713558" y="4868305"/>
            <a:ext cx="9503523" cy="959869"/>
          </a:xfrm>
          <a:prstGeom prst="rect">
            <a:avLst/>
          </a:prstGeom>
          <a:solidFill>
            <a:srgbClr val="1F6E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993" dirty="0"/>
          </a:p>
        </p:txBody>
      </p:sp>
      <p:sp>
        <p:nvSpPr>
          <p:cNvPr id="10" name="Rectangle 9">
            <a:extLst>
              <a:ext uri="{FF2B5EF4-FFF2-40B4-BE49-F238E27FC236}">
                <a16:creationId xmlns:a16="http://schemas.microsoft.com/office/drawing/2014/main" id="{9D5D79CD-ACEF-6977-6FA5-D2DBCF03925E}"/>
              </a:ext>
            </a:extLst>
          </p:cNvPr>
          <p:cNvSpPr/>
          <p:nvPr/>
        </p:nvSpPr>
        <p:spPr>
          <a:xfrm>
            <a:off x="720528" y="9223321"/>
            <a:ext cx="9488019" cy="953434"/>
          </a:xfrm>
          <a:prstGeom prst="rect">
            <a:avLst/>
          </a:prstGeom>
          <a:solidFill>
            <a:srgbClr val="1F6E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993" dirty="0"/>
          </a:p>
        </p:txBody>
      </p:sp>
      <p:sp>
        <p:nvSpPr>
          <p:cNvPr id="14" name="Rectangle 13">
            <a:extLst>
              <a:ext uri="{FF2B5EF4-FFF2-40B4-BE49-F238E27FC236}">
                <a16:creationId xmlns:a16="http://schemas.microsoft.com/office/drawing/2014/main" id="{58345134-E17F-3BF0-0F92-7C760AA58096}"/>
              </a:ext>
            </a:extLst>
          </p:cNvPr>
          <p:cNvSpPr/>
          <p:nvPr/>
        </p:nvSpPr>
        <p:spPr>
          <a:xfrm>
            <a:off x="720528" y="22014430"/>
            <a:ext cx="9488017" cy="1001058"/>
          </a:xfrm>
          <a:prstGeom prst="rect">
            <a:avLst/>
          </a:prstGeom>
          <a:solidFill>
            <a:srgbClr val="1F6E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993" dirty="0"/>
          </a:p>
        </p:txBody>
      </p:sp>
      <p:sp>
        <p:nvSpPr>
          <p:cNvPr id="17" name="Rectangle 16">
            <a:extLst>
              <a:ext uri="{FF2B5EF4-FFF2-40B4-BE49-F238E27FC236}">
                <a16:creationId xmlns:a16="http://schemas.microsoft.com/office/drawing/2014/main" id="{6D25BC8C-0E74-E740-598B-2C42C0EFC7FB}"/>
              </a:ext>
            </a:extLst>
          </p:cNvPr>
          <p:cNvSpPr>
            <a:spLocks/>
          </p:cNvSpPr>
          <p:nvPr/>
        </p:nvSpPr>
        <p:spPr>
          <a:xfrm>
            <a:off x="10353287" y="4878614"/>
            <a:ext cx="9129661" cy="920211"/>
          </a:xfrm>
          <a:prstGeom prst="rect">
            <a:avLst/>
          </a:prstGeom>
          <a:solidFill>
            <a:srgbClr val="1F6E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993" dirty="0">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AFDD8342-51C5-1D14-2AE9-9225196D3E4E}"/>
              </a:ext>
            </a:extLst>
          </p:cNvPr>
          <p:cNvSpPr/>
          <p:nvPr/>
        </p:nvSpPr>
        <p:spPr>
          <a:xfrm>
            <a:off x="10357123" y="10577159"/>
            <a:ext cx="9143391" cy="978408"/>
          </a:xfrm>
          <a:prstGeom prst="rect">
            <a:avLst/>
          </a:prstGeom>
          <a:solidFill>
            <a:srgbClr val="1F6E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993" dirty="0"/>
          </a:p>
        </p:txBody>
      </p:sp>
      <p:sp>
        <p:nvSpPr>
          <p:cNvPr id="30" name="Rectangle 29">
            <a:extLst>
              <a:ext uri="{FF2B5EF4-FFF2-40B4-BE49-F238E27FC236}">
                <a16:creationId xmlns:a16="http://schemas.microsoft.com/office/drawing/2014/main" id="{016650B4-6288-A34A-A6CC-ED1DA2612E83}"/>
              </a:ext>
            </a:extLst>
          </p:cNvPr>
          <p:cNvSpPr/>
          <p:nvPr/>
        </p:nvSpPr>
        <p:spPr>
          <a:xfrm>
            <a:off x="29459664" y="10313692"/>
            <a:ext cx="9608890" cy="978408"/>
          </a:xfrm>
          <a:prstGeom prst="rect">
            <a:avLst/>
          </a:prstGeom>
          <a:solidFill>
            <a:srgbClr val="1F6E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993" dirty="0"/>
          </a:p>
        </p:txBody>
      </p:sp>
      <p:sp>
        <p:nvSpPr>
          <p:cNvPr id="36" name="Rectangle 35">
            <a:extLst>
              <a:ext uri="{FF2B5EF4-FFF2-40B4-BE49-F238E27FC236}">
                <a16:creationId xmlns:a16="http://schemas.microsoft.com/office/drawing/2014/main" id="{9260C22C-F97F-F477-AAC3-6139F8D68503}"/>
              </a:ext>
            </a:extLst>
          </p:cNvPr>
          <p:cNvSpPr/>
          <p:nvPr/>
        </p:nvSpPr>
        <p:spPr>
          <a:xfrm>
            <a:off x="29459662" y="15061613"/>
            <a:ext cx="9608889" cy="978408"/>
          </a:xfrm>
          <a:prstGeom prst="rect">
            <a:avLst/>
          </a:prstGeom>
          <a:solidFill>
            <a:srgbClr val="1F6E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993" dirty="0"/>
          </a:p>
        </p:txBody>
      </p:sp>
      <p:sp>
        <p:nvSpPr>
          <p:cNvPr id="40" name="Rectangle 39">
            <a:extLst>
              <a:ext uri="{FF2B5EF4-FFF2-40B4-BE49-F238E27FC236}">
                <a16:creationId xmlns:a16="http://schemas.microsoft.com/office/drawing/2014/main" id="{5E69B918-C263-72B8-ACC5-2486C14526B3}"/>
              </a:ext>
            </a:extLst>
          </p:cNvPr>
          <p:cNvSpPr/>
          <p:nvPr/>
        </p:nvSpPr>
        <p:spPr>
          <a:xfrm>
            <a:off x="29459663" y="25696243"/>
            <a:ext cx="9608888" cy="978408"/>
          </a:xfrm>
          <a:prstGeom prst="rect">
            <a:avLst/>
          </a:prstGeom>
          <a:solidFill>
            <a:srgbClr val="1F6E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993" dirty="0"/>
          </a:p>
        </p:txBody>
      </p:sp>
      <p:sp>
        <p:nvSpPr>
          <p:cNvPr id="64" name="TextBox 63">
            <a:extLst>
              <a:ext uri="{FF2B5EF4-FFF2-40B4-BE49-F238E27FC236}">
                <a16:creationId xmlns:a16="http://schemas.microsoft.com/office/drawing/2014/main" id="{6FBC3AB1-1918-DFA9-B21C-91AC2E1F4344}"/>
              </a:ext>
            </a:extLst>
          </p:cNvPr>
          <p:cNvSpPr txBox="1"/>
          <p:nvPr/>
        </p:nvSpPr>
        <p:spPr>
          <a:xfrm>
            <a:off x="5673786" y="339052"/>
            <a:ext cx="28252615" cy="4001095"/>
          </a:xfrm>
          <a:prstGeom prst="rect">
            <a:avLst/>
          </a:prstGeom>
          <a:noFill/>
        </p:spPr>
        <p:txBody>
          <a:bodyPr wrap="square" rtlCol="0">
            <a:spAutoFit/>
          </a:bodyPr>
          <a:lstStyle/>
          <a:p>
            <a:pPr algn="ctr"/>
            <a:r>
              <a:rPr lang="en-US" sz="11000" b="1" dirty="0">
                <a:latin typeface="Times New Roman" panose="02020603050405020304" pitchFamily="18" charset="0"/>
                <a:cs typeface="Times New Roman" panose="02020603050405020304" pitchFamily="18" charset="0"/>
              </a:rPr>
              <a:t>H-rotor – Savenios VAWT                                 </a:t>
            </a:r>
            <a:r>
              <a:rPr lang="en-US" sz="5000" b="1" dirty="0">
                <a:latin typeface="Times New Roman" panose="02020603050405020304" pitchFamily="18" charset="0"/>
                <a:ea typeface="ADLaM Display" panose="02010000000000000000" pitchFamily="2" charset="0"/>
                <a:cs typeface="Times New Roman" panose="02020603050405020304" pitchFamily="18" charset="0"/>
              </a:rPr>
              <a:t>(Emad Ahmed</a:t>
            </a:r>
            <a:r>
              <a:rPr lang="ar-EG" sz="5000" b="1" dirty="0">
                <a:latin typeface="Times New Roman" panose="02020603050405020304" pitchFamily="18" charset="0"/>
                <a:ea typeface="ADLaM Display" panose="02010000000000000000" pitchFamily="2" charset="0"/>
                <a:cs typeface="Times New Roman" panose="02020603050405020304" pitchFamily="18" charset="0"/>
              </a:rPr>
              <a:t> </a:t>
            </a:r>
            <a:r>
              <a:rPr lang="en-US" sz="5000" b="1" dirty="0">
                <a:latin typeface="Times New Roman" panose="02020603050405020304" pitchFamily="18" charset="0"/>
                <a:ea typeface="ADLaM Display" panose="02010000000000000000" pitchFamily="2" charset="0"/>
                <a:cs typeface="Times New Roman" panose="02020603050405020304" pitchFamily="18" charset="0"/>
              </a:rPr>
              <a:t>- Ahmed Hassan - Mohamed Shawky – Philopateer Nabil - Ahmed Ali)</a:t>
            </a:r>
          </a:p>
          <a:p>
            <a:pPr algn="ctr"/>
            <a:r>
              <a:rPr lang="en-US" altLang="en-US" sz="5000" b="1" dirty="0">
                <a:solidFill>
                  <a:schemeClr val="accent1">
                    <a:lumMod val="75000"/>
                  </a:schemeClr>
                </a:solidFill>
                <a:latin typeface="Times New Roman" panose="02020603050405020304" pitchFamily="18" charset="0"/>
                <a:cs typeface="Times New Roman" panose="02020603050405020304" pitchFamily="18" charset="0"/>
              </a:rPr>
              <a:t>Qena STEM High School, Grade 10, 2</a:t>
            </a:r>
            <a:r>
              <a:rPr lang="en-US" altLang="en-US" sz="5000" b="1" baseline="30000" dirty="0">
                <a:solidFill>
                  <a:schemeClr val="accent1">
                    <a:lumMod val="75000"/>
                  </a:schemeClr>
                </a:solidFill>
                <a:latin typeface="Times New Roman" panose="02020603050405020304" pitchFamily="18" charset="0"/>
                <a:cs typeface="Times New Roman" panose="02020603050405020304" pitchFamily="18" charset="0"/>
              </a:rPr>
              <a:t>nd</a:t>
            </a:r>
            <a:r>
              <a:rPr lang="en-US" altLang="en-US" sz="5000" b="1" dirty="0">
                <a:solidFill>
                  <a:schemeClr val="accent1">
                    <a:lumMod val="75000"/>
                  </a:schemeClr>
                </a:solidFill>
                <a:latin typeface="Times New Roman" panose="02020603050405020304" pitchFamily="18" charset="0"/>
                <a:cs typeface="Times New Roman" panose="02020603050405020304" pitchFamily="18" charset="0"/>
              </a:rPr>
              <a:t> semester, 2024/2025, Group no. (23110)</a:t>
            </a:r>
          </a:p>
          <a:p>
            <a:pPr algn="ctr"/>
            <a:r>
              <a:rPr lang="en-US" sz="4200" b="1" dirty="0">
                <a:latin typeface="Times New Roman" panose="02020603050405020304" pitchFamily="18" charset="0"/>
                <a:ea typeface="ADLaM Display" panose="02010000000000000000" pitchFamily="2" charset="0"/>
                <a:cs typeface="Times New Roman" panose="02020603050405020304" pitchFamily="18" charset="0"/>
              </a:rPr>
              <a:t>Key words:(Climate change - </a:t>
            </a:r>
            <a:r>
              <a:rPr lang="en-US" sz="4400" b="1" dirty="0">
                <a:latin typeface="Times New Roman" panose="02020603050405020304" pitchFamily="18" charset="0"/>
                <a:cs typeface="Times New Roman" panose="02020603050405020304" pitchFamily="18" charset="0"/>
              </a:rPr>
              <a:t>Renewable Energy </a:t>
            </a:r>
            <a:r>
              <a:rPr lang="en-US" sz="4200" b="1" dirty="0">
                <a:latin typeface="Times New Roman" panose="02020603050405020304" pitchFamily="18" charset="0"/>
                <a:cs typeface="Times New Roman" panose="02020603050405020304" pitchFamily="18" charset="0"/>
              </a:rPr>
              <a:t>- Vertical Axis wind turbine - </a:t>
            </a:r>
            <a:r>
              <a:rPr lang="en-US" sz="4000" b="1" dirty="0">
                <a:latin typeface="Times New Roman" panose="02020603050405020304" pitchFamily="18" charset="0"/>
                <a:cs typeface="Times New Roman" panose="02020603050405020304" pitchFamily="18" charset="0"/>
              </a:rPr>
              <a:t>Hybrid Wind Turbine </a:t>
            </a:r>
            <a:r>
              <a:rPr lang="en-US" sz="4200" b="1" dirty="0">
                <a:latin typeface="Times New Roman" panose="02020603050405020304" pitchFamily="18" charset="0"/>
                <a:cs typeface="Times New Roman" panose="02020603050405020304" pitchFamily="18" charset="0"/>
              </a:rPr>
              <a:t> - Aerodynamics)</a:t>
            </a:r>
            <a:endParaRPr lang="en-US" sz="4200" b="1" dirty="0">
              <a:latin typeface="Times New Roman" panose="02020603050405020304" pitchFamily="18" charset="0"/>
              <a:ea typeface="ADLaM Display" panose="02010000000000000000" pitchFamily="2" charset="0"/>
              <a:cs typeface="Times New Roman" panose="02020603050405020304" pitchFamily="18" charset="0"/>
            </a:endParaRPr>
          </a:p>
        </p:txBody>
      </p:sp>
      <p:sp>
        <p:nvSpPr>
          <p:cNvPr id="23" name="TextBox 22">
            <a:extLst>
              <a:ext uri="{FF2B5EF4-FFF2-40B4-BE49-F238E27FC236}">
                <a16:creationId xmlns:a16="http://schemas.microsoft.com/office/drawing/2014/main" id="{5AB33CE8-FB54-412B-84C6-1740930F1E03}"/>
              </a:ext>
            </a:extLst>
          </p:cNvPr>
          <p:cNvSpPr txBox="1"/>
          <p:nvPr/>
        </p:nvSpPr>
        <p:spPr>
          <a:xfrm>
            <a:off x="3820292" y="4749089"/>
            <a:ext cx="3577771" cy="1169551"/>
          </a:xfrm>
          <a:prstGeom prst="rect">
            <a:avLst/>
          </a:prstGeom>
          <a:noFill/>
        </p:spPr>
        <p:txBody>
          <a:bodyPr wrap="square" rtlCol="0">
            <a:spAutoFit/>
          </a:bodyPr>
          <a:lstStyle/>
          <a:p>
            <a:r>
              <a:rPr lang="en-US" sz="7000" dirty="0">
                <a:latin typeface="Times New Roman" panose="02020603050405020304" pitchFamily="18" charset="0"/>
                <a:ea typeface="ADLaM Display" panose="02010000000000000000" pitchFamily="2" charset="0"/>
                <a:cs typeface="Times New Roman" panose="02020603050405020304" pitchFamily="18" charset="0"/>
              </a:rPr>
              <a:t>Abstract</a:t>
            </a:r>
            <a:r>
              <a:rPr lang="en-US" sz="5000" dirty="0"/>
              <a:t> </a:t>
            </a:r>
          </a:p>
        </p:txBody>
      </p:sp>
      <p:sp>
        <p:nvSpPr>
          <p:cNvPr id="24" name="TextBox 23">
            <a:extLst>
              <a:ext uri="{FF2B5EF4-FFF2-40B4-BE49-F238E27FC236}">
                <a16:creationId xmlns:a16="http://schemas.microsoft.com/office/drawing/2014/main" id="{9F964BA5-72D8-C224-AEB7-31E4E4CCCF26}"/>
              </a:ext>
            </a:extLst>
          </p:cNvPr>
          <p:cNvSpPr txBox="1"/>
          <p:nvPr/>
        </p:nvSpPr>
        <p:spPr>
          <a:xfrm>
            <a:off x="3381555" y="9087530"/>
            <a:ext cx="4753144" cy="1169551"/>
          </a:xfrm>
          <a:prstGeom prst="rect">
            <a:avLst/>
          </a:prstGeom>
          <a:noFill/>
        </p:spPr>
        <p:txBody>
          <a:bodyPr wrap="square" rtlCol="0">
            <a:spAutoFit/>
          </a:bodyPr>
          <a:lstStyle/>
          <a:p>
            <a:r>
              <a:rPr lang="en-US" sz="7000" dirty="0">
                <a:latin typeface="Times New Roman" panose="02020603050405020304" pitchFamily="18" charset="0"/>
                <a:ea typeface="ADLaM Display" panose="02010000000000000000" pitchFamily="2" charset="0"/>
                <a:cs typeface="Times New Roman" panose="02020603050405020304" pitchFamily="18" charset="0"/>
              </a:rPr>
              <a:t>Introduction</a:t>
            </a:r>
          </a:p>
        </p:txBody>
      </p:sp>
      <p:sp>
        <p:nvSpPr>
          <p:cNvPr id="25" name="TextBox 24">
            <a:extLst>
              <a:ext uri="{FF2B5EF4-FFF2-40B4-BE49-F238E27FC236}">
                <a16:creationId xmlns:a16="http://schemas.microsoft.com/office/drawing/2014/main" id="{AE378997-5466-B5C4-E9D9-8825912C2E52}"/>
              </a:ext>
            </a:extLst>
          </p:cNvPr>
          <p:cNvSpPr txBox="1"/>
          <p:nvPr/>
        </p:nvSpPr>
        <p:spPr>
          <a:xfrm>
            <a:off x="3547872" y="21924887"/>
            <a:ext cx="4191924" cy="1169551"/>
          </a:xfrm>
          <a:prstGeom prst="rect">
            <a:avLst/>
          </a:prstGeom>
          <a:noFill/>
        </p:spPr>
        <p:txBody>
          <a:bodyPr wrap="square" rtlCol="0">
            <a:spAutoFit/>
          </a:bodyPr>
          <a:lstStyle/>
          <a:p>
            <a:r>
              <a:rPr lang="en-US" sz="7000" dirty="0">
                <a:latin typeface="Times New Roman" panose="02020603050405020304" pitchFamily="18" charset="0"/>
                <a:ea typeface="ADLaM Display" panose="02010000000000000000" pitchFamily="2" charset="0"/>
                <a:cs typeface="Times New Roman" panose="02020603050405020304" pitchFamily="18" charset="0"/>
              </a:rPr>
              <a:t>Materials</a:t>
            </a:r>
            <a:r>
              <a:rPr lang="en-US" dirty="0"/>
              <a:t> </a:t>
            </a:r>
          </a:p>
        </p:txBody>
      </p:sp>
      <p:sp>
        <p:nvSpPr>
          <p:cNvPr id="28" name="TextBox 27">
            <a:extLst>
              <a:ext uri="{FF2B5EF4-FFF2-40B4-BE49-F238E27FC236}">
                <a16:creationId xmlns:a16="http://schemas.microsoft.com/office/drawing/2014/main" id="{8D199944-3097-0BC6-D164-BFBDB8A1CF4E}"/>
              </a:ext>
            </a:extLst>
          </p:cNvPr>
          <p:cNvSpPr txBox="1"/>
          <p:nvPr/>
        </p:nvSpPr>
        <p:spPr>
          <a:xfrm>
            <a:off x="13158216" y="4707534"/>
            <a:ext cx="3541815" cy="1169551"/>
          </a:xfrm>
          <a:prstGeom prst="rect">
            <a:avLst/>
          </a:prstGeom>
          <a:noFill/>
        </p:spPr>
        <p:txBody>
          <a:bodyPr wrap="square" rtlCol="0">
            <a:spAutoFit/>
          </a:bodyPr>
          <a:lstStyle/>
          <a:p>
            <a:r>
              <a:rPr lang="en-US" sz="7000" dirty="0">
                <a:latin typeface="Times New Roman" panose="02020603050405020304" pitchFamily="18" charset="0"/>
                <a:ea typeface="ADLaM Display" panose="02010000000000000000" pitchFamily="2" charset="0"/>
                <a:cs typeface="Times New Roman" panose="02020603050405020304" pitchFamily="18" charset="0"/>
              </a:rPr>
              <a:t>Methods</a:t>
            </a:r>
            <a:r>
              <a:rPr lang="en-US" dirty="0"/>
              <a:t> </a:t>
            </a:r>
          </a:p>
        </p:txBody>
      </p:sp>
      <p:sp>
        <p:nvSpPr>
          <p:cNvPr id="29" name="TextBox 28">
            <a:extLst>
              <a:ext uri="{FF2B5EF4-FFF2-40B4-BE49-F238E27FC236}">
                <a16:creationId xmlns:a16="http://schemas.microsoft.com/office/drawing/2014/main" id="{1082B117-F7C4-2D3C-1F36-CCB548182C6A}"/>
              </a:ext>
            </a:extLst>
          </p:cNvPr>
          <p:cNvSpPr txBox="1"/>
          <p:nvPr/>
        </p:nvSpPr>
        <p:spPr>
          <a:xfrm>
            <a:off x="13158216" y="10465757"/>
            <a:ext cx="3231759" cy="1169551"/>
          </a:xfrm>
          <a:prstGeom prst="rect">
            <a:avLst/>
          </a:prstGeom>
          <a:noFill/>
        </p:spPr>
        <p:txBody>
          <a:bodyPr wrap="square" rtlCol="0">
            <a:spAutoFit/>
          </a:bodyPr>
          <a:lstStyle/>
          <a:p>
            <a:r>
              <a:rPr lang="en-US" sz="7000" dirty="0">
                <a:latin typeface="Times New Roman" panose="02020603050405020304" pitchFamily="18" charset="0"/>
                <a:ea typeface="ADLaM Display" panose="02010000000000000000" pitchFamily="2" charset="0"/>
                <a:cs typeface="Times New Roman" panose="02020603050405020304" pitchFamily="18" charset="0"/>
              </a:rPr>
              <a:t>Results</a:t>
            </a:r>
          </a:p>
        </p:txBody>
      </p:sp>
      <p:sp>
        <p:nvSpPr>
          <p:cNvPr id="33" name="TextBox 32">
            <a:extLst>
              <a:ext uri="{FF2B5EF4-FFF2-40B4-BE49-F238E27FC236}">
                <a16:creationId xmlns:a16="http://schemas.microsoft.com/office/drawing/2014/main" id="{03645AF7-FE50-9955-DA48-FF130265D86C}"/>
              </a:ext>
            </a:extLst>
          </p:cNvPr>
          <p:cNvSpPr txBox="1"/>
          <p:nvPr/>
        </p:nvSpPr>
        <p:spPr>
          <a:xfrm>
            <a:off x="31069871" y="10236869"/>
            <a:ext cx="6691255" cy="1169551"/>
          </a:xfrm>
          <a:prstGeom prst="rect">
            <a:avLst/>
          </a:prstGeom>
          <a:noFill/>
        </p:spPr>
        <p:txBody>
          <a:bodyPr wrap="none" rtlCol="0">
            <a:spAutoFit/>
          </a:bodyPr>
          <a:lstStyle/>
          <a:p>
            <a:r>
              <a:rPr lang="en-US" sz="7000" dirty="0">
                <a:latin typeface="Times New Roman" panose="02020603050405020304" pitchFamily="18" charset="0"/>
                <a:ea typeface="ADLaM Display" panose="02010000000000000000" pitchFamily="2" charset="0"/>
                <a:cs typeface="Times New Roman" panose="02020603050405020304" pitchFamily="18" charset="0"/>
              </a:rPr>
              <a:t>Recommendation</a:t>
            </a:r>
            <a:r>
              <a:rPr lang="en-US" dirty="0"/>
              <a:t> </a:t>
            </a:r>
          </a:p>
        </p:txBody>
      </p:sp>
      <p:sp>
        <p:nvSpPr>
          <p:cNvPr id="34" name="TextBox 33">
            <a:extLst>
              <a:ext uri="{FF2B5EF4-FFF2-40B4-BE49-F238E27FC236}">
                <a16:creationId xmlns:a16="http://schemas.microsoft.com/office/drawing/2014/main" id="{F3D97BD5-1E26-5492-9044-0A37515CBCB7}"/>
              </a:ext>
            </a:extLst>
          </p:cNvPr>
          <p:cNvSpPr txBox="1"/>
          <p:nvPr/>
        </p:nvSpPr>
        <p:spPr>
          <a:xfrm>
            <a:off x="31582655" y="14963937"/>
            <a:ext cx="6428811" cy="749808"/>
          </a:xfrm>
          <a:prstGeom prst="rect">
            <a:avLst/>
          </a:prstGeom>
          <a:noFill/>
        </p:spPr>
        <p:txBody>
          <a:bodyPr wrap="square" rtlCol="0">
            <a:spAutoFit/>
          </a:bodyPr>
          <a:lstStyle/>
          <a:p>
            <a:r>
              <a:rPr lang="en-US" sz="7000" dirty="0">
                <a:latin typeface="Times New Roman" panose="02020603050405020304" pitchFamily="18" charset="0"/>
                <a:ea typeface="ADLaM Display" panose="02010000000000000000" pitchFamily="2" charset="0"/>
                <a:cs typeface="Times New Roman" panose="02020603050405020304" pitchFamily="18" charset="0"/>
              </a:rPr>
              <a:t>Literature cited</a:t>
            </a:r>
          </a:p>
        </p:txBody>
      </p:sp>
      <p:sp>
        <p:nvSpPr>
          <p:cNvPr id="35" name="TextBox 34">
            <a:extLst>
              <a:ext uri="{FF2B5EF4-FFF2-40B4-BE49-F238E27FC236}">
                <a16:creationId xmlns:a16="http://schemas.microsoft.com/office/drawing/2014/main" id="{8CE7C40B-EEAD-85F2-CA8A-2BBD96C20E5B}"/>
              </a:ext>
            </a:extLst>
          </p:cNvPr>
          <p:cNvSpPr txBox="1"/>
          <p:nvPr/>
        </p:nvSpPr>
        <p:spPr>
          <a:xfrm>
            <a:off x="30707564" y="25550293"/>
            <a:ext cx="8178991" cy="1107996"/>
          </a:xfrm>
          <a:prstGeom prst="rect">
            <a:avLst/>
          </a:prstGeom>
          <a:noFill/>
        </p:spPr>
        <p:txBody>
          <a:bodyPr wrap="square" rtlCol="0">
            <a:spAutoFit/>
          </a:bodyPr>
          <a:lstStyle/>
          <a:p>
            <a:r>
              <a:rPr lang="en-US" sz="6600" dirty="0">
                <a:latin typeface="Times New Roman" panose="02020603050405020304" pitchFamily="18" charset="0"/>
                <a:ea typeface="ADLaM Display" panose="02010000000000000000" pitchFamily="2" charset="0"/>
                <a:cs typeface="Times New Roman" panose="02020603050405020304" pitchFamily="18" charset="0"/>
              </a:rPr>
              <a:t>For further information </a:t>
            </a:r>
          </a:p>
        </p:txBody>
      </p:sp>
      <p:sp>
        <p:nvSpPr>
          <p:cNvPr id="50" name="Rectangle 49">
            <a:extLst>
              <a:ext uri="{FF2B5EF4-FFF2-40B4-BE49-F238E27FC236}">
                <a16:creationId xmlns:a16="http://schemas.microsoft.com/office/drawing/2014/main" id="{C7AB8710-EAFB-2DAF-5DA1-C10B58B43261}"/>
              </a:ext>
            </a:extLst>
          </p:cNvPr>
          <p:cNvSpPr/>
          <p:nvPr/>
        </p:nvSpPr>
        <p:spPr>
          <a:xfrm>
            <a:off x="10356517" y="11548394"/>
            <a:ext cx="9144000" cy="7208961"/>
          </a:xfrm>
          <a:prstGeom prst="rect">
            <a:avLst/>
          </a:prstGeom>
          <a:solidFill>
            <a:srgbClr val="F8F9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940C7A45-C557-EFC0-FA3D-7C23E524B5FF}"/>
              </a:ext>
            </a:extLst>
          </p:cNvPr>
          <p:cNvSpPr/>
          <p:nvPr/>
        </p:nvSpPr>
        <p:spPr>
          <a:xfrm>
            <a:off x="29429723" y="5821271"/>
            <a:ext cx="9654080" cy="4508339"/>
          </a:xfrm>
          <a:prstGeom prst="rect">
            <a:avLst/>
          </a:prstGeom>
          <a:solidFill>
            <a:srgbClr val="F8F9FA"/>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dirty="0">
                <a:solidFill>
                  <a:schemeClr val="tx1"/>
                </a:solidFill>
                <a:latin typeface="Times New Roman" panose="02020603050405020304" pitchFamily="18" charset="0"/>
                <a:cs typeface="Times New Roman" panose="02020603050405020304" pitchFamily="18" charset="0"/>
              </a:rPr>
              <a:t>We therefore concluded that after subjecting our test data to testing, our hybrid Savonius-H-Rotor wind turbine model met all the required Capstone design specifications. It was producing consistent electric output at low winds, it met the size dimension specifications, and its main composition consisted of recycled, local, and readily accessible material.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Efficiency tells us how good the turbine turns wind energy into electricity. We compare the real output with the total energy the wind could give. Perfect efficiency is impossible, but the closer we get to it, the better the design is, and total efficiency is 41.99 %. </a:t>
            </a:r>
            <a:r>
              <a:rPr lang="en-US" sz="1600" dirty="0">
                <a:solidFill>
                  <a:schemeClr val="tx1"/>
                </a:solidFill>
                <a:latin typeface="Times New Roman" panose="02020603050405020304" pitchFamily="18" charset="0"/>
                <a:cs typeface="Times New Roman" panose="02020603050405020304" pitchFamily="18" charset="0"/>
              </a:rPr>
              <a:t>The design consisted of a very simple, trustworthy energy storage system, and its structural configuration withstood over tens of tests. Balance and function adjustments were completed after some testing. Proudly borrowing lessons from the experience of traditional vertical-axis wind turbines, our design boasts the good self-starting characteristic of the Savonius rotor and the high-speed efficiency of the H-Rotor. This allowed our design to function at its best in mixed conditions without requiring complex components. Compared to other single-type rotor designs before it, our hybrid was more efficient, easier to construct, and field deployable. The design is sustainable, affordable, and useful. </a:t>
            </a:r>
          </a:p>
          <a:p>
            <a:pPr algn="just"/>
            <a:r>
              <a:rPr lang="en-US" sz="1600" dirty="0">
                <a:solidFill>
                  <a:schemeClr val="tx1"/>
                </a:solidFill>
                <a:latin typeface="Times New Roman" panose="02020603050405020304" pitchFamily="18" charset="0"/>
                <a:cs typeface="Times New Roman" panose="02020603050405020304" pitchFamily="18" charset="0"/>
              </a:rPr>
              <a:t>It shows clear improvement in usability, sustainability, and dependability, and is a good example of small-scale renewable energy technology systems. Our project uses the Capstone's focus on innovation and environmental responsibility well. </a:t>
            </a:r>
          </a:p>
          <a:p>
            <a:pPr algn="just"/>
            <a:r>
              <a:rPr lang="en-US" sz="1600" dirty="0">
                <a:solidFill>
                  <a:schemeClr val="tx1"/>
                </a:solidFill>
                <a:latin typeface="Times New Roman" panose="02020603050405020304" pitchFamily="18" charset="0"/>
                <a:cs typeface="Times New Roman" panose="02020603050405020304" pitchFamily="18" charset="0"/>
              </a:rPr>
              <a:t>It also provided us with real hands-on experience for addressing real engineering issues, proving that clean energy can be harnessed by simple hardware, collaboration, and creative design.</a:t>
            </a:r>
          </a:p>
        </p:txBody>
      </p:sp>
      <p:sp>
        <p:nvSpPr>
          <p:cNvPr id="55" name="Rectangle 54">
            <a:extLst>
              <a:ext uri="{FF2B5EF4-FFF2-40B4-BE49-F238E27FC236}">
                <a16:creationId xmlns:a16="http://schemas.microsoft.com/office/drawing/2014/main" id="{E4030162-A46C-AE7F-D3CD-05B20977C38B}"/>
              </a:ext>
            </a:extLst>
          </p:cNvPr>
          <p:cNvSpPr/>
          <p:nvPr/>
        </p:nvSpPr>
        <p:spPr>
          <a:xfrm>
            <a:off x="29459664" y="26674651"/>
            <a:ext cx="9608887" cy="2111560"/>
          </a:xfrm>
          <a:prstGeom prst="rect">
            <a:avLst/>
          </a:prstGeom>
          <a:solidFill>
            <a:srgbClr val="F8F9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Times New Roman" panose="02020603050405020304" pitchFamily="18" charset="0"/>
              <a:cs typeface="Times New Roman" panose="02020603050405020304" pitchFamily="18" charset="0"/>
            </a:endParaRPr>
          </a:p>
        </p:txBody>
      </p:sp>
      <p:sp>
        <p:nvSpPr>
          <p:cNvPr id="56" name="Rectangle 55">
            <a:extLst>
              <a:ext uri="{FF2B5EF4-FFF2-40B4-BE49-F238E27FC236}">
                <a16:creationId xmlns:a16="http://schemas.microsoft.com/office/drawing/2014/main" id="{1AF84CA3-7CCB-9694-E292-74658B5955A8}"/>
              </a:ext>
            </a:extLst>
          </p:cNvPr>
          <p:cNvSpPr/>
          <p:nvPr/>
        </p:nvSpPr>
        <p:spPr>
          <a:xfrm>
            <a:off x="29459662" y="16020286"/>
            <a:ext cx="9608890" cy="5423308"/>
          </a:xfrm>
          <a:prstGeom prst="rect">
            <a:avLst/>
          </a:prstGeom>
          <a:solidFill>
            <a:srgbClr val="F8F9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700" dirty="0">
                <a:solidFill>
                  <a:schemeClr val="tx1"/>
                </a:solidFill>
                <a:latin typeface="Times New Roman" panose="02020603050405020304" pitchFamily="18" charset="0"/>
                <a:cs typeface="Times New Roman" panose="02020603050405020304" pitchFamily="18" charset="0"/>
              </a:rPr>
              <a:t>1- </a:t>
            </a:r>
            <a:r>
              <a:rPr lang="en-US" sz="1700" dirty="0">
                <a:solidFill>
                  <a:schemeClr val="tx1"/>
                </a:solidFill>
                <a:latin typeface="Times New Roman" panose="02020603050405020304" pitchFamily="18" charset="0"/>
                <a:cs typeface="Italic Outline Art" panose="02010400000000000000" pitchFamily="2" charset="-78"/>
              </a:rPr>
              <a:t>Chandler, D. L. (2024). MIT engineers' new theory could improve the design and operation of wind farms. MIT News. Massachusetts, United States. </a:t>
            </a:r>
            <a:r>
              <a:rPr lang="en-US" sz="1700" dirty="0">
                <a:solidFill>
                  <a:schemeClr val="tx1"/>
                </a:solidFill>
                <a:latin typeface="Times New Roman" panose="02020603050405020304" pitchFamily="18" charset="0"/>
                <a:cs typeface="Italic Outline Art" panose="02010400000000000000" pitchFamily="2" charset="-78"/>
                <a:hlinkClick r:id="rId2"/>
              </a:rPr>
              <a:t>https://news.mit.edu/2024/new-theory-could-improve-design-and-operation-wind-farms-0821</a:t>
            </a:r>
            <a:endParaRPr lang="en-US" sz="1700" dirty="0">
              <a:solidFill>
                <a:schemeClr val="tx1"/>
              </a:solidFill>
              <a:latin typeface="Times New Roman" panose="02020603050405020304" pitchFamily="18" charset="0"/>
              <a:cs typeface="Italic Outline Art" panose="02010400000000000000" pitchFamily="2" charset="-78"/>
            </a:endParaRPr>
          </a:p>
          <a:p>
            <a:endParaRPr lang="en-US" sz="1700" dirty="0">
              <a:solidFill>
                <a:schemeClr val="tx1"/>
              </a:solidFill>
              <a:latin typeface="Times New Roman" panose="02020603050405020304" pitchFamily="18" charset="0"/>
              <a:cs typeface="Italic Outline Art" panose="02010400000000000000" pitchFamily="2" charset="-78"/>
            </a:endParaRPr>
          </a:p>
          <a:p>
            <a:r>
              <a:rPr lang="en-US" sz="1700" dirty="0">
                <a:solidFill>
                  <a:schemeClr val="tx1"/>
                </a:solidFill>
                <a:latin typeface="Times New Roman" panose="02020603050405020304" pitchFamily="18" charset="0"/>
                <a:cs typeface="Italic Outline Art" panose="02010400000000000000" pitchFamily="2" charset="-78"/>
              </a:rPr>
              <a:t>2- El-</a:t>
            </a:r>
            <a:r>
              <a:rPr lang="en-US" sz="1700" dirty="0" err="1">
                <a:solidFill>
                  <a:schemeClr val="tx1"/>
                </a:solidFill>
                <a:latin typeface="Times New Roman" panose="02020603050405020304" pitchFamily="18" charset="0"/>
                <a:cs typeface="Italic Outline Art" panose="02010400000000000000" pitchFamily="2" charset="-78"/>
              </a:rPr>
              <a:t>Nenaey</a:t>
            </a:r>
            <a:r>
              <a:rPr lang="en-US" sz="1700" dirty="0">
                <a:solidFill>
                  <a:schemeClr val="tx1"/>
                </a:solidFill>
                <a:latin typeface="Times New Roman" panose="02020603050405020304" pitchFamily="18" charset="0"/>
                <a:cs typeface="Italic Outline Art" panose="02010400000000000000" pitchFamily="2" charset="-78"/>
              </a:rPr>
              <a:t>, K. M., </a:t>
            </a:r>
            <a:r>
              <a:rPr lang="en-US" sz="1700" dirty="0" err="1">
                <a:solidFill>
                  <a:schemeClr val="tx1"/>
                </a:solidFill>
                <a:latin typeface="Times New Roman" panose="02020603050405020304" pitchFamily="18" charset="0"/>
                <a:cs typeface="Italic Outline Art" panose="02010400000000000000" pitchFamily="2" charset="-78"/>
              </a:rPr>
              <a:t>Eldrainy</a:t>
            </a:r>
            <a:r>
              <a:rPr lang="en-US" sz="1700" dirty="0">
                <a:solidFill>
                  <a:schemeClr val="tx1"/>
                </a:solidFill>
                <a:latin typeface="Times New Roman" panose="02020603050405020304" pitchFamily="18" charset="0"/>
                <a:cs typeface="Italic Outline Art" panose="02010400000000000000" pitchFamily="2" charset="-78"/>
              </a:rPr>
              <a:t>, Y. A., Eissa, A. A., &amp; Kassab, S. Z. (2020). Performance evaluation of hybrid vertical axis wind turbine. Thermal &amp; Fluids Analysis Workshop (TFAWS). Alabama, United States. </a:t>
            </a:r>
            <a:r>
              <a:rPr lang="en-US" sz="1700" dirty="0">
                <a:solidFill>
                  <a:schemeClr val="tx1"/>
                </a:solidFill>
                <a:latin typeface="Times New Roman" panose="02020603050405020304" pitchFamily="18" charset="0"/>
                <a:cs typeface="Italic Outline Art" panose="02010400000000000000" pitchFamily="2" charset="-78"/>
                <a:hlinkClick r:id="rId3"/>
              </a:rPr>
              <a:t>https://tfaws.nasa.gov/wp-content/uploads/TFAWS2020-ID-512-El-Nenaey-Paper.pdf</a:t>
            </a:r>
            <a:endParaRPr lang="en-US" sz="1700" dirty="0">
              <a:solidFill>
                <a:schemeClr val="tx1"/>
              </a:solidFill>
              <a:latin typeface="Times New Roman" panose="02020603050405020304" pitchFamily="18" charset="0"/>
              <a:cs typeface="Italic Outline Art" panose="02010400000000000000" pitchFamily="2" charset="-78"/>
            </a:endParaRPr>
          </a:p>
          <a:p>
            <a:endParaRPr lang="en-US" sz="1700" dirty="0">
              <a:solidFill>
                <a:schemeClr val="tx1"/>
              </a:solidFill>
              <a:latin typeface="Times New Roman" panose="02020603050405020304" pitchFamily="18" charset="0"/>
              <a:cs typeface="Italic Outline Art" panose="02010400000000000000" pitchFamily="2" charset="-78"/>
            </a:endParaRPr>
          </a:p>
          <a:p>
            <a:r>
              <a:rPr lang="en-US" sz="1700" dirty="0">
                <a:solidFill>
                  <a:schemeClr val="tx1"/>
                </a:solidFill>
                <a:latin typeface="Times New Roman" panose="02020603050405020304" pitchFamily="18" charset="0"/>
                <a:cs typeface="Italic Outline Art" panose="02010400000000000000" pitchFamily="2" charset="-78"/>
              </a:rPr>
              <a:t>3- </a:t>
            </a:r>
            <a:r>
              <a:rPr lang="en-US" sz="1700" dirty="0" err="1">
                <a:solidFill>
                  <a:schemeClr val="tx1"/>
                </a:solidFill>
                <a:latin typeface="Times New Roman" panose="02020603050405020304" pitchFamily="18" charset="0"/>
                <a:cs typeface="Italic Outline Art" panose="02010400000000000000" pitchFamily="2" charset="-78"/>
              </a:rPr>
              <a:t>Giguère</a:t>
            </a:r>
            <a:r>
              <a:rPr lang="en-US" sz="1700" dirty="0">
                <a:solidFill>
                  <a:schemeClr val="tx1"/>
                </a:solidFill>
                <a:latin typeface="Times New Roman" panose="02020603050405020304" pitchFamily="18" charset="0"/>
                <a:cs typeface="Italic Outline Art" panose="02010400000000000000" pitchFamily="2" charset="-78"/>
              </a:rPr>
              <a:t>, P., &amp; Selig, M. S. (2000). Blade geometry optimization for the design of wind turbine rotors. AIAA Paper No. 2000-0045. Nevada, United States.</a:t>
            </a:r>
          </a:p>
          <a:p>
            <a:r>
              <a:rPr lang="en-US" sz="1700" dirty="0">
                <a:solidFill>
                  <a:schemeClr val="tx1"/>
                </a:solidFill>
                <a:latin typeface="Times New Roman" panose="02020603050405020304" pitchFamily="18" charset="0"/>
                <a:cs typeface="Italic Outline Art" panose="02010400000000000000" pitchFamily="2" charset="-78"/>
                <a:hlinkClick r:id="rId4"/>
              </a:rPr>
              <a:t>https://m-selig.ae.Illinois.edu/pubs/GiguereSelig-2000-AIAA-2000-0045.pdf</a:t>
            </a:r>
            <a:endParaRPr lang="en-US" sz="1700" dirty="0">
              <a:solidFill>
                <a:schemeClr val="tx1"/>
              </a:solidFill>
              <a:latin typeface="Times New Roman" panose="02020603050405020304" pitchFamily="18" charset="0"/>
              <a:cs typeface="Italic Outline Art" panose="02010400000000000000" pitchFamily="2" charset="-78"/>
            </a:endParaRPr>
          </a:p>
          <a:p>
            <a:endParaRPr lang="en-US" sz="1700" dirty="0">
              <a:solidFill>
                <a:schemeClr val="tx1"/>
              </a:solidFill>
              <a:latin typeface="Times New Roman" panose="02020603050405020304" pitchFamily="18" charset="0"/>
              <a:cs typeface="Italic Outline Art" panose="02010400000000000000" pitchFamily="2" charset="-78"/>
            </a:endParaRPr>
          </a:p>
          <a:p>
            <a:r>
              <a:rPr lang="en-US" sz="1700" dirty="0">
                <a:solidFill>
                  <a:schemeClr val="tx1"/>
                </a:solidFill>
                <a:latin typeface="Times New Roman" panose="02020603050405020304" pitchFamily="18" charset="0"/>
                <a:cs typeface="Italic Outline Art" panose="02010400000000000000" pitchFamily="2" charset="-78"/>
              </a:rPr>
              <a:t>4- U.S. Department of Energy. (2023). Wind energy basics. Office of Energy Efficiency &amp; Renewable Energy. Washington, D.C., United States </a:t>
            </a:r>
          </a:p>
          <a:p>
            <a:r>
              <a:rPr lang="en-US" sz="1700" dirty="0">
                <a:solidFill>
                  <a:schemeClr val="tx1"/>
                </a:solidFill>
                <a:latin typeface="Times New Roman" panose="02020603050405020304" pitchFamily="18" charset="0"/>
                <a:cs typeface="Italic Outline Art" panose="02010400000000000000" pitchFamily="2" charset="-78"/>
                <a:hlinkClick r:id="rId5"/>
              </a:rPr>
              <a:t>https://www.energy.gov/eere/wind/wind-energy-basics</a:t>
            </a:r>
            <a:endParaRPr lang="en-US" sz="1700" dirty="0">
              <a:solidFill>
                <a:schemeClr val="tx1"/>
              </a:solidFill>
              <a:latin typeface="Times New Roman" panose="02020603050405020304" pitchFamily="18" charset="0"/>
              <a:cs typeface="Italic Outline Art" panose="02010400000000000000" pitchFamily="2" charset="-78"/>
            </a:endParaRPr>
          </a:p>
          <a:p>
            <a:endParaRPr lang="en-US" sz="1700" dirty="0">
              <a:solidFill>
                <a:schemeClr val="tx1"/>
              </a:solidFill>
              <a:latin typeface="Times New Roman" panose="02020603050405020304" pitchFamily="18" charset="0"/>
              <a:cs typeface="Italic Outline Art" panose="02010400000000000000" pitchFamily="2" charset="-78"/>
            </a:endParaRPr>
          </a:p>
          <a:p>
            <a:r>
              <a:rPr lang="en-US" sz="1700" dirty="0">
                <a:solidFill>
                  <a:schemeClr val="tx1"/>
                </a:solidFill>
                <a:latin typeface="Times New Roman" panose="02020603050405020304" pitchFamily="18" charset="0"/>
                <a:cs typeface="Italic Outline Art" panose="02010400000000000000" pitchFamily="2" charset="-78"/>
              </a:rPr>
              <a:t>5- U.S. Energy Information Administration. (2024, August 13). Country analysis brief: Egypt. U.S. Department of Energy. Washington, D.C., United States. </a:t>
            </a:r>
            <a:r>
              <a:rPr lang="en-US" sz="1700" dirty="0">
                <a:solidFill>
                  <a:schemeClr val="tx1"/>
                </a:solidFill>
                <a:latin typeface="Times New Roman" panose="02020603050405020304" pitchFamily="18" charset="0"/>
                <a:cs typeface="Italic Outline Art" panose="02010400000000000000" pitchFamily="2" charset="-78"/>
                <a:hlinkClick r:id="rId6"/>
              </a:rPr>
              <a:t>https://www.eia.gov/international/content/analysis/countries_long/Egypt/pdf/Egypt.pdf</a:t>
            </a:r>
            <a:endParaRPr lang="en-US" sz="1700" dirty="0">
              <a:solidFill>
                <a:schemeClr val="tx1"/>
              </a:solidFill>
              <a:latin typeface="Times New Roman" panose="02020603050405020304" pitchFamily="18" charset="0"/>
              <a:cs typeface="Italic Outline Art" panose="02010400000000000000" pitchFamily="2" charset="-78"/>
            </a:endParaRPr>
          </a:p>
        </p:txBody>
      </p:sp>
      <p:sp>
        <p:nvSpPr>
          <p:cNvPr id="57" name="Rectangle 56">
            <a:extLst>
              <a:ext uri="{FF2B5EF4-FFF2-40B4-BE49-F238E27FC236}">
                <a16:creationId xmlns:a16="http://schemas.microsoft.com/office/drawing/2014/main" id="{EC29C3DA-C308-B77F-8751-6FEF5B6090AB}"/>
              </a:ext>
            </a:extLst>
          </p:cNvPr>
          <p:cNvSpPr/>
          <p:nvPr/>
        </p:nvSpPr>
        <p:spPr>
          <a:xfrm>
            <a:off x="29459664" y="11283480"/>
            <a:ext cx="9608890" cy="3763494"/>
          </a:xfrm>
          <a:prstGeom prst="rect">
            <a:avLst/>
          </a:prstGeom>
          <a:solidFill>
            <a:srgbClr val="F8F9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700" dirty="0">
              <a:solidFill>
                <a:schemeClr val="tx1"/>
              </a:solidFill>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803A306F-2D82-6D76-B56B-1D46B66337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439779" y="692006"/>
            <a:ext cx="3822605" cy="381304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29CA6DB5-81D0-4B8C-1B64-0526B180216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83664" y="4854500"/>
            <a:ext cx="973981" cy="973981"/>
          </a:xfrm>
          <a:prstGeom prst="rect">
            <a:avLst/>
          </a:prstGeom>
        </p:spPr>
      </p:pic>
      <p:pic>
        <p:nvPicPr>
          <p:cNvPr id="5" name="Picture 2" descr="Introduction icons for free download | Freepik">
            <a:extLst>
              <a:ext uri="{FF2B5EF4-FFF2-40B4-BE49-F238E27FC236}">
                <a16:creationId xmlns:a16="http://schemas.microsoft.com/office/drawing/2014/main" id="{40A46C9B-78BB-D076-7D5D-232E11295FE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2239" y="9184921"/>
            <a:ext cx="1010067" cy="10100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1D46159E-F0CC-1CFA-5170-9404B01F492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83664" y="22014896"/>
            <a:ext cx="989534" cy="989534"/>
          </a:xfrm>
          <a:prstGeom prst="rect">
            <a:avLst/>
          </a:prstGeom>
        </p:spPr>
      </p:pic>
      <p:pic>
        <p:nvPicPr>
          <p:cNvPr id="11" name="Picture 10">
            <a:extLst>
              <a:ext uri="{FF2B5EF4-FFF2-40B4-BE49-F238E27FC236}">
                <a16:creationId xmlns:a16="http://schemas.microsoft.com/office/drawing/2014/main" id="{6A473099-6D1F-52EB-E3CD-79521F7A7D7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flipH="1">
            <a:off x="11082407" y="4927275"/>
            <a:ext cx="796295" cy="796295"/>
          </a:xfrm>
          <a:prstGeom prst="rect">
            <a:avLst/>
          </a:prstGeom>
        </p:spPr>
      </p:pic>
      <p:pic>
        <p:nvPicPr>
          <p:cNvPr id="18" name="Picture 17">
            <a:extLst>
              <a:ext uri="{FF2B5EF4-FFF2-40B4-BE49-F238E27FC236}">
                <a16:creationId xmlns:a16="http://schemas.microsoft.com/office/drawing/2014/main" id="{5B357224-E529-CE4E-179A-E4D1DDDA694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flipV="1">
            <a:off x="10972800" y="10664279"/>
            <a:ext cx="891288" cy="891288"/>
          </a:xfrm>
          <a:prstGeom prst="rect">
            <a:avLst/>
          </a:prstGeom>
        </p:spPr>
      </p:pic>
      <p:pic>
        <p:nvPicPr>
          <p:cNvPr id="45" name="Picture 44">
            <a:extLst>
              <a:ext uri="{FF2B5EF4-FFF2-40B4-BE49-F238E27FC236}">
                <a16:creationId xmlns:a16="http://schemas.microsoft.com/office/drawing/2014/main" id="{BE06F2CD-9CCA-8D76-CC10-B810A43260A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9932803" y="10341276"/>
            <a:ext cx="901004" cy="901004"/>
          </a:xfrm>
          <a:prstGeom prst="rect">
            <a:avLst/>
          </a:prstGeom>
        </p:spPr>
      </p:pic>
      <p:pic>
        <p:nvPicPr>
          <p:cNvPr id="48" name="Picture 47">
            <a:extLst>
              <a:ext uri="{FF2B5EF4-FFF2-40B4-BE49-F238E27FC236}">
                <a16:creationId xmlns:a16="http://schemas.microsoft.com/office/drawing/2014/main" id="{CB85DCC2-14F7-C28F-4EA7-20246F22AB7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0092382" y="15136390"/>
            <a:ext cx="773150" cy="773150"/>
          </a:xfrm>
          <a:prstGeom prst="rect">
            <a:avLst/>
          </a:prstGeom>
        </p:spPr>
      </p:pic>
      <p:pic>
        <p:nvPicPr>
          <p:cNvPr id="59" name="Picture 58">
            <a:extLst>
              <a:ext uri="{FF2B5EF4-FFF2-40B4-BE49-F238E27FC236}">
                <a16:creationId xmlns:a16="http://schemas.microsoft.com/office/drawing/2014/main" id="{7BED88FB-0749-03CE-C54E-F2D2D758D54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9756714" y="25789808"/>
            <a:ext cx="791278" cy="791278"/>
          </a:xfrm>
          <a:prstGeom prst="rect">
            <a:avLst/>
          </a:prstGeom>
        </p:spPr>
      </p:pic>
      <p:pic>
        <p:nvPicPr>
          <p:cNvPr id="3" name="Picture 2" descr="A close-up of a sign&#10;&#10;Description automatically generated">
            <a:extLst>
              <a:ext uri="{FF2B5EF4-FFF2-40B4-BE49-F238E27FC236}">
                <a16:creationId xmlns:a16="http://schemas.microsoft.com/office/drawing/2014/main" id="{2AA698DE-B350-B96E-F2B5-B3638DB13F5F}"/>
              </a:ext>
            </a:extLst>
          </p:cNvPr>
          <p:cNvPicPr/>
          <p:nvPr/>
        </p:nvPicPr>
        <p:blipFill>
          <a:blip r:embed="rId16">
            <a:extLst>
              <a:ext uri="{28A0092B-C50C-407E-A947-70E740481C1C}">
                <a14:useLocalDpi xmlns:a14="http://schemas.microsoft.com/office/drawing/2010/main" val="0"/>
              </a:ext>
            </a:extLst>
          </a:blip>
          <a:srcRect/>
          <a:stretch>
            <a:fillRect/>
          </a:stretch>
        </p:blipFill>
        <p:spPr bwMode="auto">
          <a:xfrm>
            <a:off x="903326" y="662480"/>
            <a:ext cx="4597791" cy="3764138"/>
          </a:xfrm>
          <a:prstGeom prst="rect">
            <a:avLst/>
          </a:prstGeom>
          <a:noFill/>
        </p:spPr>
      </p:pic>
      <p:pic>
        <p:nvPicPr>
          <p:cNvPr id="13" name="Picture 12">
            <a:extLst>
              <a:ext uri="{FF2B5EF4-FFF2-40B4-BE49-F238E27FC236}">
                <a16:creationId xmlns:a16="http://schemas.microsoft.com/office/drawing/2014/main" id="{9E10D9EA-4A9E-FA57-F2A2-F807E486EAD0}"/>
              </a:ext>
            </a:extLst>
          </p:cNvPr>
          <p:cNvPicPr>
            <a:picLocks noChangeAspect="1"/>
          </p:cNvPicPr>
          <p:nvPr/>
        </p:nvPicPr>
        <p:blipFill rotWithShape="1">
          <a:blip r:embed="rId17"/>
          <a:srcRect t="-1" r="1377" b="787"/>
          <a:stretch/>
        </p:blipFill>
        <p:spPr>
          <a:xfrm>
            <a:off x="713558" y="23045323"/>
            <a:ext cx="9521330" cy="5795026"/>
          </a:xfrm>
          <a:prstGeom prst="rect">
            <a:avLst/>
          </a:prstGeom>
        </p:spPr>
      </p:pic>
      <p:sp>
        <p:nvSpPr>
          <p:cNvPr id="15" name="Rectangle 14">
            <a:extLst>
              <a:ext uri="{FF2B5EF4-FFF2-40B4-BE49-F238E27FC236}">
                <a16:creationId xmlns:a16="http://schemas.microsoft.com/office/drawing/2014/main" id="{A8F53825-05B3-036A-A0FD-F03396A172BA}"/>
              </a:ext>
            </a:extLst>
          </p:cNvPr>
          <p:cNvSpPr/>
          <p:nvPr/>
        </p:nvSpPr>
        <p:spPr>
          <a:xfrm>
            <a:off x="10354566" y="5825878"/>
            <a:ext cx="9127104" cy="4772625"/>
          </a:xfrm>
          <a:prstGeom prst="rect">
            <a:avLst/>
          </a:prstGeom>
          <a:solidFill>
            <a:srgbClr val="F8F9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700" dirty="0">
              <a:solidFill>
                <a:schemeClr val="tx1"/>
              </a:solidFill>
              <a:latin typeface="Times New Roman" panose="02020603050405020304" pitchFamily="18" charset="0"/>
              <a:cs typeface="Times New Roman" panose="02020603050405020304" pitchFamily="18" charset="0"/>
            </a:endParaRPr>
          </a:p>
        </p:txBody>
      </p:sp>
      <p:pic>
        <p:nvPicPr>
          <p:cNvPr id="47" name="Picture 46">
            <a:extLst>
              <a:ext uri="{FF2B5EF4-FFF2-40B4-BE49-F238E27FC236}">
                <a16:creationId xmlns:a16="http://schemas.microsoft.com/office/drawing/2014/main" id="{2BF8C354-4458-E6E1-9219-318F723DD7E9}"/>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rot="5400000">
            <a:off x="17422905" y="5336170"/>
            <a:ext cx="1592596" cy="1926465"/>
          </a:xfrm>
          <a:prstGeom prst="rect">
            <a:avLst/>
          </a:prstGeom>
        </p:spPr>
      </p:pic>
      <p:pic>
        <p:nvPicPr>
          <p:cNvPr id="58" name="Picture 57" descr="A white rectangular object with a black background&#10;&#10;Description automatically generated">
            <a:extLst>
              <a:ext uri="{FF2B5EF4-FFF2-40B4-BE49-F238E27FC236}">
                <a16:creationId xmlns:a16="http://schemas.microsoft.com/office/drawing/2014/main" id="{EE89E69F-D10D-92BA-94A0-09C6F5CF9E7F}"/>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8142707" y="7138580"/>
            <a:ext cx="1476404" cy="1480433"/>
          </a:xfrm>
          <a:prstGeom prst="rect">
            <a:avLst/>
          </a:prstGeom>
        </p:spPr>
      </p:pic>
      <p:sp>
        <p:nvSpPr>
          <p:cNvPr id="60" name="TextBox 59">
            <a:extLst>
              <a:ext uri="{FF2B5EF4-FFF2-40B4-BE49-F238E27FC236}">
                <a16:creationId xmlns:a16="http://schemas.microsoft.com/office/drawing/2014/main" id="{E84C8208-99E7-44F4-E47B-5B77BC54A557}"/>
              </a:ext>
            </a:extLst>
          </p:cNvPr>
          <p:cNvSpPr txBox="1"/>
          <p:nvPr/>
        </p:nvSpPr>
        <p:spPr>
          <a:xfrm>
            <a:off x="17329727" y="6602107"/>
            <a:ext cx="1732395" cy="600164"/>
          </a:xfrm>
          <a:prstGeom prst="rect">
            <a:avLst/>
          </a:prstGeom>
          <a:noFill/>
        </p:spPr>
        <p:txBody>
          <a:bodyPr wrap="square" rtlCol="0">
            <a:spAutoFit/>
          </a:bodyPr>
          <a:lstStyle/>
          <a:p>
            <a:pPr algn="ctr"/>
            <a:r>
              <a:rPr lang="en-US" sz="1100" dirty="0"/>
              <a:t>                                          </a:t>
            </a:r>
            <a:r>
              <a:rPr lang="en-US" sz="1100" dirty="0">
                <a:latin typeface="Times New Roman" panose="02020603050405020304" pitchFamily="18" charset="0"/>
                <a:cs typeface="Times New Roman" panose="02020603050405020304" pitchFamily="18" charset="0"/>
              </a:rPr>
              <a:t>(Figure 2)</a:t>
            </a:r>
          </a:p>
          <a:p>
            <a:pPr algn="ctr"/>
            <a:r>
              <a:rPr lang="en-US" sz="1100" dirty="0">
                <a:latin typeface="Times New Roman" panose="02020603050405020304" pitchFamily="18" charset="0"/>
                <a:cs typeface="Times New Roman" panose="02020603050405020304" pitchFamily="18" charset="0"/>
              </a:rPr>
              <a:t>Base of Savonius rotors</a:t>
            </a:r>
          </a:p>
        </p:txBody>
      </p:sp>
      <p:sp>
        <p:nvSpPr>
          <p:cNvPr id="61" name="TextBox 60">
            <a:extLst>
              <a:ext uri="{FF2B5EF4-FFF2-40B4-BE49-F238E27FC236}">
                <a16:creationId xmlns:a16="http://schemas.microsoft.com/office/drawing/2014/main" id="{9FBE6CA2-B773-1E37-9A90-9DDF11551E88}"/>
              </a:ext>
            </a:extLst>
          </p:cNvPr>
          <p:cNvSpPr txBox="1"/>
          <p:nvPr/>
        </p:nvSpPr>
        <p:spPr>
          <a:xfrm>
            <a:off x="18418679" y="8340569"/>
            <a:ext cx="1795515" cy="600164"/>
          </a:xfrm>
          <a:prstGeom prst="rect">
            <a:avLst/>
          </a:prstGeom>
          <a:noFill/>
        </p:spPr>
        <p:txBody>
          <a:bodyPr wrap="square" rtlCol="0">
            <a:spAutoFit/>
          </a:bodyPr>
          <a:lstStyle/>
          <a:p>
            <a:pPr algn="just"/>
            <a:r>
              <a:rPr lang="en-US" sz="1100" dirty="0">
                <a:latin typeface="Times New Roman" panose="02020603050405020304" pitchFamily="18" charset="0"/>
                <a:cs typeface="Times New Roman" panose="02020603050405020304" pitchFamily="18" charset="0"/>
              </a:rPr>
              <a:t>                                             (Figure 3)</a:t>
            </a:r>
          </a:p>
          <a:p>
            <a:pPr algn="just"/>
            <a:r>
              <a:rPr lang="en-US" sz="1100" dirty="0">
                <a:latin typeface="Times New Roman" panose="02020603050405020304" pitchFamily="18" charset="0"/>
                <a:cs typeface="Times New Roman" panose="02020603050405020304" pitchFamily="18" charset="0"/>
              </a:rPr>
              <a:t>Savonius rotor</a:t>
            </a:r>
          </a:p>
        </p:txBody>
      </p:sp>
      <p:sp>
        <p:nvSpPr>
          <p:cNvPr id="62" name="Rectangle 61">
            <a:extLst>
              <a:ext uri="{FF2B5EF4-FFF2-40B4-BE49-F238E27FC236}">
                <a16:creationId xmlns:a16="http://schemas.microsoft.com/office/drawing/2014/main" id="{425FA19E-1BB0-CCC6-B1FA-DC7870EF839D}"/>
              </a:ext>
            </a:extLst>
          </p:cNvPr>
          <p:cNvSpPr/>
          <p:nvPr/>
        </p:nvSpPr>
        <p:spPr>
          <a:xfrm>
            <a:off x="29459662" y="21421920"/>
            <a:ext cx="9608889" cy="1005933"/>
          </a:xfrm>
          <a:prstGeom prst="rect">
            <a:avLst/>
          </a:prstGeom>
          <a:solidFill>
            <a:srgbClr val="1F6E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993" dirty="0"/>
          </a:p>
        </p:txBody>
      </p:sp>
      <p:sp>
        <p:nvSpPr>
          <p:cNvPr id="63" name="TextBox 62">
            <a:extLst>
              <a:ext uri="{FF2B5EF4-FFF2-40B4-BE49-F238E27FC236}">
                <a16:creationId xmlns:a16="http://schemas.microsoft.com/office/drawing/2014/main" id="{58A67C46-213B-2A34-CA47-D52D299901CB}"/>
              </a:ext>
            </a:extLst>
          </p:cNvPr>
          <p:cNvSpPr txBox="1"/>
          <p:nvPr/>
        </p:nvSpPr>
        <p:spPr>
          <a:xfrm>
            <a:off x="31114473" y="21324368"/>
            <a:ext cx="6646653" cy="1169551"/>
          </a:xfrm>
          <a:prstGeom prst="rect">
            <a:avLst/>
          </a:prstGeom>
          <a:noFill/>
        </p:spPr>
        <p:txBody>
          <a:bodyPr wrap="square" rtlCol="0">
            <a:spAutoFit/>
          </a:bodyPr>
          <a:lstStyle/>
          <a:p>
            <a:r>
              <a:rPr lang="en-US" sz="7000" dirty="0">
                <a:latin typeface="Times New Roman" panose="02020603050405020304" pitchFamily="18" charset="0"/>
                <a:ea typeface="ADLaM Display" panose="02010000000000000000" pitchFamily="2" charset="0"/>
                <a:cs typeface="Times New Roman" panose="02020603050405020304" pitchFamily="18" charset="0"/>
              </a:rPr>
              <a:t>Acknowledgment</a:t>
            </a:r>
          </a:p>
        </p:txBody>
      </p:sp>
      <p:sp>
        <p:nvSpPr>
          <p:cNvPr id="65" name="Rectangle 64">
            <a:extLst>
              <a:ext uri="{FF2B5EF4-FFF2-40B4-BE49-F238E27FC236}">
                <a16:creationId xmlns:a16="http://schemas.microsoft.com/office/drawing/2014/main" id="{65731964-FECB-BE01-31D4-8CDD0E651E77}"/>
              </a:ext>
            </a:extLst>
          </p:cNvPr>
          <p:cNvSpPr/>
          <p:nvPr/>
        </p:nvSpPr>
        <p:spPr>
          <a:xfrm>
            <a:off x="29459661" y="22410972"/>
            <a:ext cx="9608890" cy="3309809"/>
          </a:xfrm>
          <a:prstGeom prst="rect">
            <a:avLst/>
          </a:prstGeom>
          <a:solidFill>
            <a:srgbClr val="F8F9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700" dirty="0">
              <a:solidFill>
                <a:schemeClr val="tx1"/>
              </a:solidFill>
              <a:latin typeface="Times New Roman" panose="02020603050405020304" pitchFamily="18" charset="0"/>
              <a:cs typeface="Times New Roman" panose="02020603050405020304" pitchFamily="18" charset="0"/>
            </a:endParaRPr>
          </a:p>
        </p:txBody>
      </p:sp>
      <p:pic>
        <p:nvPicPr>
          <p:cNvPr id="68" name="Picture 67">
            <a:extLst>
              <a:ext uri="{FF2B5EF4-FFF2-40B4-BE49-F238E27FC236}">
                <a16:creationId xmlns:a16="http://schemas.microsoft.com/office/drawing/2014/main" id="{D19F2944-3ADF-0ECF-53E3-147B708EAD24}"/>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flipH="1">
            <a:off x="29916865" y="21421920"/>
            <a:ext cx="932879" cy="932879"/>
          </a:xfrm>
          <a:prstGeom prst="rect">
            <a:avLst/>
          </a:prstGeom>
        </p:spPr>
      </p:pic>
      <p:pic>
        <p:nvPicPr>
          <p:cNvPr id="2" name="Picture 1">
            <a:extLst>
              <a:ext uri="{FF2B5EF4-FFF2-40B4-BE49-F238E27FC236}">
                <a16:creationId xmlns:a16="http://schemas.microsoft.com/office/drawing/2014/main" id="{883156F1-C9A8-1373-FFCA-449910E40833}"/>
              </a:ext>
            </a:extLst>
          </p:cNvPr>
          <p:cNvPicPr/>
          <p:nvPr/>
        </p:nvPicPr>
        <p:blipFill>
          <a:blip r:embed="rId21">
            <a:extLst>
              <a:ext uri="{28A0092B-C50C-407E-A947-70E740481C1C}">
                <a14:useLocalDpi xmlns:a14="http://schemas.microsoft.com/office/drawing/2010/main" val="0"/>
              </a:ext>
            </a:extLst>
          </a:blip>
          <a:srcRect/>
          <a:stretch>
            <a:fillRect/>
          </a:stretch>
        </p:blipFill>
        <p:spPr bwMode="auto">
          <a:xfrm>
            <a:off x="7691666" y="11357406"/>
            <a:ext cx="2380564" cy="1300845"/>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56475FAD-17E0-C719-C4F2-0F35CAA211F2}"/>
              </a:ext>
            </a:extLst>
          </p:cNvPr>
          <p:cNvSpPr txBox="1"/>
          <p:nvPr/>
        </p:nvSpPr>
        <p:spPr>
          <a:xfrm>
            <a:off x="7537442" y="12702419"/>
            <a:ext cx="2688929" cy="600164"/>
          </a:xfrm>
          <a:prstGeom prst="rect">
            <a:avLst/>
          </a:prstGeom>
          <a:noFill/>
        </p:spPr>
        <p:txBody>
          <a:bodyPr wrap="square" rtlCol="0">
            <a:spAutoFit/>
          </a:bodyPr>
          <a:lstStyle/>
          <a:p>
            <a:pPr algn="ctr"/>
            <a:r>
              <a:rPr lang="en-US" sz="1100" b="1" dirty="0">
                <a:latin typeface="Times New Roman" panose="02020603050405020304" pitchFamily="18" charset="0"/>
                <a:cs typeface="Times New Roman" panose="02020603050405020304" pitchFamily="18" charset="0"/>
              </a:rPr>
              <a:t>(Figure 1)</a:t>
            </a:r>
          </a:p>
          <a:p>
            <a:pPr algn="ctr"/>
            <a:r>
              <a:rPr lang="en-US" sz="1100" b="1" dirty="0">
                <a:latin typeface="Times New Roman" panose="02020603050405020304" pitchFamily="18" charset="0"/>
                <a:cs typeface="Times New Roman" panose="02020603050405020304" pitchFamily="18" charset="0"/>
              </a:rPr>
              <a:t>The amount of PM10  and  PM2.5 in some areas in Cairo</a:t>
            </a:r>
          </a:p>
        </p:txBody>
      </p:sp>
      <p:sp>
        <p:nvSpPr>
          <p:cNvPr id="43" name="Rectangle 42">
            <a:extLst>
              <a:ext uri="{FF2B5EF4-FFF2-40B4-BE49-F238E27FC236}">
                <a16:creationId xmlns:a16="http://schemas.microsoft.com/office/drawing/2014/main" id="{16C106DC-BC6A-43D5-8ECF-7A34A0CE90B1}"/>
              </a:ext>
            </a:extLst>
          </p:cNvPr>
          <p:cNvSpPr/>
          <p:nvPr/>
        </p:nvSpPr>
        <p:spPr>
          <a:xfrm>
            <a:off x="29422973" y="4816997"/>
            <a:ext cx="9654079" cy="977942"/>
          </a:xfrm>
          <a:prstGeom prst="rect">
            <a:avLst/>
          </a:prstGeom>
          <a:solidFill>
            <a:srgbClr val="1F6E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ar-EG" sz="9600" dirty="0">
                <a:solidFill>
                  <a:srgbClr val="000000"/>
                </a:solidFill>
                <a:latin typeface="Times New Roman" panose="02020603050405020304" pitchFamily="18" charset="0"/>
                <a:ea typeface="ADLaM Display" panose="02010000000000000000"/>
                <a:cs typeface="Times New Roman" panose="02020603050405020304" pitchFamily="18" charset="0"/>
              </a:rPr>
              <a:t>          </a:t>
            </a:r>
            <a:r>
              <a:rPr lang="en-US" sz="6600" dirty="0">
                <a:solidFill>
                  <a:srgbClr val="000000"/>
                </a:solidFill>
                <a:latin typeface="Times New Roman" panose="02020603050405020304" pitchFamily="18" charset="0"/>
                <a:ea typeface="ADLaM Display" panose="02010000000000000000"/>
                <a:cs typeface="Times New Roman" panose="02020603050405020304" pitchFamily="18" charset="0"/>
              </a:rPr>
              <a:t>Conclusion</a:t>
            </a:r>
            <a:r>
              <a:rPr lang="en-US" sz="9600" dirty="0">
                <a:solidFill>
                  <a:srgbClr val="000000"/>
                </a:solidFill>
                <a:latin typeface="ADLaM Display" panose="02010000000000000000"/>
                <a:ea typeface="ADLaM Display" panose="02010000000000000000"/>
                <a:cs typeface="ADLaM Display" panose="02010000000000000000"/>
              </a:rPr>
              <a:t> </a:t>
            </a:r>
            <a:endParaRPr lang="en-US" sz="9600" dirty="0"/>
          </a:p>
        </p:txBody>
      </p:sp>
      <p:graphicFrame>
        <p:nvGraphicFramePr>
          <p:cNvPr id="39" name="Chart 38">
            <a:extLst>
              <a:ext uri="{FF2B5EF4-FFF2-40B4-BE49-F238E27FC236}">
                <a16:creationId xmlns:a16="http://schemas.microsoft.com/office/drawing/2014/main" id="{BBE1196B-DF74-0A4B-A613-6DD0EF6491EC}"/>
              </a:ext>
            </a:extLst>
          </p:cNvPr>
          <p:cNvGraphicFramePr/>
          <p:nvPr>
            <p:extLst>
              <p:ext uri="{D42A27DB-BD31-4B8C-83A1-F6EECF244321}">
                <p14:modId xmlns:p14="http://schemas.microsoft.com/office/powerpoint/2010/main" val="1777882428"/>
              </p:ext>
            </p:extLst>
          </p:nvPr>
        </p:nvGraphicFramePr>
        <p:xfrm>
          <a:off x="10354565" y="12752891"/>
          <a:ext cx="5692408" cy="2618265"/>
        </p:xfrm>
        <a:graphic>
          <a:graphicData uri="http://schemas.openxmlformats.org/drawingml/2006/chart">
            <c:chart xmlns:c="http://schemas.openxmlformats.org/drawingml/2006/chart" xmlns:r="http://schemas.openxmlformats.org/officeDocument/2006/relationships" r:id="rId22"/>
          </a:graphicData>
        </a:graphic>
      </p:graphicFrame>
      <p:graphicFrame>
        <p:nvGraphicFramePr>
          <p:cNvPr id="70" name="Table 69">
            <a:extLst>
              <a:ext uri="{FF2B5EF4-FFF2-40B4-BE49-F238E27FC236}">
                <a16:creationId xmlns:a16="http://schemas.microsoft.com/office/drawing/2014/main" id="{FD95E72B-CBCC-3EB6-FDC6-B590CF4E667D}"/>
              </a:ext>
            </a:extLst>
          </p:cNvPr>
          <p:cNvGraphicFramePr>
            <a:graphicFrameLocks noGrp="1"/>
          </p:cNvGraphicFramePr>
          <p:nvPr>
            <p:extLst>
              <p:ext uri="{D42A27DB-BD31-4B8C-83A1-F6EECF244321}">
                <p14:modId xmlns:p14="http://schemas.microsoft.com/office/powerpoint/2010/main" val="2989472180"/>
              </p:ext>
            </p:extLst>
          </p:nvPr>
        </p:nvGraphicFramePr>
        <p:xfrm>
          <a:off x="17191178" y="12792242"/>
          <a:ext cx="2088496" cy="2430922"/>
        </p:xfrm>
        <a:graphic>
          <a:graphicData uri="http://schemas.openxmlformats.org/drawingml/2006/table">
            <a:tbl>
              <a:tblPr firstRow="1" bandRow="1">
                <a:tableStyleId>{5C22544A-7EE6-4342-B048-85BDC9FD1C3A}</a:tableStyleId>
              </a:tblPr>
              <a:tblGrid>
                <a:gridCol w="576945">
                  <a:extLst>
                    <a:ext uri="{9D8B030D-6E8A-4147-A177-3AD203B41FA5}">
                      <a16:colId xmlns:a16="http://schemas.microsoft.com/office/drawing/2014/main" val="3122388191"/>
                    </a:ext>
                  </a:extLst>
                </a:gridCol>
                <a:gridCol w="1511551">
                  <a:extLst>
                    <a:ext uri="{9D8B030D-6E8A-4147-A177-3AD203B41FA5}">
                      <a16:colId xmlns:a16="http://schemas.microsoft.com/office/drawing/2014/main" val="3755907527"/>
                    </a:ext>
                  </a:extLst>
                </a:gridCol>
              </a:tblGrid>
              <a:tr h="193681">
                <a:tc>
                  <a:txBody>
                    <a:bodyPr/>
                    <a:lstStyle/>
                    <a:p>
                      <a:r>
                        <a:rPr lang="en-US" sz="1000" dirty="0"/>
                        <a:t>Time (s)\</a:t>
                      </a:r>
                    </a:p>
                  </a:txBody>
                  <a:tcPr marL="20102" marR="20102" marT="10051" marB="10051">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1200" dirty="0">
                          <a:latin typeface="Times New Roman" panose="02020603050405020304" pitchFamily="18" charset="0"/>
                          <a:cs typeface="Times New Roman" panose="02020603050405020304" pitchFamily="18" charset="0"/>
                        </a:rPr>
                        <a:t>I (Ampere)</a:t>
                      </a:r>
                    </a:p>
                  </a:txBody>
                  <a:tcPr marL="20102" marR="20102" marT="10051" marB="10051">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599562014"/>
                  </a:ext>
                </a:extLst>
              </a:tr>
              <a:tr h="208223">
                <a:tc>
                  <a:txBody>
                    <a:bodyPr/>
                    <a:lstStyle/>
                    <a:p>
                      <a:r>
                        <a:rPr lang="en-US" sz="1300" dirty="0"/>
                        <a:t>30 s</a:t>
                      </a:r>
                    </a:p>
                  </a:txBody>
                  <a:tcPr marL="20102" marR="20102" marT="10051" marB="10051">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en-US" sz="1300" dirty="0"/>
                        <a:t>0.046 </a:t>
                      </a:r>
                      <a:r>
                        <a:rPr lang="en-US" sz="1400" dirty="0">
                          <a:effectLst/>
                          <a:latin typeface="Times New Roman" panose="02020603050405020304" pitchFamily="18" charset="0"/>
                          <a:cs typeface="Times New Roman" panose="02020603050405020304" pitchFamily="18" charset="0"/>
                        </a:rPr>
                        <a:t>± </a:t>
                      </a:r>
                      <a:r>
                        <a:rPr lang="en-US" sz="1100" dirty="0">
                          <a:effectLst/>
                          <a:latin typeface="Times New Roman" panose="02020603050405020304" pitchFamily="18" charset="0"/>
                          <a:cs typeface="Times New Roman" panose="02020603050405020304" pitchFamily="18" charset="0"/>
                        </a:rPr>
                        <a:t>0.01A</a:t>
                      </a:r>
                      <a:endParaRPr lang="en-US" sz="1300" dirty="0"/>
                    </a:p>
                  </a:txBody>
                  <a:tcPr marL="20102" marR="20102" marT="10051" marB="10051">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97068186"/>
                  </a:ext>
                </a:extLst>
              </a:tr>
              <a:tr h="208223">
                <a:tc>
                  <a:txBody>
                    <a:bodyPr/>
                    <a:lstStyle/>
                    <a:p>
                      <a:r>
                        <a:rPr lang="en-US" sz="1300" dirty="0"/>
                        <a:t>60 s</a:t>
                      </a:r>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rtl="0"/>
                      <a:r>
                        <a:rPr lang="en-US" sz="1300" dirty="0"/>
                        <a:t>0.049  </a:t>
                      </a:r>
                      <a:r>
                        <a:rPr lang="en-US" sz="1400" dirty="0">
                          <a:effectLst/>
                          <a:latin typeface="Times New Roman" panose="02020603050405020304" pitchFamily="18" charset="0"/>
                          <a:cs typeface="Times New Roman" panose="02020603050405020304" pitchFamily="18" charset="0"/>
                        </a:rPr>
                        <a:t>±</a:t>
                      </a:r>
                      <a:r>
                        <a:rPr lang="en-US" sz="1200" dirty="0">
                          <a:effectLst/>
                          <a:latin typeface="Times New Roman" panose="02020603050405020304" pitchFamily="18" charset="0"/>
                          <a:cs typeface="Times New Roman" panose="02020603050405020304" pitchFamily="18" charset="0"/>
                        </a:rPr>
                        <a:t>0.01A</a:t>
                      </a:r>
                      <a:endParaRPr lang="en-US" sz="1300" dirty="0"/>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12161232"/>
                  </a:ext>
                </a:extLst>
              </a:tr>
              <a:tr h="208223">
                <a:tc>
                  <a:txBody>
                    <a:bodyPr/>
                    <a:lstStyle/>
                    <a:p>
                      <a:r>
                        <a:rPr lang="en-US" sz="1300" dirty="0"/>
                        <a:t>90 s</a:t>
                      </a:r>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300" dirty="0"/>
                        <a:t>0.047  </a:t>
                      </a:r>
                      <a:r>
                        <a:rPr lang="en-US" sz="1400" dirty="0">
                          <a:effectLst/>
                          <a:latin typeface="Times New Roman" panose="02020603050405020304" pitchFamily="18" charset="0"/>
                          <a:cs typeface="Times New Roman" panose="02020603050405020304" pitchFamily="18" charset="0"/>
                        </a:rPr>
                        <a:t>±</a:t>
                      </a:r>
                      <a:r>
                        <a:rPr lang="en-US" sz="1200" dirty="0">
                          <a:effectLst/>
                          <a:latin typeface="Times New Roman" panose="02020603050405020304" pitchFamily="18" charset="0"/>
                          <a:cs typeface="Times New Roman" panose="02020603050405020304" pitchFamily="18" charset="0"/>
                        </a:rPr>
                        <a:t>0.01A</a:t>
                      </a:r>
                      <a:endParaRPr lang="en-US" sz="1300" dirty="0"/>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17608152"/>
                  </a:ext>
                </a:extLst>
              </a:tr>
              <a:tr h="208223">
                <a:tc>
                  <a:txBody>
                    <a:bodyPr/>
                    <a:lstStyle/>
                    <a:p>
                      <a:r>
                        <a:rPr lang="en-US" sz="1300" dirty="0"/>
                        <a:t>120 s</a:t>
                      </a:r>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300" dirty="0"/>
                        <a:t>0.051  </a:t>
                      </a:r>
                      <a:r>
                        <a:rPr lang="en-US" sz="1200" dirty="0">
                          <a:effectLst/>
                          <a:latin typeface="Times New Roman" panose="02020603050405020304" pitchFamily="18" charset="0"/>
                          <a:cs typeface="Times New Roman" panose="02020603050405020304" pitchFamily="18" charset="0"/>
                        </a:rPr>
                        <a:t>±0.01A</a:t>
                      </a:r>
                      <a:endParaRPr lang="en-US" sz="1300" dirty="0"/>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47640447"/>
                  </a:ext>
                </a:extLst>
              </a:tr>
              <a:tr h="211743">
                <a:tc>
                  <a:txBody>
                    <a:bodyPr/>
                    <a:lstStyle/>
                    <a:p>
                      <a:r>
                        <a:rPr lang="en-US" sz="1300" dirty="0"/>
                        <a:t>150 s</a:t>
                      </a:r>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300" dirty="0"/>
                        <a:t>0.05  </a:t>
                      </a:r>
                      <a:r>
                        <a:rPr lang="en-US" sz="1200" dirty="0">
                          <a:effectLst/>
                          <a:latin typeface="Times New Roman" panose="02020603050405020304" pitchFamily="18" charset="0"/>
                          <a:cs typeface="Times New Roman" panose="02020603050405020304" pitchFamily="18" charset="0"/>
                        </a:rPr>
                        <a:t>±0.01A</a:t>
                      </a:r>
                      <a:endParaRPr lang="en-US" sz="1300" dirty="0"/>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44685638"/>
                  </a:ext>
                </a:extLst>
              </a:tr>
              <a:tr h="208223">
                <a:tc>
                  <a:txBody>
                    <a:bodyPr/>
                    <a:lstStyle/>
                    <a:p>
                      <a:r>
                        <a:rPr lang="en-US" sz="1300" dirty="0"/>
                        <a:t>180 s</a:t>
                      </a:r>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300" dirty="0"/>
                        <a:t>0.046  </a:t>
                      </a:r>
                      <a:r>
                        <a:rPr lang="en-US" sz="1200" dirty="0">
                          <a:effectLst/>
                          <a:latin typeface="Times New Roman" panose="02020603050405020304" pitchFamily="18" charset="0"/>
                          <a:cs typeface="Times New Roman" panose="02020603050405020304" pitchFamily="18" charset="0"/>
                        </a:rPr>
                        <a:t>±0.01A</a:t>
                      </a:r>
                      <a:endParaRPr lang="en-US" sz="1300" dirty="0"/>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33167117"/>
                  </a:ext>
                </a:extLst>
              </a:tr>
              <a:tr h="208223">
                <a:tc>
                  <a:txBody>
                    <a:bodyPr/>
                    <a:lstStyle/>
                    <a:p>
                      <a:r>
                        <a:rPr lang="en-US" sz="1300" dirty="0"/>
                        <a:t>210 s</a:t>
                      </a:r>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300" dirty="0"/>
                        <a:t>0.042  </a:t>
                      </a:r>
                      <a:r>
                        <a:rPr lang="en-US" sz="1200" dirty="0">
                          <a:effectLst/>
                          <a:latin typeface="Times New Roman" panose="02020603050405020304" pitchFamily="18" charset="0"/>
                          <a:cs typeface="Times New Roman" panose="02020603050405020304" pitchFamily="18" charset="0"/>
                        </a:rPr>
                        <a:t>±0.01A</a:t>
                      </a:r>
                      <a:endParaRPr lang="en-US" sz="1300" dirty="0"/>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08214795"/>
                  </a:ext>
                </a:extLst>
              </a:tr>
              <a:tr h="208223">
                <a:tc>
                  <a:txBody>
                    <a:bodyPr/>
                    <a:lstStyle/>
                    <a:p>
                      <a:r>
                        <a:rPr lang="en-US" sz="1300" dirty="0"/>
                        <a:t>240 s</a:t>
                      </a:r>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300" dirty="0"/>
                        <a:t>0.044  </a:t>
                      </a:r>
                      <a:r>
                        <a:rPr lang="en-US" sz="1200" dirty="0">
                          <a:effectLst/>
                          <a:latin typeface="Times New Roman" panose="02020603050405020304" pitchFamily="18" charset="0"/>
                          <a:cs typeface="Times New Roman" panose="02020603050405020304" pitchFamily="18" charset="0"/>
                        </a:rPr>
                        <a:t>±0.01A</a:t>
                      </a:r>
                      <a:endParaRPr lang="en-US" sz="1300" dirty="0"/>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20264858"/>
                  </a:ext>
                </a:extLst>
              </a:tr>
              <a:tr h="208223">
                <a:tc>
                  <a:txBody>
                    <a:bodyPr/>
                    <a:lstStyle/>
                    <a:p>
                      <a:r>
                        <a:rPr lang="en-US" sz="1300" dirty="0"/>
                        <a:t>270 s</a:t>
                      </a:r>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300" dirty="0"/>
                        <a:t>0.046  </a:t>
                      </a:r>
                      <a:r>
                        <a:rPr lang="en-US" sz="1200" dirty="0">
                          <a:effectLst/>
                          <a:latin typeface="Times New Roman" panose="02020603050405020304" pitchFamily="18" charset="0"/>
                          <a:cs typeface="Times New Roman" panose="02020603050405020304" pitchFamily="18" charset="0"/>
                        </a:rPr>
                        <a:t>±0.01A</a:t>
                      </a:r>
                      <a:endParaRPr lang="en-US" sz="1300" dirty="0"/>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34459762"/>
                  </a:ext>
                </a:extLst>
              </a:tr>
              <a:tr h="208223">
                <a:tc>
                  <a:txBody>
                    <a:bodyPr/>
                    <a:lstStyle/>
                    <a:p>
                      <a:r>
                        <a:rPr lang="en-US" sz="1300" dirty="0"/>
                        <a:t>300 s</a:t>
                      </a:r>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300" dirty="0"/>
                        <a:t>0.041 </a:t>
                      </a:r>
                      <a:r>
                        <a:rPr lang="en-US" sz="1200" dirty="0">
                          <a:effectLst/>
                          <a:latin typeface="Times New Roman" panose="02020603050405020304" pitchFamily="18" charset="0"/>
                          <a:cs typeface="Times New Roman" panose="02020603050405020304" pitchFamily="18" charset="0"/>
                        </a:rPr>
                        <a:t>±0.01A</a:t>
                      </a:r>
                      <a:endParaRPr lang="en-US" sz="1300" dirty="0"/>
                    </a:p>
                  </a:txBody>
                  <a:tcPr marL="20102" marR="20102" marT="10051" marB="10051">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46826021"/>
                  </a:ext>
                </a:extLst>
              </a:tr>
            </a:tbl>
          </a:graphicData>
        </a:graphic>
      </p:graphicFrame>
      <p:graphicFrame>
        <p:nvGraphicFramePr>
          <p:cNvPr id="85" name="Chart 84">
            <a:extLst>
              <a:ext uri="{FF2B5EF4-FFF2-40B4-BE49-F238E27FC236}">
                <a16:creationId xmlns:a16="http://schemas.microsoft.com/office/drawing/2014/main" id="{2576A72F-B778-EDA0-0635-6FB9B53522F8}"/>
              </a:ext>
            </a:extLst>
          </p:cNvPr>
          <p:cNvGraphicFramePr/>
          <p:nvPr>
            <p:extLst>
              <p:ext uri="{D42A27DB-BD31-4B8C-83A1-F6EECF244321}">
                <p14:modId xmlns:p14="http://schemas.microsoft.com/office/powerpoint/2010/main" val="2977829806"/>
              </p:ext>
            </p:extLst>
          </p:nvPr>
        </p:nvGraphicFramePr>
        <p:xfrm>
          <a:off x="10256024" y="15685468"/>
          <a:ext cx="6133951" cy="2451208"/>
        </p:xfrm>
        <a:graphic>
          <a:graphicData uri="http://schemas.openxmlformats.org/drawingml/2006/chart">
            <c:chart xmlns:c="http://schemas.openxmlformats.org/drawingml/2006/chart" xmlns:r="http://schemas.openxmlformats.org/officeDocument/2006/relationships" r:id="rId23"/>
          </a:graphicData>
        </a:graphic>
      </p:graphicFrame>
      <p:graphicFrame>
        <p:nvGraphicFramePr>
          <p:cNvPr id="86" name="Table 85">
            <a:extLst>
              <a:ext uri="{FF2B5EF4-FFF2-40B4-BE49-F238E27FC236}">
                <a16:creationId xmlns:a16="http://schemas.microsoft.com/office/drawing/2014/main" id="{6967E807-5EF5-54F8-3ACD-2629460BB330}"/>
              </a:ext>
            </a:extLst>
          </p:cNvPr>
          <p:cNvGraphicFramePr>
            <a:graphicFrameLocks noGrp="1"/>
          </p:cNvGraphicFramePr>
          <p:nvPr>
            <p:extLst>
              <p:ext uri="{D42A27DB-BD31-4B8C-83A1-F6EECF244321}">
                <p14:modId xmlns:p14="http://schemas.microsoft.com/office/powerpoint/2010/main" val="3380123195"/>
              </p:ext>
            </p:extLst>
          </p:nvPr>
        </p:nvGraphicFramePr>
        <p:xfrm>
          <a:off x="17217274" y="15694151"/>
          <a:ext cx="1957300" cy="2311190"/>
        </p:xfrm>
        <a:graphic>
          <a:graphicData uri="http://schemas.openxmlformats.org/drawingml/2006/table">
            <a:tbl>
              <a:tblPr firstRow="1" bandRow="1">
                <a:tableStyleId>{5C22544A-7EE6-4342-B048-85BDC9FD1C3A}</a:tableStyleId>
              </a:tblPr>
              <a:tblGrid>
                <a:gridCol w="929547">
                  <a:extLst>
                    <a:ext uri="{9D8B030D-6E8A-4147-A177-3AD203B41FA5}">
                      <a16:colId xmlns:a16="http://schemas.microsoft.com/office/drawing/2014/main" val="3122388191"/>
                    </a:ext>
                  </a:extLst>
                </a:gridCol>
                <a:gridCol w="1027753">
                  <a:extLst>
                    <a:ext uri="{9D8B030D-6E8A-4147-A177-3AD203B41FA5}">
                      <a16:colId xmlns:a16="http://schemas.microsoft.com/office/drawing/2014/main" val="3755907527"/>
                    </a:ext>
                  </a:extLst>
                </a:gridCol>
              </a:tblGrid>
              <a:tr h="278692">
                <a:tc>
                  <a:txBody>
                    <a:bodyPr/>
                    <a:lstStyle/>
                    <a:p>
                      <a:r>
                        <a:rPr lang="en-US" sz="1100" dirty="0"/>
                        <a:t>Time (s)</a:t>
                      </a:r>
                    </a:p>
                  </a:txBody>
                  <a:tcPr marL="18638" marR="18638" marT="9319" marB="9319">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900" dirty="0">
                          <a:latin typeface="Times New Roman" panose="02020603050405020304" pitchFamily="18" charset="0"/>
                          <a:cs typeface="Times New Roman" panose="02020603050405020304" pitchFamily="18" charset="0"/>
                        </a:rPr>
                        <a:t>Potential Difference (Volts)</a:t>
                      </a:r>
                    </a:p>
                  </a:txBody>
                  <a:tcPr marL="18638" marR="18638" marT="9319" marB="9319">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599562014"/>
                  </a:ext>
                </a:extLst>
              </a:tr>
              <a:tr h="192903">
                <a:tc>
                  <a:txBody>
                    <a:bodyPr/>
                    <a:lstStyle/>
                    <a:p>
                      <a:r>
                        <a:rPr lang="en-US" sz="1200" dirty="0"/>
                        <a:t>30 s</a:t>
                      </a:r>
                    </a:p>
                  </a:txBody>
                  <a:tcPr marL="18638" marR="18638" marT="9319" marB="9319">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en-US" sz="1200" dirty="0"/>
                        <a:t>4.20  </a:t>
                      </a:r>
                      <a:r>
                        <a:rPr lang="en-US" sz="1200" dirty="0">
                          <a:effectLst/>
                          <a:latin typeface="Times New Roman" panose="02020603050405020304" pitchFamily="18" charset="0"/>
                          <a:cs typeface="Times New Roman" panose="02020603050405020304" pitchFamily="18" charset="0"/>
                        </a:rPr>
                        <a:t>±0.01V</a:t>
                      </a:r>
                      <a:endParaRPr lang="en-US" sz="1200" dirty="0"/>
                    </a:p>
                  </a:txBody>
                  <a:tcPr marL="18638" marR="18638" marT="9319" marB="9319">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97068186"/>
                  </a:ext>
                </a:extLst>
              </a:tr>
              <a:tr h="192903">
                <a:tc>
                  <a:txBody>
                    <a:bodyPr/>
                    <a:lstStyle/>
                    <a:p>
                      <a:r>
                        <a:rPr lang="en-US" sz="1200" dirty="0"/>
                        <a:t>60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4.23 </a:t>
                      </a:r>
                      <a:r>
                        <a:rPr lang="en-US" sz="1200" dirty="0">
                          <a:effectLst/>
                          <a:latin typeface="Times New Roman" panose="02020603050405020304" pitchFamily="18" charset="0"/>
                          <a:cs typeface="Times New Roman" panose="02020603050405020304" pitchFamily="18" charset="0"/>
                        </a:rPr>
                        <a:t>±0.01V</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12161232"/>
                  </a:ext>
                </a:extLst>
              </a:tr>
              <a:tr h="192903">
                <a:tc>
                  <a:txBody>
                    <a:bodyPr/>
                    <a:lstStyle/>
                    <a:p>
                      <a:r>
                        <a:rPr lang="en-US" sz="1200" dirty="0"/>
                        <a:t>90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4.21 </a:t>
                      </a:r>
                      <a:r>
                        <a:rPr lang="en-US" sz="1200" dirty="0">
                          <a:effectLst/>
                          <a:latin typeface="Times New Roman" panose="02020603050405020304" pitchFamily="18" charset="0"/>
                          <a:cs typeface="Times New Roman" panose="02020603050405020304" pitchFamily="18" charset="0"/>
                        </a:rPr>
                        <a:t>±0.01V</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17608152"/>
                  </a:ext>
                </a:extLst>
              </a:tr>
              <a:tr h="192903">
                <a:tc>
                  <a:txBody>
                    <a:bodyPr/>
                    <a:lstStyle/>
                    <a:p>
                      <a:r>
                        <a:rPr lang="en-US" sz="1200" dirty="0"/>
                        <a:t>120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4.25 </a:t>
                      </a:r>
                      <a:r>
                        <a:rPr lang="en-US" sz="1200" dirty="0">
                          <a:effectLst/>
                          <a:latin typeface="Times New Roman" panose="02020603050405020304" pitchFamily="18" charset="0"/>
                          <a:cs typeface="Times New Roman" panose="02020603050405020304" pitchFamily="18" charset="0"/>
                        </a:rPr>
                        <a:t>±0.01V</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47640447"/>
                  </a:ext>
                </a:extLst>
              </a:tr>
              <a:tr h="192903">
                <a:tc>
                  <a:txBody>
                    <a:bodyPr/>
                    <a:lstStyle/>
                    <a:p>
                      <a:r>
                        <a:rPr lang="en-US" sz="1200" dirty="0"/>
                        <a:t>150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4.24 </a:t>
                      </a:r>
                      <a:r>
                        <a:rPr lang="en-US" sz="1200" dirty="0">
                          <a:effectLst/>
                          <a:latin typeface="Times New Roman" panose="02020603050405020304" pitchFamily="18" charset="0"/>
                          <a:cs typeface="Times New Roman" panose="02020603050405020304" pitchFamily="18" charset="0"/>
                        </a:rPr>
                        <a:t>±0.01V</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44685638"/>
                  </a:ext>
                </a:extLst>
              </a:tr>
              <a:tr h="192903">
                <a:tc>
                  <a:txBody>
                    <a:bodyPr/>
                    <a:lstStyle/>
                    <a:p>
                      <a:r>
                        <a:rPr lang="en-US" sz="1200" dirty="0"/>
                        <a:t>180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4.20 </a:t>
                      </a:r>
                      <a:r>
                        <a:rPr lang="en-US" sz="1200" dirty="0">
                          <a:effectLst/>
                          <a:latin typeface="Times New Roman" panose="02020603050405020304" pitchFamily="18" charset="0"/>
                          <a:cs typeface="Times New Roman" panose="02020603050405020304" pitchFamily="18" charset="0"/>
                        </a:rPr>
                        <a:t>±0.01V</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33167117"/>
                  </a:ext>
                </a:extLst>
              </a:tr>
              <a:tr h="192903">
                <a:tc>
                  <a:txBody>
                    <a:bodyPr/>
                    <a:lstStyle/>
                    <a:p>
                      <a:r>
                        <a:rPr lang="en-US" sz="1200" dirty="0"/>
                        <a:t>210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4.19 </a:t>
                      </a:r>
                      <a:r>
                        <a:rPr lang="en-US" sz="1200" dirty="0">
                          <a:effectLst/>
                          <a:latin typeface="Times New Roman" panose="02020603050405020304" pitchFamily="18" charset="0"/>
                          <a:cs typeface="Times New Roman" panose="02020603050405020304" pitchFamily="18" charset="0"/>
                        </a:rPr>
                        <a:t>±0.01V</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08214795"/>
                  </a:ext>
                </a:extLst>
              </a:tr>
              <a:tr h="192903">
                <a:tc>
                  <a:txBody>
                    <a:bodyPr/>
                    <a:lstStyle/>
                    <a:p>
                      <a:r>
                        <a:rPr lang="en-US" sz="1200" dirty="0"/>
                        <a:t>240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4.21 </a:t>
                      </a:r>
                      <a:r>
                        <a:rPr lang="en-US" sz="1200" dirty="0">
                          <a:effectLst/>
                          <a:latin typeface="Times New Roman" panose="02020603050405020304" pitchFamily="18" charset="0"/>
                          <a:cs typeface="Times New Roman" panose="02020603050405020304" pitchFamily="18" charset="0"/>
                        </a:rPr>
                        <a:t>±0.01V</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20264858"/>
                  </a:ext>
                </a:extLst>
              </a:tr>
              <a:tr h="192903">
                <a:tc>
                  <a:txBody>
                    <a:bodyPr/>
                    <a:lstStyle/>
                    <a:p>
                      <a:r>
                        <a:rPr lang="en-US" sz="1200" dirty="0"/>
                        <a:t>270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4.20 </a:t>
                      </a:r>
                      <a:r>
                        <a:rPr lang="en-US" sz="1200" dirty="0">
                          <a:effectLst/>
                          <a:latin typeface="Times New Roman" panose="02020603050405020304" pitchFamily="18" charset="0"/>
                          <a:cs typeface="Times New Roman" panose="02020603050405020304" pitchFamily="18" charset="0"/>
                        </a:rPr>
                        <a:t>±0.01V</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34459762"/>
                  </a:ext>
                </a:extLst>
              </a:tr>
              <a:tr h="204570">
                <a:tc>
                  <a:txBody>
                    <a:bodyPr/>
                    <a:lstStyle/>
                    <a:p>
                      <a:r>
                        <a:rPr lang="en-US" sz="1200" dirty="0"/>
                        <a:t>300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4.17 </a:t>
                      </a:r>
                      <a:r>
                        <a:rPr lang="en-US" sz="1200" dirty="0">
                          <a:effectLst/>
                          <a:latin typeface="Times New Roman" panose="02020603050405020304" pitchFamily="18" charset="0"/>
                          <a:cs typeface="Times New Roman" panose="02020603050405020304" pitchFamily="18" charset="0"/>
                        </a:rPr>
                        <a:t>±0.01V</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46826021"/>
                  </a:ext>
                </a:extLst>
              </a:tr>
            </a:tbl>
          </a:graphicData>
        </a:graphic>
      </p:graphicFrame>
      <p:sp>
        <p:nvSpPr>
          <p:cNvPr id="37" name="Rectangle 36">
            <a:extLst>
              <a:ext uri="{FF2B5EF4-FFF2-40B4-BE49-F238E27FC236}">
                <a16:creationId xmlns:a16="http://schemas.microsoft.com/office/drawing/2014/main" id="{B4137DCC-C979-7BAB-D30B-33B005DFA1E9}"/>
              </a:ext>
            </a:extLst>
          </p:cNvPr>
          <p:cNvSpPr/>
          <p:nvPr/>
        </p:nvSpPr>
        <p:spPr>
          <a:xfrm>
            <a:off x="10367607" y="18420839"/>
            <a:ext cx="9144000" cy="10349437"/>
          </a:xfrm>
          <a:prstGeom prst="rect">
            <a:avLst/>
          </a:prstGeom>
          <a:solidFill>
            <a:srgbClr val="F8F9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38" name="Table 37">
            <a:extLst>
              <a:ext uri="{FF2B5EF4-FFF2-40B4-BE49-F238E27FC236}">
                <a16:creationId xmlns:a16="http://schemas.microsoft.com/office/drawing/2014/main" id="{F40AAFC2-7ACE-A2DC-3483-90C9AC16E921}"/>
              </a:ext>
            </a:extLst>
          </p:cNvPr>
          <p:cNvGraphicFramePr>
            <a:graphicFrameLocks noGrp="1"/>
          </p:cNvGraphicFramePr>
          <p:nvPr>
            <p:extLst>
              <p:ext uri="{D42A27DB-BD31-4B8C-83A1-F6EECF244321}">
                <p14:modId xmlns:p14="http://schemas.microsoft.com/office/powerpoint/2010/main" val="1046505033"/>
              </p:ext>
            </p:extLst>
          </p:nvPr>
        </p:nvGraphicFramePr>
        <p:xfrm>
          <a:off x="16954994" y="19043487"/>
          <a:ext cx="1925915" cy="2202112"/>
        </p:xfrm>
        <a:graphic>
          <a:graphicData uri="http://schemas.openxmlformats.org/drawingml/2006/table">
            <a:tbl>
              <a:tblPr firstRow="1" bandRow="1">
                <a:tableStyleId>{5C22544A-7EE6-4342-B048-85BDC9FD1C3A}</a:tableStyleId>
              </a:tblPr>
              <a:tblGrid>
                <a:gridCol w="914640">
                  <a:extLst>
                    <a:ext uri="{9D8B030D-6E8A-4147-A177-3AD203B41FA5}">
                      <a16:colId xmlns:a16="http://schemas.microsoft.com/office/drawing/2014/main" val="3122388191"/>
                    </a:ext>
                  </a:extLst>
                </a:gridCol>
                <a:gridCol w="1011275">
                  <a:extLst>
                    <a:ext uri="{9D8B030D-6E8A-4147-A177-3AD203B41FA5}">
                      <a16:colId xmlns:a16="http://schemas.microsoft.com/office/drawing/2014/main" val="3755907527"/>
                    </a:ext>
                  </a:extLst>
                </a:gridCol>
              </a:tblGrid>
              <a:tr h="184395">
                <a:tc>
                  <a:txBody>
                    <a:bodyPr/>
                    <a:lstStyle/>
                    <a:p>
                      <a:r>
                        <a:rPr lang="en-US" sz="1100" dirty="0"/>
                        <a:t>Time (s)</a:t>
                      </a:r>
                    </a:p>
                  </a:txBody>
                  <a:tcPr marL="18638" marR="18638" marT="9319" marB="9319">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1000" b="1" dirty="0">
                          <a:latin typeface="Times New Roman" panose="02020603050405020304" pitchFamily="18" charset="0"/>
                          <a:cs typeface="Times New Roman" panose="02020603050405020304" pitchFamily="18" charset="0"/>
                        </a:rPr>
                        <a:t>Energy(Joules)</a:t>
                      </a:r>
                    </a:p>
                  </a:txBody>
                  <a:tcPr marL="18638" marR="18638" marT="9319" marB="9319">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599562014"/>
                  </a:ext>
                </a:extLst>
              </a:tr>
              <a:tr h="193050">
                <a:tc>
                  <a:txBody>
                    <a:bodyPr/>
                    <a:lstStyle/>
                    <a:p>
                      <a:r>
                        <a:rPr lang="en-US" sz="1200" dirty="0"/>
                        <a:t>30 s</a:t>
                      </a:r>
                    </a:p>
                  </a:txBody>
                  <a:tcPr marL="18638" marR="18638" marT="9319" marB="9319">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en-US" sz="1200" dirty="0"/>
                        <a:t>5.79  </a:t>
                      </a:r>
                      <a:r>
                        <a:rPr lang="en-US" sz="1200" dirty="0">
                          <a:effectLst/>
                          <a:latin typeface="Times New Roman" panose="02020603050405020304" pitchFamily="18" charset="0"/>
                          <a:cs typeface="Times New Roman" panose="02020603050405020304" pitchFamily="18" charset="0"/>
                        </a:rPr>
                        <a:t>±  0.01J</a:t>
                      </a:r>
                      <a:endParaRPr lang="en-US" sz="1200" dirty="0"/>
                    </a:p>
                  </a:txBody>
                  <a:tcPr marL="18638" marR="18638" marT="9319" marB="9319">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97068186"/>
                  </a:ext>
                </a:extLst>
              </a:tr>
              <a:tr h="193050">
                <a:tc>
                  <a:txBody>
                    <a:bodyPr/>
                    <a:lstStyle/>
                    <a:p>
                      <a:r>
                        <a:rPr lang="en-US" sz="1200" dirty="0"/>
                        <a:t>60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11.92 </a:t>
                      </a:r>
                      <a:r>
                        <a:rPr lang="en-US" sz="1200" dirty="0">
                          <a:effectLst/>
                          <a:latin typeface="Times New Roman" panose="02020603050405020304" pitchFamily="18" charset="0"/>
                          <a:cs typeface="Times New Roman" panose="02020603050405020304" pitchFamily="18" charset="0"/>
                        </a:rPr>
                        <a:t>± 0.01J</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12161232"/>
                  </a:ext>
                </a:extLst>
              </a:tr>
              <a:tr h="193050">
                <a:tc>
                  <a:txBody>
                    <a:bodyPr/>
                    <a:lstStyle/>
                    <a:p>
                      <a:r>
                        <a:rPr lang="en-US" sz="1200" dirty="0"/>
                        <a:t>90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17.77 </a:t>
                      </a:r>
                      <a:r>
                        <a:rPr lang="en-US" sz="1200" dirty="0">
                          <a:effectLst/>
                          <a:latin typeface="Times New Roman" panose="02020603050405020304" pitchFamily="18" charset="0"/>
                          <a:cs typeface="Times New Roman" panose="02020603050405020304" pitchFamily="18" charset="0"/>
                        </a:rPr>
                        <a:t>±</a:t>
                      </a:r>
                      <a:r>
                        <a:rPr lang="en-US" sz="1200" dirty="0"/>
                        <a:t> </a:t>
                      </a:r>
                      <a:r>
                        <a:rPr lang="en-US" sz="1200" dirty="0">
                          <a:effectLst/>
                          <a:latin typeface="Times New Roman" panose="02020603050405020304" pitchFamily="18" charset="0"/>
                          <a:cs typeface="Times New Roman" panose="02020603050405020304" pitchFamily="18" charset="0"/>
                        </a:rPr>
                        <a:t>0.01J</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17608152"/>
                  </a:ext>
                </a:extLst>
              </a:tr>
              <a:tr h="193050">
                <a:tc>
                  <a:txBody>
                    <a:bodyPr/>
                    <a:lstStyle/>
                    <a:p>
                      <a:r>
                        <a:rPr lang="en-US" sz="1200" dirty="0"/>
                        <a:t>120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24.17 </a:t>
                      </a:r>
                      <a:r>
                        <a:rPr lang="en-US" sz="1200" dirty="0">
                          <a:effectLst/>
                          <a:latin typeface="Times New Roman" panose="02020603050405020304" pitchFamily="18" charset="0"/>
                          <a:cs typeface="Times New Roman" panose="02020603050405020304" pitchFamily="18" charset="0"/>
                        </a:rPr>
                        <a:t>± 0.01J</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47640447"/>
                  </a:ext>
                </a:extLst>
              </a:tr>
              <a:tr h="193050">
                <a:tc>
                  <a:txBody>
                    <a:bodyPr/>
                    <a:lstStyle/>
                    <a:p>
                      <a:r>
                        <a:rPr lang="en-US" sz="1200" dirty="0"/>
                        <a:t>150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30.46 </a:t>
                      </a:r>
                      <a:r>
                        <a:rPr lang="en-US" sz="1200" dirty="0">
                          <a:effectLst/>
                          <a:latin typeface="Times New Roman" panose="02020603050405020304" pitchFamily="18" charset="0"/>
                          <a:cs typeface="Times New Roman" panose="02020603050405020304" pitchFamily="18" charset="0"/>
                        </a:rPr>
                        <a:t>± 0.01J</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44685638"/>
                  </a:ext>
                </a:extLst>
              </a:tr>
              <a:tr h="193050">
                <a:tc>
                  <a:txBody>
                    <a:bodyPr/>
                    <a:lstStyle/>
                    <a:p>
                      <a:r>
                        <a:rPr lang="en-US" sz="1200" dirty="0"/>
                        <a:t>180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36.28 </a:t>
                      </a:r>
                      <a:r>
                        <a:rPr lang="en-US" sz="1200" dirty="0">
                          <a:effectLst/>
                          <a:latin typeface="Times New Roman" panose="02020603050405020304" pitchFamily="18" charset="0"/>
                          <a:cs typeface="Times New Roman" panose="02020603050405020304" pitchFamily="18" charset="0"/>
                        </a:rPr>
                        <a:t>± 0.01J</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33167117"/>
                  </a:ext>
                </a:extLst>
              </a:tr>
              <a:tr h="193050">
                <a:tc>
                  <a:txBody>
                    <a:bodyPr/>
                    <a:lstStyle/>
                    <a:p>
                      <a:r>
                        <a:rPr lang="en-US" sz="1200" dirty="0"/>
                        <a:t>210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41.61 </a:t>
                      </a:r>
                      <a:r>
                        <a:rPr lang="en-US" sz="1200" dirty="0">
                          <a:effectLst/>
                          <a:latin typeface="Times New Roman" panose="02020603050405020304" pitchFamily="18" charset="0"/>
                          <a:cs typeface="Times New Roman" panose="02020603050405020304" pitchFamily="18" charset="0"/>
                        </a:rPr>
                        <a:t>±0.01J</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08214795"/>
                  </a:ext>
                </a:extLst>
              </a:tr>
              <a:tr h="193050">
                <a:tc>
                  <a:txBody>
                    <a:bodyPr/>
                    <a:lstStyle/>
                    <a:p>
                      <a:r>
                        <a:rPr lang="en-US" sz="1200" dirty="0"/>
                        <a:t>240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47.17 </a:t>
                      </a:r>
                      <a:r>
                        <a:rPr lang="en-US" sz="1200" dirty="0">
                          <a:effectLst/>
                          <a:latin typeface="Times New Roman" panose="02020603050405020304" pitchFamily="18" charset="0"/>
                          <a:cs typeface="Times New Roman" panose="02020603050405020304" pitchFamily="18" charset="0"/>
                        </a:rPr>
                        <a:t>± 0.01J</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20264858"/>
                  </a:ext>
                </a:extLst>
              </a:tr>
              <a:tr h="193050">
                <a:tc>
                  <a:txBody>
                    <a:bodyPr/>
                    <a:lstStyle/>
                    <a:p>
                      <a:r>
                        <a:rPr lang="en-US" sz="1200" dirty="0"/>
                        <a:t>270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2970059" rtl="0" eaLnBrk="1" fontAlgn="auto" latinLnBrk="0" hangingPunct="1">
                        <a:lnSpc>
                          <a:spcPct val="100000"/>
                        </a:lnSpc>
                        <a:spcBef>
                          <a:spcPts val="0"/>
                        </a:spcBef>
                        <a:spcAft>
                          <a:spcPts val="0"/>
                        </a:spcAft>
                        <a:buClrTx/>
                        <a:buSzTx/>
                        <a:buFontTx/>
                        <a:buNone/>
                        <a:tabLst/>
                        <a:defRPr/>
                      </a:pPr>
                      <a:r>
                        <a:rPr lang="en-US" sz="1200" dirty="0"/>
                        <a:t>52.94 </a:t>
                      </a:r>
                      <a:r>
                        <a:rPr lang="en-US" sz="1200" dirty="0">
                          <a:effectLst/>
                          <a:latin typeface="Times New Roman" panose="02020603050405020304" pitchFamily="18" charset="0"/>
                          <a:cs typeface="Times New Roman" panose="02020603050405020304" pitchFamily="18" charset="0"/>
                        </a:rPr>
                        <a:t>± 0.01J</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34459762"/>
                  </a:ext>
                </a:extLst>
              </a:tr>
              <a:tr h="202172">
                <a:tc>
                  <a:txBody>
                    <a:bodyPr/>
                    <a:lstStyle/>
                    <a:p>
                      <a:r>
                        <a:rPr lang="en-US" sz="1200" dirty="0"/>
                        <a:t>300 s</a:t>
                      </a:r>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200" dirty="0"/>
                        <a:t>58.09 </a:t>
                      </a:r>
                      <a:r>
                        <a:rPr lang="en-US" sz="1200" dirty="0">
                          <a:effectLst/>
                          <a:latin typeface="Times New Roman" panose="02020603050405020304" pitchFamily="18" charset="0"/>
                          <a:cs typeface="Times New Roman" panose="02020603050405020304" pitchFamily="18" charset="0"/>
                        </a:rPr>
                        <a:t>± 0.01J</a:t>
                      </a:r>
                      <a:endParaRPr lang="en-US" sz="1200" dirty="0"/>
                    </a:p>
                  </a:txBody>
                  <a:tcPr marL="18638" marR="18638" marT="9319" marB="9319">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46826021"/>
                  </a:ext>
                </a:extLst>
              </a:tr>
            </a:tbl>
          </a:graphicData>
        </a:graphic>
      </p:graphicFrame>
      <p:sp>
        <p:nvSpPr>
          <p:cNvPr id="51" name="TextBox 50">
            <a:extLst>
              <a:ext uri="{FF2B5EF4-FFF2-40B4-BE49-F238E27FC236}">
                <a16:creationId xmlns:a16="http://schemas.microsoft.com/office/drawing/2014/main" id="{318BD9BF-CA7B-7E7F-9443-3A5BDFC18B7F}"/>
              </a:ext>
            </a:extLst>
          </p:cNvPr>
          <p:cNvSpPr txBox="1"/>
          <p:nvPr/>
        </p:nvSpPr>
        <p:spPr>
          <a:xfrm>
            <a:off x="16748692" y="21245599"/>
            <a:ext cx="2921977" cy="430887"/>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(Figure 10)</a:t>
            </a:r>
          </a:p>
          <a:p>
            <a:r>
              <a:rPr lang="en-US" sz="1100" b="1" dirty="0">
                <a:latin typeface="Times New Roman" panose="02020603050405020304" pitchFamily="18" charset="0"/>
                <a:cs typeface="Times New Roman" panose="02020603050405020304" pitchFamily="18" charset="0"/>
              </a:rPr>
              <a:t>Table between Energy produced and Time </a:t>
            </a:r>
          </a:p>
        </p:txBody>
      </p:sp>
      <p:sp>
        <p:nvSpPr>
          <p:cNvPr id="52" name="TextBox 51">
            <a:extLst>
              <a:ext uri="{FF2B5EF4-FFF2-40B4-BE49-F238E27FC236}">
                <a16:creationId xmlns:a16="http://schemas.microsoft.com/office/drawing/2014/main" id="{24501690-7285-9B25-0E25-D5745FA6C98A}"/>
              </a:ext>
            </a:extLst>
          </p:cNvPr>
          <p:cNvSpPr txBox="1"/>
          <p:nvPr/>
        </p:nvSpPr>
        <p:spPr>
          <a:xfrm>
            <a:off x="16644521" y="18005341"/>
            <a:ext cx="2790027" cy="415498"/>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                               (Figure 8) </a:t>
            </a:r>
          </a:p>
          <a:p>
            <a:r>
              <a:rPr lang="en-US" sz="1050" b="1" dirty="0">
                <a:latin typeface="Times New Roman" panose="02020603050405020304" pitchFamily="18" charset="0"/>
                <a:cs typeface="Times New Roman" panose="02020603050405020304" pitchFamily="18" charset="0"/>
              </a:rPr>
              <a:t>Table between Potential Difference and Time </a:t>
            </a:r>
          </a:p>
        </p:txBody>
      </p:sp>
      <p:sp>
        <p:nvSpPr>
          <p:cNvPr id="66" name="TextBox 65">
            <a:extLst>
              <a:ext uri="{FF2B5EF4-FFF2-40B4-BE49-F238E27FC236}">
                <a16:creationId xmlns:a16="http://schemas.microsoft.com/office/drawing/2014/main" id="{774517AE-7453-1A4E-6B2E-BC68289DD8A8}"/>
              </a:ext>
            </a:extLst>
          </p:cNvPr>
          <p:cNvSpPr txBox="1"/>
          <p:nvPr/>
        </p:nvSpPr>
        <p:spPr>
          <a:xfrm>
            <a:off x="12276882" y="21293950"/>
            <a:ext cx="3307316" cy="461665"/>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(Figure 9)</a:t>
            </a:r>
          </a:p>
          <a:p>
            <a:r>
              <a:rPr lang="en-US" sz="1200" b="1" dirty="0">
                <a:latin typeface="Times New Roman" panose="02020603050405020304" pitchFamily="18" charset="0"/>
                <a:cs typeface="Times New Roman" panose="02020603050405020304" pitchFamily="18" charset="0"/>
              </a:rPr>
              <a:t>Graph between Energy produced and Time </a:t>
            </a:r>
          </a:p>
        </p:txBody>
      </p:sp>
      <p:sp>
        <p:nvSpPr>
          <p:cNvPr id="67" name="TextBox 66">
            <a:extLst>
              <a:ext uri="{FF2B5EF4-FFF2-40B4-BE49-F238E27FC236}">
                <a16:creationId xmlns:a16="http://schemas.microsoft.com/office/drawing/2014/main" id="{6A961D9F-23B4-04D7-722F-FDECCD3D98B1}"/>
              </a:ext>
            </a:extLst>
          </p:cNvPr>
          <p:cNvSpPr txBox="1"/>
          <p:nvPr/>
        </p:nvSpPr>
        <p:spPr>
          <a:xfrm>
            <a:off x="11856390" y="17911722"/>
            <a:ext cx="3421010" cy="415498"/>
          </a:xfrm>
          <a:prstGeom prst="rect">
            <a:avLst/>
          </a:prstGeom>
          <a:noFill/>
        </p:spPr>
        <p:txBody>
          <a:bodyPr wrap="square" rtlCol="0">
            <a:spAutoFit/>
          </a:bodyPr>
          <a:lstStyle/>
          <a:p>
            <a:r>
              <a:rPr lang="en-US" sz="1050" b="1" dirty="0"/>
              <a:t>                                              </a:t>
            </a:r>
            <a:r>
              <a:rPr lang="en-US" sz="1050" b="1" dirty="0">
                <a:latin typeface="Times New Roman" panose="02020603050405020304" pitchFamily="18" charset="0"/>
                <a:cs typeface="Times New Roman" panose="02020603050405020304" pitchFamily="18" charset="0"/>
              </a:rPr>
              <a:t>(Figure 7)</a:t>
            </a:r>
          </a:p>
          <a:p>
            <a:r>
              <a:rPr lang="en-US" sz="1050" b="1" dirty="0">
                <a:latin typeface="Times New Roman" panose="02020603050405020304" pitchFamily="18" charset="0"/>
                <a:cs typeface="Times New Roman" panose="02020603050405020304" pitchFamily="18" charset="0"/>
              </a:rPr>
              <a:t>Graph between Potential Difference and Time </a:t>
            </a:r>
          </a:p>
        </p:txBody>
      </p:sp>
      <p:sp>
        <p:nvSpPr>
          <p:cNvPr id="69" name="TextBox 68">
            <a:extLst>
              <a:ext uri="{FF2B5EF4-FFF2-40B4-BE49-F238E27FC236}">
                <a16:creationId xmlns:a16="http://schemas.microsoft.com/office/drawing/2014/main" id="{0C4A5BF9-D2C7-F5EB-3399-8EF487A87759}"/>
              </a:ext>
            </a:extLst>
          </p:cNvPr>
          <p:cNvSpPr txBox="1"/>
          <p:nvPr/>
        </p:nvSpPr>
        <p:spPr>
          <a:xfrm>
            <a:off x="16480925" y="15262826"/>
            <a:ext cx="2997364" cy="600164"/>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(Figure 6)</a:t>
            </a:r>
          </a:p>
          <a:p>
            <a:r>
              <a:rPr lang="en-US" sz="1100" b="1" dirty="0">
                <a:latin typeface="Times New Roman" panose="02020603050405020304" pitchFamily="18" charset="0"/>
                <a:cs typeface="Times New Roman" panose="02020603050405020304" pitchFamily="18" charset="0"/>
              </a:rPr>
              <a:t>Table between Electric current intensity and Time </a:t>
            </a:r>
          </a:p>
        </p:txBody>
      </p:sp>
      <p:sp>
        <p:nvSpPr>
          <p:cNvPr id="71" name="TextBox 70">
            <a:extLst>
              <a:ext uri="{FF2B5EF4-FFF2-40B4-BE49-F238E27FC236}">
                <a16:creationId xmlns:a16="http://schemas.microsoft.com/office/drawing/2014/main" id="{049B8215-67DD-7549-F527-F06EA0DA7DC3}"/>
              </a:ext>
            </a:extLst>
          </p:cNvPr>
          <p:cNvSpPr txBox="1"/>
          <p:nvPr/>
        </p:nvSpPr>
        <p:spPr>
          <a:xfrm>
            <a:off x="11856390" y="15314253"/>
            <a:ext cx="3907412" cy="461665"/>
          </a:xfrm>
          <a:prstGeom prst="rect">
            <a:avLst/>
          </a:prstGeom>
          <a:noFill/>
        </p:spPr>
        <p:txBody>
          <a:bodyPr wrap="square" rtlCol="0">
            <a:spAutoFit/>
          </a:bodyPr>
          <a:lstStyle/>
          <a:p>
            <a:r>
              <a:rPr lang="en-US" sz="1000" b="1"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(Figure 5)</a:t>
            </a:r>
          </a:p>
          <a:p>
            <a:r>
              <a:rPr lang="en-US" sz="1200" b="1" dirty="0">
                <a:latin typeface="Times New Roman" panose="02020603050405020304" pitchFamily="18" charset="0"/>
                <a:cs typeface="Times New Roman" panose="02020603050405020304" pitchFamily="18" charset="0"/>
              </a:rPr>
              <a:t>Graph between Electric current intensity and Time </a:t>
            </a:r>
            <a:endParaRPr lang="en-US" sz="11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0B48D28-86EA-45C5-8E6D-56F4A5FD1447}"/>
                  </a:ext>
                </a:extLst>
              </p:cNvPr>
              <p:cNvSpPr txBox="1"/>
              <p:nvPr/>
            </p:nvSpPr>
            <p:spPr>
              <a:xfrm>
                <a:off x="19603294" y="4927837"/>
                <a:ext cx="9734744" cy="24074539"/>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This hybrid mechanism guarantees continuous operation and better adaptability to varying environmental conditions.</a:t>
                </a:r>
              </a:p>
              <a:p>
                <a:pPr algn="just"/>
                <a:r>
                  <a:rPr lang="en-US" sz="1600" dirty="0">
                    <a:latin typeface="Times New Roman" panose="02020603050405020304" pitchFamily="18" charset="0"/>
                    <a:cs typeface="Times New Roman" panose="02020603050405020304" pitchFamily="18" charset="0"/>
                  </a:rPr>
                  <a:t>The generated mechanical energy from the rotating shaft is converted into electrical energy through a generator, then stored in a lithium battery for consistent use. Wooden side panels also help to direct and concentrate airflow onto the blades, improving overall performance. By merging drag-based and lift-based technologies, the turbine maximizes energy capture and provides a sustainable, eco-friendly solution.</a:t>
                </a:r>
              </a:p>
              <a:p>
                <a:pPr lvl="0" algn="just" defTabSz="914400" eaLnBrk="0" fontAlgn="base" hangingPunct="0">
                  <a:spcBef>
                    <a:spcPct val="0"/>
                  </a:spcBef>
                  <a:spcAft>
                    <a:spcPct val="0"/>
                  </a:spcAft>
                </a:pPr>
                <a:r>
                  <a:rPr lang="es-AR" sz="1600" b="1" dirty="0">
                    <a:latin typeface="Times New Roman" panose="02020603050405020304" pitchFamily="18" charset="0"/>
                    <a:cs typeface="Times New Roman" panose="02020603050405020304" pitchFamily="18" charset="0"/>
                  </a:rPr>
                  <a:t>Features</a:t>
                </a:r>
                <a:r>
                  <a:rPr lang="es-AR" sz="1600" dirty="0">
                    <a:latin typeface="Times New Roman" panose="02020603050405020304" pitchFamily="18" charset="0"/>
                    <a:cs typeface="Times New Roman" panose="02020603050405020304" pitchFamily="18" charset="0"/>
                  </a:rPr>
                  <a:t> </a:t>
                </a:r>
                <a:r>
                  <a:rPr lang="es-AR" sz="1600" dirty="0" err="1">
                    <a:latin typeface="Times New Roman" panose="02020603050405020304" pitchFamily="18" charset="0"/>
                    <a:cs typeface="Times New Roman" panose="02020603050405020304" pitchFamily="18" charset="0"/>
                  </a:rPr>
                  <a:t>of</a:t>
                </a:r>
                <a:r>
                  <a:rPr lang="es-AR" sz="1600" dirty="0">
                    <a:latin typeface="Times New Roman" panose="02020603050405020304" pitchFamily="18" charset="0"/>
                    <a:cs typeface="Times New Roman" panose="02020603050405020304" pitchFamily="18" charset="0"/>
                  </a:rPr>
                  <a:t> </a:t>
                </a:r>
                <a:r>
                  <a:rPr lang="es-AR" sz="1600" dirty="0" err="1">
                    <a:latin typeface="Times New Roman" panose="02020603050405020304" pitchFamily="18" charset="0"/>
                    <a:cs typeface="Times New Roman" panose="02020603050405020304" pitchFamily="18" charset="0"/>
                  </a:rPr>
                  <a:t>our</a:t>
                </a:r>
                <a:r>
                  <a:rPr lang="es-AR" sz="1600" dirty="0">
                    <a:latin typeface="Times New Roman" panose="02020603050405020304" pitchFamily="18" charset="0"/>
                    <a:cs typeface="Times New Roman" panose="02020603050405020304" pitchFamily="18" charset="0"/>
                  </a:rPr>
                  <a:t> </a:t>
                </a:r>
                <a:r>
                  <a:rPr lang="es-AR" sz="1600" dirty="0" err="1">
                    <a:latin typeface="Times New Roman" panose="02020603050405020304" pitchFamily="18" charset="0"/>
                    <a:cs typeface="Times New Roman" panose="02020603050405020304" pitchFamily="18" charset="0"/>
                  </a:rPr>
                  <a:t>prototype</a:t>
                </a:r>
                <a:r>
                  <a:rPr lang="en-US" sz="1600" dirty="0">
                    <a:latin typeface="Times New Roman" panose="02020603050405020304" pitchFamily="18" charset="0"/>
                    <a:cs typeface="Times New Roman" panose="02020603050405020304" pitchFamily="18" charset="0"/>
                  </a:rPr>
                  <a:t>:</a:t>
                </a:r>
              </a:p>
              <a:p>
                <a:pPr marL="342900" lvl="0" indent="-342900" algn="just" defTabSz="914400" eaLnBrk="0" fontAlgn="base" hangingPunct="0">
                  <a:spcBef>
                    <a:spcPct val="0"/>
                  </a:spcBef>
                  <a:spcAft>
                    <a:spcPct val="0"/>
                  </a:spcAft>
                  <a:buFont typeface="Wingdings" panose="05000000000000000000" pitchFamily="2" charset="2"/>
                  <a:buChar char="v"/>
                </a:pPr>
                <a:r>
                  <a:rPr lang="en-US" altLang="en-US" sz="1600" dirty="0">
                    <a:latin typeface="Times New Roman" panose="02020603050405020304" pitchFamily="18" charset="0"/>
                    <a:cs typeface="Times New Roman" panose="02020603050405020304" pitchFamily="18" charset="0"/>
                  </a:rPr>
                  <a:t>Self-Starting Capability: Thanks to the Savonius rotor design, the turbine can start rotating even at low wind speeds without requiring external force.</a:t>
                </a:r>
              </a:p>
              <a:p>
                <a:pPr marL="342900" lvl="0" indent="-342900" algn="just" defTabSz="914400" eaLnBrk="0" fontAlgn="base" hangingPunct="0">
                  <a:spcBef>
                    <a:spcPct val="0"/>
                  </a:spcBef>
                  <a:spcAft>
                    <a:spcPct val="0"/>
                  </a:spcAft>
                  <a:buFont typeface="Wingdings" panose="05000000000000000000" pitchFamily="2" charset="2"/>
                  <a:buChar char="v"/>
                </a:pPr>
                <a:r>
                  <a:rPr lang="en-US" altLang="en-US" sz="1600" dirty="0">
                    <a:latin typeface="Times New Roman" panose="02020603050405020304" pitchFamily="18" charset="0"/>
                    <a:cs typeface="Times New Roman" panose="02020603050405020304" pitchFamily="18" charset="0"/>
                  </a:rPr>
                  <a:t>High Efficiency at Various Wind Speeds: The H-Rotor (lift-based design) enhances rotational speed and energy output as the wind speed increases, making the system highly adaptable.</a:t>
                </a:r>
              </a:p>
              <a:p>
                <a:pPr marL="342900" lvl="0" indent="-342900" algn="just" defTabSz="914400" eaLnBrk="0" fontAlgn="base" hangingPunct="0">
                  <a:spcBef>
                    <a:spcPct val="0"/>
                  </a:spcBef>
                  <a:spcAft>
                    <a:spcPct val="0"/>
                  </a:spcAft>
                  <a:buFont typeface="Wingdings" panose="05000000000000000000" pitchFamily="2" charset="2"/>
                  <a:buChar char="v"/>
                </a:pPr>
                <a:r>
                  <a:rPr lang="en-US" altLang="en-US" sz="1600" dirty="0">
                    <a:latin typeface="Times New Roman" panose="02020603050405020304" pitchFamily="18" charset="0"/>
                    <a:cs typeface="Times New Roman" panose="02020603050405020304" pitchFamily="18" charset="0"/>
                  </a:rPr>
                  <a:t>Environmentally Friendly: The use of renewable wind energy reduces reliance on fossil fuels and decreases carbon emissions.</a:t>
                </a:r>
              </a:p>
              <a:p>
                <a:pPr marL="342900" lvl="0" indent="-342900" algn="just" defTabSz="914400" eaLnBrk="0" fontAlgn="base" hangingPunct="0">
                  <a:spcBef>
                    <a:spcPct val="0"/>
                  </a:spcBef>
                  <a:spcAft>
                    <a:spcPct val="0"/>
                  </a:spcAft>
                  <a:buFont typeface="Wingdings" panose="05000000000000000000" pitchFamily="2" charset="2"/>
                  <a:buChar char="v"/>
                </a:pPr>
                <a:r>
                  <a:rPr lang="en-US" altLang="en-US" sz="1600" dirty="0">
                    <a:latin typeface="Times New Roman" panose="02020603050405020304" pitchFamily="18" charset="0"/>
                    <a:cs typeface="Times New Roman" panose="02020603050405020304" pitchFamily="18" charset="0"/>
                  </a:rPr>
                  <a:t>Energy Storage Capability: The system includes a lithium battery that stores generated electricity, allowing for continuous energy use even when the wind drops.</a:t>
                </a:r>
              </a:p>
              <a:p>
                <a:pPr lvl="0" algn="just" defTabSz="914400" eaLnBrk="0" fontAlgn="base" hangingPunct="0">
                  <a:spcBef>
                    <a:spcPct val="0"/>
                  </a:spcBef>
                  <a:spcAft>
                    <a:spcPct val="0"/>
                  </a:spcAft>
                </a:pPr>
                <a:r>
                  <a:rPr lang="en-US" sz="1600" dirty="0">
                    <a:latin typeface="Times New Roman" panose="02020603050405020304" pitchFamily="18" charset="0"/>
                    <a:cs typeface="Times New Roman" panose="02020603050405020304" pitchFamily="18" charset="0"/>
                  </a:rPr>
                  <a:t>However, the prototype suffers from a few </a:t>
                </a:r>
                <a:r>
                  <a:rPr lang="en-US" sz="1600" b="1" dirty="0">
                    <a:latin typeface="Times New Roman" panose="02020603050405020304" pitchFamily="18" charset="0"/>
                    <a:cs typeface="Times New Roman" panose="02020603050405020304" pitchFamily="18" charset="0"/>
                  </a:rPr>
                  <a:t>drawbacks,</a:t>
                </a:r>
                <a:r>
                  <a:rPr lang="en-US" sz="1600" dirty="0">
                    <a:latin typeface="Times New Roman" panose="02020603050405020304" pitchFamily="18" charset="0"/>
                    <a:cs typeface="Times New Roman" panose="02020603050405020304" pitchFamily="18" charset="0"/>
                  </a:rPr>
                  <a:t> including :</a:t>
                </a:r>
              </a:p>
              <a:p>
                <a:pPr marL="285750" lvl="0" indent="-285750" algn="just" defTabSz="914400" eaLnBrk="0" fontAlgn="base" hangingPunct="0">
                  <a:spcBef>
                    <a:spcPct val="0"/>
                  </a:spcBef>
                  <a:spcAft>
                    <a:spcPct val="0"/>
                  </a:spcAf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 Visual organization can be enhanced: The current design prioritizes functionality over appearance; future versions could focus more on creating a cleaner and more aesthetically organized structure.</a:t>
                </a:r>
              </a:p>
              <a:p>
                <a:pPr marL="285750" lvl="0" indent="-285750" algn="just" defTabSz="914400" eaLnBrk="0" fontAlgn="base" hangingPunct="0">
                  <a:spcBef>
                    <a:spcPct val="0"/>
                  </a:spcBef>
                  <a:spcAft>
                    <a:spcPct val="0"/>
                  </a:spcAf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 Stronger stabilization is needed: At higher wind speeds, the prototype may require a heavier or more reinforced base to ensure complete stability.</a:t>
                </a:r>
              </a:p>
              <a:p>
                <a:pPr lvl="0" algn="just" defTabSz="914400" eaLnBrk="0" fontAlgn="base" hangingPunct="0">
                  <a:spcBef>
                    <a:spcPct val="0"/>
                  </a:spcBef>
                  <a:spcAft>
                    <a:spcPct val="0"/>
                  </a:spcAft>
                </a:pPr>
                <a:endParaRPr lang="es-AR" sz="1600" dirty="0">
                  <a:latin typeface="Times New Roman" panose="02020603050405020304" pitchFamily="18" charset="0"/>
                  <a:cs typeface="Times New Roman" panose="02020603050405020304" pitchFamily="18" charset="0"/>
                </a:endParaRPr>
              </a:p>
              <a:p>
                <a:pPr algn="just"/>
                <a:r>
                  <a:rPr lang="es-AR" sz="1600" dirty="0">
                    <a:latin typeface="Times New Roman" panose="02020603050405020304" pitchFamily="18" charset="0"/>
                    <a:cs typeface="Times New Roman" panose="02020603050405020304" pitchFamily="18" charset="0"/>
                  </a:rPr>
                  <a:t>T</a:t>
                </a:r>
                <a:r>
                  <a:rPr lang="en-US" sz="1600" dirty="0">
                    <a:latin typeface="Times New Roman" panose="02020603050405020304" pitchFamily="18" charset="0"/>
                    <a:cs typeface="Times New Roman" panose="02020603050405020304" pitchFamily="18" charset="0"/>
                  </a:rPr>
                  <a:t>he evaluation of the hybrid turbine’s performance relied on scientific laws to accurately determine its  Lift and Drag force, power generation, operational efficiency, and kinetic energy:</a:t>
                </a:r>
              </a:p>
              <a:p>
                <a:pPr algn="just"/>
                <a:endParaRPr lang="ar-EG" sz="1600" dirty="0">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ar-EG" sz="2800" i="1" dirty="0">
                          <a:latin typeface="Cambria Math" panose="02040503050406030204" pitchFamily="18" charset="0"/>
                        </a:rPr>
                        <m:t>𝑃</m:t>
                      </m:r>
                      <m:r>
                        <a:rPr lang="ar-EG" sz="2800" dirty="0">
                          <a:latin typeface="Cambria Math" panose="02040503050406030204" pitchFamily="18" charset="0"/>
                        </a:rPr>
                        <m:t>=</m:t>
                      </m:r>
                      <m:f>
                        <m:fPr>
                          <m:ctrlPr>
                            <a:rPr lang="ar-EG" sz="2800" i="1" dirty="0">
                              <a:latin typeface="Cambria Math" panose="02040503050406030204" pitchFamily="18" charset="0"/>
                            </a:rPr>
                          </m:ctrlPr>
                        </m:fPr>
                        <m:num>
                          <m:r>
                            <a:rPr lang="ar-EG" sz="2800" i="1" dirty="0">
                              <a:latin typeface="Cambria Math" panose="02040503050406030204" pitchFamily="18" charset="0"/>
                            </a:rPr>
                            <m:t>1</m:t>
                          </m:r>
                        </m:num>
                        <m:den>
                          <m:r>
                            <a:rPr lang="ar-EG" sz="2800" i="1" dirty="0">
                              <a:latin typeface="Cambria Math" panose="02040503050406030204" pitchFamily="18" charset="0"/>
                            </a:rPr>
                            <m:t>2</m:t>
                          </m:r>
                        </m:den>
                      </m:f>
                      <m:r>
                        <a:rPr lang="ar-EG" sz="2800" i="1" dirty="0">
                          <a:latin typeface="Cambria Math" panose="02040503050406030204" pitchFamily="18" charset="0"/>
                        </a:rPr>
                        <m:t>𝜌</m:t>
                      </m:r>
                      <m:r>
                        <a:rPr lang="ar-EG" sz="2800" dirty="0">
                          <a:latin typeface="Cambria Math" panose="02040503050406030204" pitchFamily="18" charset="0"/>
                        </a:rPr>
                        <m:t>×</m:t>
                      </m:r>
                      <m:r>
                        <a:rPr lang="ar-EG" sz="2800" i="1" dirty="0">
                          <a:latin typeface="Cambria Math" panose="02040503050406030204" pitchFamily="18" charset="0"/>
                        </a:rPr>
                        <m:t>𝐴</m:t>
                      </m:r>
                      <m:r>
                        <a:rPr lang="ar-EG" sz="2800" dirty="0">
                          <a:latin typeface="Cambria Math" panose="02040503050406030204" pitchFamily="18" charset="0"/>
                        </a:rPr>
                        <m:t>×</m:t>
                      </m:r>
                      <m:sSup>
                        <m:sSupPr>
                          <m:ctrlPr>
                            <a:rPr lang="ar-EG" sz="2800" i="1" dirty="0">
                              <a:latin typeface="Cambria Math" panose="02040503050406030204" pitchFamily="18" charset="0"/>
                            </a:rPr>
                          </m:ctrlPr>
                        </m:sSupPr>
                        <m:e>
                          <m:r>
                            <a:rPr lang="ar-EG" sz="2800" i="1" dirty="0">
                              <a:latin typeface="Cambria Math" panose="02040503050406030204" pitchFamily="18" charset="0"/>
                            </a:rPr>
                            <m:t>𝑣</m:t>
                          </m:r>
                        </m:e>
                        <m:sup>
                          <m:r>
                            <a:rPr lang="ar-EG" sz="2800" i="1" dirty="0">
                              <a:latin typeface="Cambria Math" panose="02040503050406030204" pitchFamily="18" charset="0"/>
                            </a:rPr>
                            <m:t>3</m:t>
                          </m:r>
                        </m:sup>
                      </m:sSup>
                      <m:sSub>
                        <m:sSubPr>
                          <m:ctrlPr>
                            <a:rPr lang="ar-EG" sz="2800" i="1" dirty="0">
                              <a:latin typeface="Cambria Math" panose="02040503050406030204" pitchFamily="18" charset="0"/>
                            </a:rPr>
                          </m:ctrlPr>
                        </m:sSubPr>
                        <m:e>
                          <m:r>
                            <a:rPr lang="ar-EG" sz="2800" i="1" dirty="0">
                              <a:latin typeface="Cambria Math" panose="02040503050406030204" pitchFamily="18" charset="0"/>
                            </a:rPr>
                            <m:t>𝐶</m:t>
                          </m:r>
                        </m:e>
                        <m:sub>
                          <m:r>
                            <a:rPr lang="ar-EG" sz="2800" i="1" dirty="0">
                              <a:latin typeface="Cambria Math" panose="02040503050406030204" pitchFamily="18" charset="0"/>
                            </a:rPr>
                            <m:t>𝑃</m:t>
                          </m:r>
                        </m:sub>
                      </m:sSub>
                    </m:oMath>
                  </m:oMathPara>
                </a14:m>
                <a:endParaRPr lang="en-US" sz="2800" dirty="0">
                  <a:latin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 𝑃 represents the power input; 1/2 is the constant from the kinetic energy formula 𝜌 is the air density, 𝐴 is the swept area covered by the turbine blades,𝑣³ shows the cubic relationship of fluid velocity to power (indicating that power increases significantly with higher speeds); and 𝐶𝑃 is the power coefficient, representing the efficiency of converting fluid energy into mechanical energy.</a:t>
                </a:r>
              </a:p>
              <a:p>
                <a:pPr algn="just"/>
                <a:r>
                  <a:rPr lang="en-US" altLang="en-US" sz="1600" dirty="0">
                    <a:latin typeface="Times New Roman" panose="02020603050405020304" pitchFamily="18" charset="0"/>
                    <a:cs typeface="Times New Roman" panose="02020603050405020304" pitchFamily="18" charset="0"/>
                  </a:rPr>
                  <a:t>In a simulation where the wind velocity is 11 m/s and the area  that the air attraction it is 1.48</a:t>
                </a:r>
                <a14:m>
                  <m:oMath xmlns:m="http://schemas.openxmlformats.org/officeDocument/2006/math">
                    <m:sSup>
                      <m:sSupPr>
                        <m:ctrlPr>
                          <a:rPr lang="en-US" altLang="en-US" sz="1600" i="1" dirty="0" smtClean="0">
                            <a:latin typeface="Cambria Math" panose="02040503050406030204" pitchFamily="18" charset="0"/>
                          </a:rPr>
                        </m:ctrlPr>
                      </m:sSupPr>
                      <m:e>
                        <m:r>
                          <a:rPr lang="en-US" altLang="en-US" sz="1600" i="1" dirty="0" smtClean="0">
                            <a:latin typeface="Cambria Math" panose="02040503050406030204" pitchFamily="18" charset="0"/>
                          </a:rPr>
                          <m:t>𝑚</m:t>
                        </m:r>
                      </m:e>
                      <m:sup>
                        <m:r>
                          <a:rPr lang="en-US" altLang="en-US" sz="1600" i="0" dirty="0" smtClean="0">
                            <a:latin typeface="Cambria Math" panose="02040503050406030204" pitchFamily="18" charset="0"/>
                          </a:rPr>
                          <m:t>2</m:t>
                        </m:r>
                      </m:sup>
                    </m:sSup>
                    <m:r>
                      <a:rPr lang="en-US" altLang="en-US" sz="1600" b="0" i="1" dirty="0" smtClean="0">
                        <a:latin typeface="Cambria Math" panose="02040503050406030204" pitchFamily="18" charset="0"/>
                      </a:rPr>
                      <m:t> </m:t>
                    </m:r>
                  </m:oMath>
                </a14:m>
                <a:r>
                  <a:rPr lang="en-US" altLang="en-US" sz="1600" dirty="0">
                    <a:latin typeface="Times New Roman" panose="02020603050405020304" pitchFamily="18" charset="0"/>
                    <a:cs typeface="Times New Roman" panose="02020603050405020304" pitchFamily="18" charset="0"/>
                  </a:rPr>
                  <a:t> and the value of C(actual power division by wind power)is 0.33 after</a:t>
                </a:r>
              </a:p>
              <a:p>
                <a:pPr algn="just"/>
                <a:r>
                  <a:rPr lang="en-US" altLang="en-US" sz="1600" dirty="0">
                    <a:latin typeface="Times New Roman" panose="02020603050405020304" pitchFamily="18" charset="0"/>
                    <a:cs typeface="Times New Roman" panose="02020603050405020304" pitchFamily="18" charset="0"/>
                  </a:rPr>
                  <a:t> a simulation the power =</a:t>
                </a:r>
                <a:r>
                  <a:rPr lang="en-US" altLang="en-US" sz="1600" b="1" dirty="0">
                    <a:latin typeface="Times New Roman" panose="02020603050405020304" pitchFamily="18" charset="0"/>
                    <a:cs typeface="Times New Roman" panose="02020603050405020304" pitchFamily="18" charset="0"/>
                  </a:rPr>
                  <a:t> 0.0462 watt` </a:t>
                </a:r>
              </a:p>
              <a:p>
                <a:pPr algn="just"/>
                <a:r>
                  <a:rPr lang="en-US" altLang="en-US" sz="1600" dirty="0">
                    <a:latin typeface="Times New Roman" panose="02020603050405020304" pitchFamily="18" charset="0"/>
                    <a:cs typeface="Times New Roman" panose="02020603050405020304" pitchFamily="18" charset="0"/>
                  </a:rPr>
                  <a:t>The opposite graph represent the </a:t>
                </a:r>
                <a:r>
                  <a:rPr lang="en-US" sz="1600" dirty="0">
                    <a:latin typeface="Times New Roman" panose="02020603050405020304" pitchFamily="18" charset="0"/>
                    <a:cs typeface="Times New Roman" panose="02020603050405020304" pitchFamily="18" charset="0"/>
                  </a:rPr>
                  <a:t>Exponential relation </a:t>
                </a:r>
              </a:p>
              <a:p>
                <a:pPr algn="just"/>
                <a:r>
                  <a:rPr lang="en-US" sz="1600" dirty="0">
                    <a:latin typeface="Times New Roman" panose="02020603050405020304" pitchFamily="18" charset="0"/>
                    <a:cs typeface="Times New Roman" panose="02020603050405020304" pitchFamily="18" charset="0"/>
                  </a:rPr>
                  <a:t>between wind velocity and power generation.</a:t>
                </a:r>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endParaRPr>
              </a:p>
              <a:p>
                <a:pPr algn="just"/>
                <a:endParaRPr lang="en-US" sz="2800" dirty="0">
                  <a:latin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Efficiency </a:t>
                </a:r>
                <a:r>
                  <a:rPr lang="ar-EG"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tells us how good the turbine is at turning wind energy into electricity. We compare the real output with the total energy the wind could give. Perfect efficiency is impossible, but the closer we get to it, the better the design is.(Where Actual Power Output: The real mechanical or electrical energy generated by the turbine, Available Wind Power: The total kinetic energy carried by the wind passing through the turbine's swept area)</a:t>
                </a:r>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r>
                  <a:rPr lang="en-US" altLang="en-US" sz="1600" dirty="0">
                    <a:latin typeface="Times New Roman" panose="02020603050405020304" pitchFamily="18" charset="0"/>
                    <a:cs typeface="Times New Roman" panose="02020603050405020304" pitchFamily="18" charset="0"/>
                  </a:rPr>
                  <a:t>The kinetic energy law is very important because our turbine operates by converting wind energy into mechanical energy and then into electrical energy. Energy Power tells you how much energy the wind carries before it reaches the turbine . Once we know the power the wind is carrying, we can compare it to your actual output and adjust the turbine more precisely.(where </a:t>
                </a:r>
                <a:r>
                  <a:rPr lang="en-US" sz="1600" dirty="0">
                    <a:latin typeface="Times New Roman" panose="02020603050405020304" pitchFamily="18" charset="0"/>
                    <a:cs typeface="Times New Roman" panose="02020603050405020304" pitchFamily="18" charset="0"/>
                  </a:rPr>
                  <a:t>m is mass of air passing through the turbine in Kg, v is velocity of the wind m/s )</a:t>
                </a:r>
              </a:p>
              <a:p>
                <a:pPr algn="just"/>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where C  is dimensionless numbers that represent how effectively a body generates lift or drag, depending on its shape and how air flows over it.</a:t>
                </a:r>
              </a:p>
              <a:p>
                <a:pPr algn="just"/>
                <a:r>
                  <a:rPr lang="en-US" sz="1600" dirty="0">
                    <a:latin typeface="Times New Roman" panose="02020603050405020304" pitchFamily="18" charset="0"/>
                    <a:cs typeface="Times New Roman" panose="02020603050405020304" pitchFamily="18" charset="0"/>
                  </a:rPr>
                  <a:t>Drag Force is the force that acts in the same direction as the wind flow. It is caused by the air pushing directly against the surface of the turbine blades as the wind moves and Lift Force in Wind Turbines is the force generated due to the pressure difference between the two sides of a turbine blade as air flows at different speeds over each side. It is the main force used to rotate the turbine blades . Savonius rotor uses drag force to start rotation even at low wind speeds.</a:t>
                </a:r>
                <a:r>
                  <a:rPr lang="es-AR" sz="1600" dirty="0">
                    <a:latin typeface="Times New Roman" panose="02020603050405020304" pitchFamily="18" charset="0"/>
                    <a:cs typeface="Times New Roman" panose="02020603050405020304" pitchFamily="18" charset="0"/>
                  </a:rPr>
                  <a:t>in</a:t>
                </a:r>
                <a:r>
                  <a:rPr lang="en-US" altLang="en-US" sz="1600" dirty="0">
                    <a:latin typeface="Times New Roman" panose="02020603050405020304" pitchFamily="18" charset="0"/>
                    <a:cs typeface="Times New Roman" panose="02020603050405020304" pitchFamily="18" charset="0"/>
                  </a:rPr>
                  <a:t> In a simulation where the wind velocity is 11 m/s and the area  that the air attraction it is 1.48</a:t>
                </a:r>
                <a14:m>
                  <m:oMath xmlns:m="http://schemas.openxmlformats.org/officeDocument/2006/math">
                    <m:sSup>
                      <m:sSupPr>
                        <m:ctrlPr>
                          <a:rPr lang="en-US" altLang="en-US" sz="1600" i="1" dirty="0">
                            <a:latin typeface="Cambria Math" panose="02040503050406030204" pitchFamily="18" charset="0"/>
                          </a:rPr>
                        </m:ctrlPr>
                      </m:sSupPr>
                      <m:e>
                        <m:r>
                          <a:rPr lang="en-US" altLang="en-US" sz="1600" i="1" dirty="0">
                            <a:latin typeface="Cambria Math" panose="02040503050406030204" pitchFamily="18" charset="0"/>
                          </a:rPr>
                          <m:t>𝑚</m:t>
                        </m:r>
                      </m:e>
                      <m:sup>
                        <m:r>
                          <a:rPr lang="en-US" altLang="en-US" sz="1600" dirty="0">
                            <a:latin typeface="Cambria Math" panose="02040503050406030204" pitchFamily="18" charset="0"/>
                          </a:rPr>
                          <m:t>2</m:t>
                        </m:r>
                      </m:sup>
                    </m:sSup>
                    <m:r>
                      <a:rPr lang="en-US" altLang="en-US" sz="1600" i="1" dirty="0">
                        <a:latin typeface="Cambria Math" panose="02040503050406030204" pitchFamily="18" charset="0"/>
                      </a:rPr>
                      <m:t> </m:t>
                    </m:r>
                  </m:oMath>
                </a14:m>
                <a:r>
                  <a:rPr lang="en-US" altLang="en-US" sz="1600" dirty="0">
                    <a:latin typeface="Times New Roman" panose="02020603050405020304" pitchFamily="18" charset="0"/>
                    <a:cs typeface="Times New Roman" panose="02020603050405020304" pitchFamily="18" charset="0"/>
                  </a:rPr>
                  <a:t> and the value of C</a:t>
                </a:r>
                <a:r>
                  <a:rPr lang="en-US" altLang="en-US" sz="1050" dirty="0">
                    <a:latin typeface="Times New Roman" panose="02020603050405020304" pitchFamily="18" charset="0"/>
                    <a:cs typeface="Times New Roman" panose="02020603050405020304" pitchFamily="18" charset="0"/>
                  </a:rPr>
                  <a:t>L </a:t>
                </a:r>
                <a:r>
                  <a:rPr lang="en-US" altLang="en-US" sz="1600" dirty="0">
                    <a:latin typeface="Times New Roman" panose="02020603050405020304" pitchFamily="18" charset="0"/>
                    <a:cs typeface="Times New Roman" panose="02020603050405020304" pitchFamily="18" charset="0"/>
                  </a:rPr>
                  <a:t>is 1.5 and the value of </a:t>
                </a:r>
                <a:r>
                  <a:rPr lang="en-US" altLang="en-US" sz="1800" dirty="0">
                    <a:latin typeface="Times New Roman" panose="02020603050405020304" pitchFamily="18" charset="0"/>
                    <a:cs typeface="Times New Roman" panose="02020603050405020304" pitchFamily="18" charset="0"/>
                  </a:rPr>
                  <a:t>C</a:t>
                </a:r>
                <a:r>
                  <a:rPr lang="en-US" altLang="en-US" sz="1050" dirty="0">
                    <a:latin typeface="Times New Roman" panose="02020603050405020304" pitchFamily="18" charset="0"/>
                    <a:cs typeface="Times New Roman" panose="02020603050405020304" pitchFamily="18" charset="0"/>
                  </a:rPr>
                  <a:t>D </a:t>
                </a:r>
                <a:r>
                  <a:rPr lang="en-US" altLang="en-US" sz="1600" dirty="0">
                    <a:latin typeface="Times New Roman" panose="02020603050405020304" pitchFamily="18" charset="0"/>
                    <a:cs typeface="Times New Roman" panose="02020603050405020304" pitchFamily="18" charset="0"/>
                  </a:rPr>
                  <a:t>is 3.00</a:t>
                </a:r>
                <a:r>
                  <a:rPr lang="ar-EG" altLang="en-US" sz="1600" dirty="0">
                    <a:latin typeface="Times New Roman" panose="02020603050405020304" pitchFamily="18" charset="0"/>
                    <a:cs typeface="Times New Roman" panose="02020603050405020304" pitchFamily="18" charset="0"/>
                  </a:rPr>
                  <a:t>)</a:t>
                </a:r>
                <a:r>
                  <a:rPr lang="en-US" altLang="en-US" sz="1600" dirty="0">
                    <a:latin typeface="Times New Roman" panose="02020603050405020304" pitchFamily="18" charset="0"/>
                    <a:cs typeface="Times New Roman" panose="02020603050405020304" pitchFamily="18" charset="0"/>
                  </a:rPr>
                  <a:t>according to the physical references and the shape of the blades)</a:t>
                </a:r>
                <a:endParaRPr lang="ar-EG" sz="1600" dirty="0">
                  <a:latin typeface="Times New Roman" panose="02020603050405020304" pitchFamily="18" charset="0"/>
                  <a:cs typeface="Times New Roman" panose="02020603050405020304" pitchFamily="18" charset="0"/>
                </a:endParaRPr>
              </a:p>
              <a:p>
                <a:pPr algn="just"/>
                <a:endParaRPr lang="ar-EG" sz="1600" dirty="0">
                  <a:latin typeface="Times New Roman" panose="02020603050405020304" pitchFamily="18" charset="0"/>
                  <a:cs typeface="Times New Roman" panose="02020603050405020304" pitchFamily="18" charset="0"/>
                </a:endParaRPr>
              </a:p>
              <a:p>
                <a:pPr algn="just"/>
                <a:endParaRPr lang="ar-EG"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algn="just"/>
                <a:endParaRPr lang="ar-EG" sz="16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sz="1600" b="1" dirty="0">
                    <a:latin typeface="Times New Roman" panose="02020603050405020304" pitchFamily="18" charset="0"/>
                    <a:cs typeface="Times New Roman" panose="02020603050405020304" pitchFamily="18" charset="0"/>
                  </a:rPr>
                  <a:t>The storage system</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energy generated by the hybrid turbine is stored in lithium-ion batteries. These batteries are lightweight, have high energy density, and can store a large amount of energy in a small space. They also have a long lifespan and fast charging capabilities, making them ideal for renewable energy systems. Using lithium batteries ensures stable power supply even when wind conditions change.</a:t>
                </a:r>
                <a:endParaRPr lang="en-US" sz="1600" b="1"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Learning Transfer</a:t>
                </a:r>
              </a:p>
              <a:p>
                <a:pPr algn="just"/>
                <a:r>
                  <a:rPr lang="en-US" sz="1600" dirty="0">
                    <a:latin typeface="Times New Roman" panose="02020603050405020304" pitchFamily="18" charset="0"/>
                    <a:cs typeface="Times New Roman" panose="02020603050405020304" pitchFamily="18" charset="0"/>
                  </a:rPr>
                  <a:t>Science is an interconnected system where physics, chemistry, biology, computer science, and mathematics combine to create real solutions for real-world challenges. Therefore, we seek to use the scientific concepts we studied this year in our project, which were:</a:t>
                </a:r>
                <a:endParaRPr lang="ar-EG"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(ES.1.10)</a:t>
                </a:r>
                <a:r>
                  <a:rPr lang="en-US" sz="1600" dirty="0">
                    <a:latin typeface="Times New Roman" panose="02020603050405020304" pitchFamily="18" charset="0"/>
                    <a:cs typeface="Times New Roman" panose="02020603050405020304" pitchFamily="18" charset="0"/>
                  </a:rPr>
                  <a:t>Harnessing wind energy with vertical axis wind turbines (VAWT), such as H-rotor and Savonius, is a renewable source of electricity. Based on this same idea, the project aims to harness wind as an alternative energy source.</a:t>
                </a:r>
              </a:p>
              <a:p>
                <a:pPr algn="just"/>
                <a:r>
                  <a:rPr lang="en-US" sz="1600" b="1" dirty="0">
                    <a:latin typeface="Times New Roman" panose="02020603050405020304" pitchFamily="18" charset="0"/>
                    <a:cs typeface="Times New Roman" panose="02020603050405020304" pitchFamily="18" charset="0"/>
                  </a:rPr>
                  <a:t>(PH.1.08) </a:t>
                </a:r>
                <a:r>
                  <a:rPr lang="en-US" sz="1600" dirty="0">
                    <a:latin typeface="Times New Roman" panose="02020603050405020304" pitchFamily="18" charset="0"/>
                    <a:cs typeface="Times New Roman" panose="02020603050405020304" pitchFamily="18" charset="0"/>
                  </a:rPr>
                  <a:t>The wind generates pressure differentials across turbine blades. Those differences create lift and torque, which rotate the blades and produce power. This is the basic operating principle of both Darrius and H-rotor turbines.</a:t>
                </a:r>
              </a:p>
              <a:p>
                <a:pPr algn="just"/>
                <a:r>
                  <a:rPr lang="en-US" sz="1600" b="1" dirty="0">
                    <a:latin typeface="Times New Roman" panose="02020603050405020304" pitchFamily="18" charset="0"/>
                    <a:cs typeface="Times New Roman" panose="02020603050405020304" pitchFamily="18" charset="0"/>
                  </a:rPr>
                  <a:t>(PH.1.09)</a:t>
                </a:r>
                <a:r>
                  <a:rPr lang="en-US" sz="1600" dirty="0">
                    <a:latin typeface="Times New Roman" panose="02020603050405020304" pitchFamily="18" charset="0"/>
                    <a:cs typeface="Times New Roman" panose="02020603050405020304" pitchFamily="18" charset="0"/>
                  </a:rPr>
                  <a:t>This curvature of the blades increases the velocity of the wind as it flows along the surface of the blade, creating low-pressure regions due to Bernoulli's principle, which creates lift. The lift generates the rotation of vertical-axis blades that help the H-rotor turbines.</a:t>
                </a:r>
              </a:p>
              <a:p>
                <a:pPr algn="just"/>
                <a:r>
                  <a:rPr lang="en-US" sz="1600" b="1" dirty="0">
                    <a:latin typeface="Times New Roman" panose="02020603050405020304" pitchFamily="18" charset="0"/>
                    <a:cs typeface="Times New Roman" panose="02020603050405020304" pitchFamily="18" charset="0"/>
                  </a:rPr>
                  <a:t>(ME.1.06)</a:t>
                </a:r>
                <a:r>
                  <a:rPr lang="en-US" sz="1600" dirty="0">
                    <a:latin typeface="Times New Roman" panose="02020603050405020304" pitchFamily="18" charset="0"/>
                    <a:cs typeface="Times New Roman" panose="02020603050405020304" pitchFamily="18" charset="0"/>
                  </a:rPr>
                  <a:t>Newton’s 1st Law &amp; Translational Equilibrium Use these methods to test if the H-rotor - Savonius designs stay in rotational equilibrium at high winds.</a:t>
                </a:r>
              </a:p>
              <a:p>
                <a:pPr algn="just"/>
                <a:r>
                  <a:rPr lang="en-US" sz="1600" b="1" dirty="0">
                    <a:latin typeface="Times New Roman" panose="02020603050405020304" pitchFamily="18" charset="0"/>
                    <a:cs typeface="Times New Roman" panose="02020603050405020304" pitchFamily="18" charset="0"/>
                  </a:rPr>
                  <a:t>(CH.1.09) </a:t>
                </a:r>
                <a:r>
                  <a:rPr lang="en-US" sz="1600" dirty="0">
                    <a:latin typeface="Times New Roman" panose="02020603050405020304" pitchFamily="18" charset="0"/>
                    <a:cs typeface="Times New Roman" panose="02020603050405020304" pitchFamily="18" charset="0"/>
                  </a:rPr>
                  <a:t>How we choose the materials that used in construction the prototype based on texture to achieve the best handling of air according to the concepts of Aerodynamics.</a:t>
                </a:r>
              </a:p>
            </p:txBody>
          </p:sp>
        </mc:Choice>
        <mc:Fallback xmlns="">
          <p:sp>
            <p:nvSpPr>
              <p:cNvPr id="26" name="TextBox 25">
                <a:extLst>
                  <a:ext uri="{FF2B5EF4-FFF2-40B4-BE49-F238E27FC236}">
                    <a16:creationId xmlns:a16="http://schemas.microsoft.com/office/drawing/2014/main" id="{B0B48D28-86EA-45C5-8E6D-56F4A5FD1447}"/>
                  </a:ext>
                </a:extLst>
              </p:cNvPr>
              <p:cNvSpPr txBox="1">
                <a:spLocks noRot="1" noChangeAspect="1" noMove="1" noResize="1" noEditPoints="1" noAdjustHandles="1" noChangeArrowheads="1" noChangeShapeType="1" noTextEdit="1"/>
              </p:cNvSpPr>
              <p:nvPr/>
            </p:nvSpPr>
            <p:spPr>
              <a:xfrm>
                <a:off x="19603294" y="4927837"/>
                <a:ext cx="9734744" cy="24074539"/>
              </a:xfrm>
              <a:prstGeom prst="rect">
                <a:avLst/>
              </a:prstGeom>
              <a:blipFill>
                <a:blip r:embed="rId24"/>
                <a:stretch>
                  <a:fillRect l="-376" t="-76" r="-313"/>
                </a:stretch>
              </a:blipFill>
            </p:spPr>
            <p:txBody>
              <a:bodyPr/>
              <a:lstStyle/>
              <a:p>
                <a:r>
                  <a:rPr lang="en-US">
                    <a:noFill/>
                  </a:rPr>
                  <a:t> </a:t>
                </a:r>
              </a:p>
            </p:txBody>
          </p:sp>
        </mc:Fallback>
      </mc:AlternateContent>
      <p:sp>
        <p:nvSpPr>
          <p:cNvPr id="77" name="Rectangle 76">
            <a:extLst>
              <a:ext uri="{FF2B5EF4-FFF2-40B4-BE49-F238E27FC236}">
                <a16:creationId xmlns:a16="http://schemas.microsoft.com/office/drawing/2014/main" id="{17C52874-75AF-4A45-BB8A-D615E22BAF25}"/>
              </a:ext>
            </a:extLst>
          </p:cNvPr>
          <p:cNvSpPr/>
          <p:nvPr/>
        </p:nvSpPr>
        <p:spPr>
          <a:xfrm>
            <a:off x="10356514" y="21805642"/>
            <a:ext cx="9144000" cy="977942"/>
          </a:xfrm>
          <a:prstGeom prst="rect">
            <a:avLst/>
          </a:prstGeom>
          <a:solidFill>
            <a:srgbClr val="1F6E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993" dirty="0"/>
          </a:p>
        </p:txBody>
      </p:sp>
      <p:sp>
        <p:nvSpPr>
          <p:cNvPr id="78" name="TextBox 77">
            <a:extLst>
              <a:ext uri="{FF2B5EF4-FFF2-40B4-BE49-F238E27FC236}">
                <a16:creationId xmlns:a16="http://schemas.microsoft.com/office/drawing/2014/main" id="{2C8867ED-3588-4765-A648-6EAE27519DD7}"/>
              </a:ext>
            </a:extLst>
          </p:cNvPr>
          <p:cNvSpPr txBox="1"/>
          <p:nvPr/>
        </p:nvSpPr>
        <p:spPr>
          <a:xfrm>
            <a:off x="13274856" y="21652657"/>
            <a:ext cx="3307316" cy="1092607"/>
          </a:xfrm>
          <a:prstGeom prst="rect">
            <a:avLst/>
          </a:prstGeom>
          <a:noFill/>
        </p:spPr>
        <p:txBody>
          <a:bodyPr wrap="none" rtlCol="0">
            <a:spAutoFit/>
          </a:bodyPr>
          <a:lstStyle/>
          <a:p>
            <a:r>
              <a:rPr lang="en-US" sz="6500" dirty="0">
                <a:latin typeface="Times New Roman" panose="02020603050405020304" pitchFamily="18" charset="0"/>
                <a:ea typeface="ADLaM Display" panose="02010000000000000000" pitchFamily="2" charset="0"/>
                <a:cs typeface="Times New Roman" panose="02020603050405020304" pitchFamily="18" charset="0"/>
              </a:rPr>
              <a:t>Analysis</a:t>
            </a:r>
            <a:r>
              <a:rPr lang="en-US" b="1" dirty="0">
                <a:latin typeface="Times New Roman" panose="02020603050405020304" pitchFamily="18" charset="0"/>
                <a:cs typeface="Times New Roman" panose="02020603050405020304" pitchFamily="18" charset="0"/>
              </a:rPr>
              <a:t> </a:t>
            </a:r>
          </a:p>
        </p:txBody>
      </p:sp>
      <p:pic>
        <p:nvPicPr>
          <p:cNvPr id="79" name="Picture 78">
            <a:extLst>
              <a:ext uri="{FF2B5EF4-FFF2-40B4-BE49-F238E27FC236}">
                <a16:creationId xmlns:a16="http://schemas.microsoft.com/office/drawing/2014/main" id="{E4C46B7B-DBB3-44C8-98DB-2F5C4C1A6E9D}"/>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10766696" y="21792694"/>
            <a:ext cx="930374" cy="930374"/>
          </a:xfrm>
          <a:prstGeom prst="rect">
            <a:avLst/>
          </a:prstGeom>
        </p:spPr>
      </p:pic>
      <p:sp>
        <p:nvSpPr>
          <p:cNvPr id="74" name="TextBox 73">
            <a:extLst>
              <a:ext uri="{FF2B5EF4-FFF2-40B4-BE49-F238E27FC236}">
                <a16:creationId xmlns:a16="http://schemas.microsoft.com/office/drawing/2014/main" id="{133DCD0C-77FF-4FCC-9639-83539010CEFD}"/>
              </a:ext>
            </a:extLst>
          </p:cNvPr>
          <p:cNvSpPr txBox="1"/>
          <p:nvPr/>
        </p:nvSpPr>
        <p:spPr>
          <a:xfrm>
            <a:off x="10356514" y="22811040"/>
            <a:ext cx="9144000" cy="5975171"/>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There are numerous Grand Challenges facing Egypt, one of which is the extensive use of non-renewable sources of energy. This worsens climate change, rises in air pollution, and undermines the health of the public, particularly in densely populated cities, as shown in Graph 1. From scientific studies, a transition to renewable energy substantially reduces greenhouse emissions and improves air quality.</a:t>
            </a:r>
          </a:p>
          <a:p>
            <a:pPr algn="just"/>
            <a:r>
              <a:rPr lang="en-US" sz="1600" dirty="0">
                <a:latin typeface="Times New Roman" panose="02020603050405020304" pitchFamily="18" charset="0"/>
                <a:cs typeface="Times New Roman" panose="02020603050405020304" pitchFamily="18" charset="0"/>
              </a:rPr>
              <a:t>our project meets these issues squarely by promoting the use of clean, renewable sources of energy such as solar and wind energy. By reducing the consumption of fossil fuels, the project reduces carbon emissions, minimizes the effects of climate change, and promotes environmental sustainability. It also contributes to economic development by creating jobs in the renewable energy sector and catalyzing a shift towards a green economy. By its scientific and sustainable nature, the project suggests a practical solution for Egypt's energy and environmental issues, leading towards long-term national resilience.</a:t>
            </a:r>
          </a:p>
          <a:p>
            <a:pPr algn="just"/>
            <a:r>
              <a:rPr lang="en-US" sz="1600" b="1" dirty="0">
                <a:latin typeface="Times New Roman" panose="02020603050405020304" pitchFamily="18" charset="0"/>
                <a:cs typeface="Times New Roman" panose="02020603050405020304" pitchFamily="18" charset="0"/>
              </a:rPr>
              <a:t>    To fix our negative results</a:t>
            </a:r>
            <a:r>
              <a:rPr lang="en-US" sz="1600" dirty="0">
                <a:latin typeface="Times New Roman" panose="02020603050405020304" pitchFamily="18" charset="0"/>
                <a:cs typeface="Times New Roman" panose="02020603050405020304" pitchFamily="18" charset="0"/>
              </a:rPr>
              <a:t>, we reinforced the mounting structure using tighter joints and additional support brackets from recycled aluminum parts. Blade alignment was corrected through repeated manual adjustments and angle re-checks using a protractor. To reduce vibration, we rebalanced the rotor by adjusting blade weights. Electrical issues were fixed by re-soldering loose wires and using stronger insulation tape to prevent disconnection. We shortened wire lengths between the generator and storage unit to reduce energy loss. For wind direction changes, we tested the system in a controlled position to maintain optimal facing, improving overall stability and minimizing rotation interruptions during variable wind conditions.</a:t>
            </a:r>
            <a:endParaRPr lang="en-US" sz="2000" b="1" dirty="0"/>
          </a:p>
          <a:p>
            <a:pPr algn="just"/>
            <a:r>
              <a:rPr lang="en-US" sz="1600" dirty="0">
                <a:latin typeface="Times New Roman" panose="02020603050405020304" pitchFamily="18" charset="0"/>
                <a:cs typeface="Times New Roman" panose="02020603050405020304" pitchFamily="18" charset="0"/>
              </a:rPr>
              <a:t>    This project is based on a Hybrid Vertical Axis Wind Turbine (VAWT) that combines a </a:t>
            </a:r>
            <a:r>
              <a:rPr lang="en-US" sz="1600" dirty="0" err="1">
                <a:latin typeface="Times New Roman" panose="02020603050405020304" pitchFamily="18" charset="0"/>
                <a:cs typeface="Times New Roman" panose="02020603050405020304" pitchFamily="18" charset="0"/>
              </a:rPr>
              <a:t>Savonius</a:t>
            </a:r>
            <a:r>
              <a:rPr lang="en-US" sz="1600" dirty="0">
                <a:latin typeface="Times New Roman" panose="02020603050405020304" pitchFamily="18" charset="0"/>
                <a:cs typeface="Times New Roman" panose="02020603050405020304" pitchFamily="18" charset="0"/>
              </a:rPr>
              <a:t> rotor and an H-Rotor. The </a:t>
            </a:r>
            <a:r>
              <a:rPr lang="en-US" sz="1600" dirty="0" err="1">
                <a:latin typeface="Times New Roman" panose="02020603050405020304" pitchFamily="18" charset="0"/>
                <a:cs typeface="Times New Roman" panose="02020603050405020304" pitchFamily="18" charset="0"/>
              </a:rPr>
              <a:t>Savonius</a:t>
            </a:r>
            <a:r>
              <a:rPr lang="en-US" sz="1600" dirty="0">
                <a:latin typeface="Times New Roman" panose="02020603050405020304" pitchFamily="18" charset="0"/>
                <a:cs typeface="Times New Roman" panose="02020603050405020304" pitchFamily="18" charset="0"/>
              </a:rPr>
              <a:t> self-starting and reliable in weak conditions. As wind speed increases, the H-Rotor, designed with airfoil-shaped blades, generates lift force following Bernoulli’s principle, boosting rotational speed and improving efficiency.</a:t>
            </a:r>
          </a:p>
          <a:p>
            <a:pPr algn="just"/>
            <a:r>
              <a:rPr lang="en-US" sz="1600" dirty="0">
                <a:latin typeface="Times New Roman" panose="02020603050405020304" pitchFamily="18" charset="0"/>
                <a:cs typeface="Times New Roman" panose="02020603050405020304" pitchFamily="18" charset="0"/>
              </a:rPr>
              <a:t>We specifically chose to combine these two rotors because each addresses a different wind condition: the </a:t>
            </a:r>
            <a:r>
              <a:rPr lang="en-US" sz="1600" dirty="0" err="1">
                <a:latin typeface="Times New Roman" panose="02020603050405020304" pitchFamily="18" charset="0"/>
                <a:cs typeface="Times New Roman" panose="02020603050405020304" pitchFamily="18" charset="0"/>
              </a:rPr>
              <a:t>Savonius</a:t>
            </a:r>
            <a:r>
              <a:rPr lang="en-US" sz="1600" dirty="0">
                <a:latin typeface="Times New Roman" panose="02020603050405020304" pitchFamily="18" charset="0"/>
                <a:cs typeface="Times New Roman" panose="02020603050405020304" pitchFamily="18" charset="0"/>
              </a:rPr>
              <a:t> ensures early motion at low speeds, while the H-Rotor significantly enhances energy production at higher speeds. </a:t>
            </a:r>
            <a:endParaRPr lang="en-US" sz="1600" dirty="0"/>
          </a:p>
        </p:txBody>
      </p:sp>
      <p:graphicFrame>
        <p:nvGraphicFramePr>
          <p:cNvPr id="90" name="Chart 89">
            <a:extLst>
              <a:ext uri="{FF2B5EF4-FFF2-40B4-BE49-F238E27FC236}">
                <a16:creationId xmlns:a16="http://schemas.microsoft.com/office/drawing/2014/main" id="{F8AC8AE6-7B50-4E02-9ECA-7D8B122772EA}"/>
              </a:ext>
            </a:extLst>
          </p:cNvPr>
          <p:cNvGraphicFramePr/>
          <p:nvPr>
            <p:extLst>
              <p:ext uri="{D42A27DB-BD31-4B8C-83A1-F6EECF244321}">
                <p14:modId xmlns:p14="http://schemas.microsoft.com/office/powerpoint/2010/main" val="92445537"/>
              </p:ext>
            </p:extLst>
          </p:nvPr>
        </p:nvGraphicFramePr>
        <p:xfrm>
          <a:off x="25075355" y="12760334"/>
          <a:ext cx="4063424" cy="2147518"/>
        </p:xfrm>
        <a:graphic>
          <a:graphicData uri="http://schemas.openxmlformats.org/drawingml/2006/chart">
            <c:chart xmlns:c="http://schemas.openxmlformats.org/drawingml/2006/chart" xmlns:r="http://schemas.openxmlformats.org/officeDocument/2006/relationships" r:id="rId26"/>
          </a:graphicData>
        </a:graphic>
      </p:graphicFrame>
      <p:sp>
        <p:nvSpPr>
          <p:cNvPr id="89" name="TextBox 88">
            <a:extLst>
              <a:ext uri="{FF2B5EF4-FFF2-40B4-BE49-F238E27FC236}">
                <a16:creationId xmlns:a16="http://schemas.microsoft.com/office/drawing/2014/main" id="{1253E98C-E4CD-4666-BB0C-FF3B4C4CDE28}"/>
              </a:ext>
            </a:extLst>
          </p:cNvPr>
          <p:cNvSpPr txBox="1"/>
          <p:nvPr/>
        </p:nvSpPr>
        <p:spPr>
          <a:xfrm>
            <a:off x="25248076" y="15051888"/>
            <a:ext cx="3895226" cy="553998"/>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Figure 11:</a:t>
            </a:r>
            <a:r>
              <a:rPr lang="en-US" sz="1400" dirty="0"/>
              <a:t> </a:t>
            </a:r>
            <a:r>
              <a:rPr lang="en-US" sz="1400" dirty="0">
                <a:latin typeface="Times New Roman" panose="02020603050405020304" pitchFamily="18" charset="0"/>
                <a:cs typeface="Times New Roman" panose="02020603050405020304" pitchFamily="18" charset="0"/>
              </a:rPr>
              <a:t>Exponential relation between wind velocity and power generation</a:t>
            </a:r>
            <a:r>
              <a:rPr lang="en-US" sz="1600" dirty="0">
                <a:latin typeface="Times New Roman" panose="02020603050405020304" pitchFamily="18" charset="0"/>
                <a:cs typeface="Times New Roman" panose="02020603050405020304" pitchFamily="18" charset="0"/>
              </a:rPr>
              <a:t>.</a:t>
            </a:r>
          </a:p>
        </p:txBody>
      </p:sp>
      <p:sp>
        <p:nvSpPr>
          <p:cNvPr id="44" name="TextBox 43">
            <a:extLst>
              <a:ext uri="{FF2B5EF4-FFF2-40B4-BE49-F238E27FC236}">
                <a16:creationId xmlns:a16="http://schemas.microsoft.com/office/drawing/2014/main" id="{54787ADE-B7C9-49A9-9896-A74FAD905794}"/>
              </a:ext>
            </a:extLst>
          </p:cNvPr>
          <p:cNvSpPr txBox="1"/>
          <p:nvPr/>
        </p:nvSpPr>
        <p:spPr>
          <a:xfrm>
            <a:off x="29459661" y="22293724"/>
            <a:ext cx="9608887" cy="3693319"/>
          </a:xfrm>
          <a:prstGeom prst="rect">
            <a:avLst/>
          </a:prstGeom>
          <a:noFill/>
        </p:spPr>
        <p:txBody>
          <a:bodyPr wrap="square" rtlCol="0">
            <a:spAutoFit/>
          </a:bodyPr>
          <a:lstStyle/>
          <a:p>
            <a:endParaRPr lang="en-US" sz="1400" b="1" dirty="0"/>
          </a:p>
          <a:p>
            <a:r>
              <a:rPr lang="en-US" sz="1600" dirty="0">
                <a:latin typeface="Times New Roman" panose="02020603050405020304" pitchFamily="18" charset="0"/>
                <a:cs typeface="Times New Roman" panose="02020603050405020304" pitchFamily="18" charset="0"/>
              </a:rPr>
              <a:t>At the end of this exciting journey, we would like to extend our heartfelt thanks to everyone who supported and guided us throughout this project . We are especially grateful to </a:t>
            </a:r>
            <a:r>
              <a:rPr lang="en-US" sz="1600" b="1" dirty="0">
                <a:latin typeface="Times New Roman" panose="02020603050405020304" pitchFamily="18" charset="0"/>
                <a:cs typeface="Times New Roman" panose="02020603050405020304" pitchFamily="18" charset="0"/>
              </a:rPr>
              <a:t>Mr. Mohamed Mokhtar</a:t>
            </a:r>
            <a:r>
              <a:rPr lang="en-US" sz="1600" dirty="0">
                <a:latin typeface="Times New Roman" panose="02020603050405020304" pitchFamily="18" charset="0"/>
                <a:cs typeface="Times New Roman" panose="02020603050405020304" pitchFamily="18" charset="0"/>
              </a:rPr>
              <a:t>, who stepped in during a critical moment as a substitute for our General Cap mentor, providing us with exceptional support and motivation when we needed it most . We also express our deep appreciation to </a:t>
            </a:r>
            <a:r>
              <a:rPr lang="en-US" sz="1600" b="1" dirty="0">
                <a:latin typeface="Times New Roman" panose="02020603050405020304" pitchFamily="18" charset="0"/>
                <a:cs typeface="Times New Roman" panose="02020603050405020304" pitchFamily="18" charset="0"/>
              </a:rPr>
              <a:t>Mr. Mahmoud Abdallah</a:t>
            </a:r>
            <a:r>
              <a:rPr lang="en-US" sz="1600" dirty="0">
                <a:latin typeface="Times New Roman" panose="02020603050405020304" pitchFamily="18" charset="0"/>
                <a:cs typeface="Times New Roman" panose="02020603050405020304" pitchFamily="18" charset="0"/>
              </a:rPr>
              <a:t> for always being available to answer our questions and offer technical guidance with patience and clarity.</a:t>
            </a:r>
          </a:p>
          <a:p>
            <a:r>
              <a:rPr lang="en-US" sz="1600" dirty="0">
                <a:latin typeface="Times New Roman" panose="02020603050405020304" pitchFamily="18" charset="0"/>
                <a:cs typeface="Times New Roman" panose="02020603050405020304" pitchFamily="18" charset="0"/>
              </a:rPr>
              <a:t>Our warm thanks go to </a:t>
            </a:r>
            <a:r>
              <a:rPr lang="en-US" sz="1600" b="1" dirty="0">
                <a:latin typeface="Times New Roman" panose="02020603050405020304" pitchFamily="18" charset="0"/>
                <a:cs typeface="Times New Roman" panose="02020603050405020304" pitchFamily="18" charset="0"/>
              </a:rPr>
              <a:t>Miss Shaimaa</a:t>
            </a:r>
            <a:r>
              <a:rPr lang="en-US" sz="1600" dirty="0"/>
              <a:t>, </a:t>
            </a:r>
            <a:r>
              <a:rPr lang="en-US" sz="1600" dirty="0">
                <a:latin typeface="Times New Roman" panose="02020603050405020304" pitchFamily="18" charset="0"/>
                <a:cs typeface="Times New Roman" panose="02020603050405020304" pitchFamily="18" charset="0"/>
              </a:rPr>
              <a:t>our physics teacher, who played a vital role in helping us understand various electrical concepts and scientific terms</a:t>
            </a:r>
            <a:r>
              <a:rPr lang="en-US" sz="1600" dirty="0"/>
              <a:t>, </a:t>
            </a:r>
            <a:r>
              <a:rPr lang="en-US" sz="1600" dirty="0">
                <a:latin typeface="Times New Roman" panose="02020603050405020304" pitchFamily="18" charset="0"/>
                <a:cs typeface="Times New Roman" panose="02020603050405020304" pitchFamily="18" charset="0"/>
              </a:rPr>
              <a:t>which were essential to the success of our work</a:t>
            </a:r>
            <a:r>
              <a:rPr lang="ar-EG"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t>
            </a:r>
            <a:r>
              <a:rPr lang="ar-EG"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Our sincere thanks go to the amazing students of </a:t>
            </a:r>
            <a:r>
              <a:rPr lang="en-US" sz="1600" b="1" dirty="0">
                <a:latin typeface="Times New Roman" panose="02020603050405020304" pitchFamily="18" charset="0"/>
                <a:cs typeface="Times New Roman" panose="02020603050405020304" pitchFamily="18" charset="0"/>
              </a:rPr>
              <a:t>Grade 11, </a:t>
            </a:r>
            <a:r>
              <a:rPr lang="en-US" sz="1600" dirty="0">
                <a:latin typeface="Times New Roman" panose="02020603050405020304" pitchFamily="18" charset="0"/>
                <a:cs typeface="Times New Roman" panose="02020603050405020304" pitchFamily="18" charset="0"/>
              </a:rPr>
              <a:t>who generously</a:t>
            </a:r>
            <a:r>
              <a:rPr lang="en-US" sz="1600" dirty="0"/>
              <a:t> </a:t>
            </a:r>
            <a:r>
              <a:rPr lang="en-US" sz="1600" dirty="0">
                <a:latin typeface="Times New Roman" panose="02020603050405020304" pitchFamily="18" charset="0"/>
                <a:cs typeface="Times New Roman" panose="02020603050405020304" pitchFamily="18" charset="0"/>
              </a:rPr>
              <a:t>shared their experiences and stood by our side from the very beginning. Your advice and presence meant a lot to us </a:t>
            </a:r>
            <a:r>
              <a:rPr lang="en-US" sz="1600" dirty="0"/>
              <a:t>. </a:t>
            </a:r>
            <a:r>
              <a:rPr lang="en-US" sz="1600" dirty="0">
                <a:latin typeface="Times New Roman" panose="02020603050405020304" pitchFamily="18" charset="0"/>
                <a:cs typeface="Times New Roman" panose="02020603050405020304" pitchFamily="18" charset="0"/>
              </a:rPr>
              <a:t>We also thank all the students of </a:t>
            </a:r>
            <a:r>
              <a:rPr lang="en-US" sz="1600" b="1" dirty="0">
                <a:latin typeface="Times New Roman" panose="02020603050405020304" pitchFamily="18" charset="0"/>
                <a:cs typeface="Times New Roman" panose="02020603050405020304" pitchFamily="18" charset="0"/>
              </a:rPr>
              <a:t>S27</a:t>
            </a:r>
            <a:r>
              <a:rPr lang="en-US" sz="1600" dirty="0">
                <a:latin typeface="Times New Roman" panose="02020603050405020304" pitchFamily="18" charset="0"/>
                <a:cs typeface="Times New Roman" panose="02020603050405020304" pitchFamily="18" charset="0"/>
              </a:rPr>
              <a:t> for their strong spirit of collaboration. Throughout the project, we</a:t>
            </a:r>
            <a:r>
              <a:rPr lang="en-US" sz="1600" dirty="0"/>
              <a:t> </a:t>
            </a:r>
            <a:r>
              <a:rPr lang="en-US" sz="1600" dirty="0">
                <a:latin typeface="Times New Roman" panose="02020603050405020304" pitchFamily="18" charset="0"/>
                <a:cs typeface="Times New Roman" panose="02020603050405020304" pitchFamily="18" charset="0"/>
              </a:rPr>
              <a:t>worked as one united team, helping and supporting each other with dedication</a:t>
            </a:r>
            <a:r>
              <a:rPr lang="ar-EG"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t>
            </a:r>
            <a:r>
              <a:rPr lang="ar-EG"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This project is not just the result of our work, but a reflection of the incredible school community we are proud to be part of.</a:t>
            </a:r>
          </a:p>
          <a:p>
            <a:endParaRPr lang="en-US" sz="1400" dirty="0"/>
          </a:p>
          <a:p>
            <a:endParaRPr lang="en-US" sz="1400" dirty="0"/>
          </a:p>
        </p:txBody>
      </p:sp>
      <p:sp>
        <p:nvSpPr>
          <p:cNvPr id="72" name="TextBox 71">
            <a:extLst>
              <a:ext uri="{FF2B5EF4-FFF2-40B4-BE49-F238E27FC236}">
                <a16:creationId xmlns:a16="http://schemas.microsoft.com/office/drawing/2014/main" id="{2CA88AA5-9550-4CD2-8C4E-9BC613787A40}"/>
              </a:ext>
            </a:extLst>
          </p:cNvPr>
          <p:cNvSpPr txBox="1"/>
          <p:nvPr/>
        </p:nvSpPr>
        <p:spPr>
          <a:xfrm>
            <a:off x="29474914" y="11294016"/>
            <a:ext cx="9608889" cy="3754874"/>
          </a:xfrm>
          <a:prstGeom prst="rect">
            <a:avLst/>
          </a:prstGeom>
          <a:noFill/>
        </p:spPr>
        <p:txBody>
          <a:bodyPr wrap="square" rtlCol="0">
            <a:spAutoFit/>
          </a:bodyPr>
          <a:lstStyle/>
          <a:p>
            <a:r>
              <a:rPr lang="en-US" sz="1700" dirty="0">
                <a:latin typeface="Times New Roman" panose="02020603050405020304" pitchFamily="18" charset="0"/>
                <a:cs typeface="Times New Roman" panose="02020603050405020304" pitchFamily="18" charset="0"/>
              </a:rPr>
              <a:t>Innovation is a continuous process, and there is always room to implement new improvements and enhancements to ensure the design keeps pace with the rapid evolution of modern technology</a:t>
            </a:r>
            <a:r>
              <a:rPr lang="ar-EG" sz="1700" dirty="0">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Some of the recommendations or modifications:</a:t>
            </a:r>
          </a:p>
          <a:p>
            <a:pPr marL="285750" indent="-285750">
              <a:buFont typeface="Wingdings" panose="05000000000000000000" pitchFamily="2" charset="2"/>
              <a:buChar char="v"/>
            </a:pPr>
            <a:r>
              <a:rPr lang="en-US" sz="1700" dirty="0">
                <a:latin typeface="Times New Roman" panose="02020603050405020304" pitchFamily="18" charset="0"/>
                <a:cs typeface="Times New Roman" panose="02020603050405020304" pitchFamily="18" charset="0"/>
              </a:rPr>
              <a:t>Try to use an Arduino system to have more control over our prototype.</a:t>
            </a:r>
          </a:p>
          <a:p>
            <a:pPr marL="285750" lvl="0" indent="-285750">
              <a:buFont typeface="Wingdings" panose="05000000000000000000" pitchFamily="2" charset="2"/>
              <a:buChar char="v"/>
            </a:pPr>
            <a:r>
              <a:rPr lang="en-US" sz="1700" dirty="0">
                <a:latin typeface="Times New Roman" panose="02020603050405020304" pitchFamily="18" charset="0"/>
                <a:cs typeface="Times New Roman" panose="02020603050405020304" pitchFamily="18" charset="0"/>
              </a:rPr>
              <a:t>Use a material stronger than (our material)</a:t>
            </a:r>
            <a:r>
              <a:rPr lang="ar-EG" sz="1700" dirty="0">
                <a:latin typeface="Times New Roman" panose="02020603050405020304" pitchFamily="18" charset="0"/>
                <a:cs typeface="Times New Roman" panose="02020603050405020304" pitchFamily="18" charset="0"/>
              </a:rPr>
              <a:t>,</a:t>
            </a:r>
            <a:r>
              <a:rPr lang="en-US" sz="1700" dirty="0">
                <a:latin typeface="Times New Roman" panose="02020603050405020304" pitchFamily="18" charset="0"/>
                <a:cs typeface="Times New Roman" panose="02020603050405020304" pitchFamily="18" charset="0"/>
              </a:rPr>
              <a:t> and we suggest using this material (wood - blanch - water pipes - Part of the clothes hanger).</a:t>
            </a:r>
          </a:p>
          <a:p>
            <a:pPr marL="285750" lvl="0" indent="-285750">
              <a:buFont typeface="Wingdings" panose="05000000000000000000" pitchFamily="2" charset="2"/>
              <a:buChar char="v"/>
            </a:pPr>
            <a:r>
              <a:rPr lang="en-US" sz="1700" dirty="0">
                <a:latin typeface="Times New Roman" panose="02020603050405020304" pitchFamily="18" charset="0"/>
                <a:cs typeface="Times New Roman" panose="02020603050405020304" pitchFamily="18" charset="0"/>
              </a:rPr>
              <a:t>Try to do more safety in our project, for example</a:t>
            </a:r>
            <a:r>
              <a:rPr lang="ar-EG" sz="1700" dirty="0">
                <a:latin typeface="Times New Roman" panose="02020603050405020304" pitchFamily="18" charset="0"/>
                <a:cs typeface="Times New Roman" panose="02020603050405020304" pitchFamily="18" charset="0"/>
              </a:rPr>
              <a:t>,</a:t>
            </a:r>
            <a:r>
              <a:rPr lang="en-US" sz="1700" dirty="0">
                <a:latin typeface="Times New Roman" panose="02020603050405020304" pitchFamily="18" charset="0"/>
                <a:cs typeface="Times New Roman" panose="02020603050405020304" pitchFamily="18" charset="0"/>
              </a:rPr>
              <a:t> put a box near the project and put the wires in it.</a:t>
            </a:r>
          </a:p>
          <a:p>
            <a:pPr marL="285750" lvl="0" indent="-285750">
              <a:buFont typeface="Wingdings" panose="05000000000000000000" pitchFamily="2" charset="2"/>
              <a:buChar char="v"/>
            </a:pPr>
            <a:r>
              <a:rPr lang="en-US" sz="1700" dirty="0">
                <a:latin typeface="Times New Roman" panose="02020603050405020304" pitchFamily="18" charset="0"/>
                <a:cs typeface="Times New Roman" panose="02020603050405020304" pitchFamily="18" charset="0"/>
              </a:rPr>
              <a:t>Use a Voltage Regulator to have more control over the prototype. Try to use the Anemometer sensor in the project to measure wind speed.</a:t>
            </a:r>
          </a:p>
          <a:p>
            <a:pPr marL="285750" lvl="0" indent="-285750">
              <a:buFont typeface="Wingdings" panose="05000000000000000000" pitchFamily="2" charset="2"/>
              <a:buChar char="v"/>
            </a:pPr>
            <a:r>
              <a:rPr lang="en-US" sz="1700" dirty="0">
                <a:latin typeface="Times New Roman" panose="02020603050405020304" pitchFamily="18" charset="0"/>
                <a:cs typeface="Times New Roman" panose="02020603050405020304" pitchFamily="18" charset="0"/>
              </a:rPr>
              <a:t>Improving Blade Design for Better Aerodynamics.</a:t>
            </a:r>
          </a:p>
          <a:p>
            <a:pPr marL="285750" lvl="0" indent="-285750">
              <a:buFont typeface="Wingdings" panose="05000000000000000000" pitchFamily="2" charset="2"/>
              <a:buChar char="v"/>
            </a:pPr>
            <a:r>
              <a:rPr lang="en-US" sz="1700" dirty="0">
                <a:latin typeface="Times New Roman" panose="02020603050405020304" pitchFamily="18" charset="0"/>
                <a:cs typeface="Times New Roman" panose="02020603050405020304" pitchFamily="18" charset="0"/>
              </a:rPr>
              <a:t>Include a Simple Braking Mechanism.</a:t>
            </a:r>
          </a:p>
          <a:p>
            <a:pPr marL="285750" lvl="0" indent="-285750">
              <a:buFont typeface="Wingdings" panose="05000000000000000000" pitchFamily="2" charset="2"/>
              <a:buChar char="v"/>
            </a:pPr>
            <a:r>
              <a:rPr lang="en-US" sz="1700" dirty="0">
                <a:latin typeface="Times New Roman" panose="02020603050405020304" pitchFamily="18" charset="0"/>
                <a:cs typeface="Times New Roman" panose="02020603050405020304" pitchFamily="18" charset="0"/>
              </a:rPr>
              <a:t>Improving Blade Design for Better Aerodynamics.</a:t>
            </a:r>
          </a:p>
          <a:p>
            <a:pPr marL="285750" lvl="0" indent="-285750">
              <a:buFont typeface="Wingdings" panose="05000000000000000000" pitchFamily="2" charset="2"/>
              <a:buChar char="v"/>
            </a:pPr>
            <a:r>
              <a:rPr lang="en-US" sz="1700" dirty="0">
                <a:latin typeface="Times New Roman" panose="02020603050405020304" pitchFamily="18" charset="0"/>
                <a:cs typeface="Times New Roman" panose="02020603050405020304" pitchFamily="18" charset="0"/>
              </a:rPr>
              <a:t>Include a Simple Braking Mechanism</a:t>
            </a:r>
            <a:r>
              <a:rPr lang="en-US" sz="1700" dirty="0">
                <a:latin typeface="[times new"/>
                <a:cs typeface="+mj-cs"/>
              </a:rPr>
              <a:t>.</a:t>
            </a:r>
          </a:p>
          <a:p>
            <a:endParaRPr lang="en-US" sz="1700" dirty="0"/>
          </a:p>
        </p:txBody>
      </p:sp>
      <p:sp>
        <p:nvSpPr>
          <p:cNvPr id="75" name="TextBox 74">
            <a:extLst>
              <a:ext uri="{FF2B5EF4-FFF2-40B4-BE49-F238E27FC236}">
                <a16:creationId xmlns:a16="http://schemas.microsoft.com/office/drawing/2014/main" id="{B7BB479F-D8E7-4B2A-B360-05FF29503149}"/>
              </a:ext>
            </a:extLst>
          </p:cNvPr>
          <p:cNvSpPr txBox="1"/>
          <p:nvPr/>
        </p:nvSpPr>
        <p:spPr>
          <a:xfrm>
            <a:off x="29474914" y="26727316"/>
            <a:ext cx="6592655" cy="1754326"/>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Emad Ahmed </a:t>
            </a:r>
            <a:r>
              <a:rPr lang="en-US" sz="1800" dirty="0" err="1">
                <a:latin typeface="Times New Roman" panose="02020603050405020304" pitchFamily="18" charset="0"/>
                <a:cs typeface="Times New Roman" panose="02020603050405020304" pitchFamily="18" charset="0"/>
              </a:rPr>
              <a:t>Fathi</a:t>
            </a:r>
            <a:r>
              <a:rPr lang="en-US" sz="1800" dirty="0">
                <a:latin typeface="Times New Roman" panose="02020603050405020304" pitchFamily="18" charset="0"/>
                <a:cs typeface="Times New Roman" panose="02020603050405020304" pitchFamily="18" charset="0"/>
              </a:rPr>
              <a:t>  </a:t>
            </a:r>
            <a:r>
              <a:rPr lang="en-US" sz="1800" u="sng" dirty="0">
                <a:latin typeface="Times New Roman" panose="02020603050405020304" pitchFamily="18" charset="0"/>
                <a:cs typeface="Times New Roman" panose="02020603050405020304" pitchFamily="18" charset="0"/>
                <a:hlinkClick r:id="rId27"/>
              </a:rPr>
              <a:t>Emad.2324027@stemqena.moe.edu.eg</a:t>
            </a:r>
            <a:endParaRPr lang="en-US" sz="1800" u="sng"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Ahmed Hassan         </a:t>
            </a:r>
            <a:r>
              <a:rPr lang="en-US" sz="1800" u="sng" dirty="0">
                <a:latin typeface="Times New Roman" panose="02020603050405020304" pitchFamily="18" charset="0"/>
                <a:cs typeface="Times New Roman" panose="02020603050405020304" pitchFamily="18" charset="0"/>
                <a:hlinkClick r:id="rId28"/>
              </a:rPr>
              <a:t>Ahmed.2324004@stemqena.moe.edu.eg</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Mohamed Shawky </a:t>
            </a:r>
            <a:r>
              <a:rPr lang="en-US" sz="1800" u="sng" dirty="0">
                <a:latin typeface="Times New Roman" panose="02020603050405020304" pitchFamily="18" charset="0"/>
                <a:cs typeface="Times New Roman" panose="02020603050405020304" pitchFamily="18" charset="0"/>
                <a:hlinkClick r:id="rId29"/>
              </a:rPr>
              <a:t>Mohamed.2324049@stemqena.moe.edu.eg</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Philopateer Nabil  </a:t>
            </a:r>
            <a:r>
              <a:rPr lang="en-US" sz="1800" u="sng" dirty="0">
                <a:latin typeface="Times New Roman" panose="02020603050405020304" pitchFamily="18" charset="0"/>
                <a:cs typeface="Times New Roman" panose="02020603050405020304" pitchFamily="18" charset="0"/>
                <a:hlinkClick r:id="rId30"/>
              </a:rPr>
              <a:t>philopateer.2324039@stemqena.moe.edu.eg</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Ahmed Ali              </a:t>
            </a:r>
            <a:r>
              <a:rPr lang="en-US" sz="1800" u="sng" dirty="0">
                <a:latin typeface="Times New Roman" panose="02020603050405020304" pitchFamily="18" charset="0"/>
                <a:cs typeface="Times New Roman" panose="02020603050405020304" pitchFamily="18" charset="0"/>
                <a:hlinkClick r:id="rId31"/>
              </a:rPr>
              <a:t>Ahmed.2324006@stemqena.moe.edu.eg</a:t>
            </a:r>
            <a:r>
              <a:rPr lang="en-US" sz="1800" dirty="0">
                <a:latin typeface="Times New Roman" panose="02020603050405020304" pitchFamily="18" charset="0"/>
                <a:cs typeface="Times New Roman" panose="02020603050405020304" pitchFamily="18" charset="0"/>
              </a:rPr>
              <a:t> </a:t>
            </a:r>
          </a:p>
          <a:p>
            <a:endParaRPr lang="en-US" sz="1800" dirty="0"/>
          </a:p>
        </p:txBody>
      </p:sp>
      <p:sp>
        <p:nvSpPr>
          <p:cNvPr id="76" name="TextBox 75">
            <a:extLst>
              <a:ext uri="{FF2B5EF4-FFF2-40B4-BE49-F238E27FC236}">
                <a16:creationId xmlns:a16="http://schemas.microsoft.com/office/drawing/2014/main" id="{6545AAC0-A183-4F63-9E3E-11CDBA2D9163}"/>
              </a:ext>
            </a:extLst>
          </p:cNvPr>
          <p:cNvSpPr txBox="1"/>
          <p:nvPr/>
        </p:nvSpPr>
        <p:spPr>
          <a:xfrm>
            <a:off x="10354564" y="5823582"/>
            <a:ext cx="7764882" cy="6124754"/>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The construction of the prototype occurred in the </a:t>
            </a:r>
          </a:p>
          <a:p>
            <a:r>
              <a:rPr lang="en-US" sz="2000" b="1" dirty="0">
                <a:latin typeface="Times New Roman" panose="02020603050405020304" pitchFamily="18" charset="0"/>
                <a:cs typeface="Times New Roman" panose="02020603050405020304" pitchFamily="18" charset="0"/>
              </a:rPr>
              <a:t> subsequent manner:-</a:t>
            </a: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Determine the texture and the dimensions of</a:t>
            </a:r>
          </a:p>
          <a:p>
            <a:r>
              <a:rPr lang="en-US" sz="1600" dirty="0">
                <a:latin typeface="Times New Roman" panose="02020603050405020304" pitchFamily="18" charset="0"/>
                <a:cs typeface="Times New Roman" panose="02020603050405020304" pitchFamily="18" charset="0"/>
              </a:rPr>
              <a:t>The materials (wood, blanch_ water pipes) and buying them.</a:t>
            </a:r>
          </a:p>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Cutting the water pipes to make the structure of the Savonius rotors.</a:t>
            </a:r>
          </a:p>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Cutting the wood blank to make the base of the Savonius and market the wood base to determine the right place of the Savonius rotors.</a:t>
            </a:r>
          </a:p>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Cutting the wood blank to make the structure of the (H-rotor) rotors.</a:t>
            </a:r>
          </a:p>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Cutting the wood blank to make the base of the prototype.</a:t>
            </a:r>
          </a:p>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Attaching the generator to the base.</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Test plan:-</a:t>
            </a:r>
          </a:p>
          <a:p>
            <a:pPr marL="285750" lvl="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Adhering to safety protocols by wearing safety equipment.</a:t>
            </a:r>
          </a:p>
          <a:p>
            <a:pPr marL="285750" lvl="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Experiment with the prototype output (40 joules or less) at the specific time.</a:t>
            </a:r>
          </a:p>
          <a:p>
            <a:pPr marL="285750" lvl="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 Use a multimeter to measure volts and amperes and a stopwatch to measure the time.</a:t>
            </a:r>
          </a:p>
          <a:p>
            <a:pPr marL="285750" lvl="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Use a law to measure joules in seconds. </a:t>
            </a:r>
          </a:p>
          <a:p>
            <a:pPr marL="285750" lvl="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Repeating the test multiple times.</a:t>
            </a:r>
          </a:p>
          <a:p>
            <a:pPr marL="285750" lvl="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Noting down the results of the test.</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endParaRPr lang="en-US" sz="1600" dirty="0"/>
          </a:p>
        </p:txBody>
      </p:sp>
      <p:sp>
        <p:nvSpPr>
          <p:cNvPr id="82" name="TextBox 81">
            <a:extLst>
              <a:ext uri="{FF2B5EF4-FFF2-40B4-BE49-F238E27FC236}">
                <a16:creationId xmlns:a16="http://schemas.microsoft.com/office/drawing/2014/main" id="{F5D7B857-0DCA-4511-A503-F682CC6C0DF4}"/>
              </a:ext>
            </a:extLst>
          </p:cNvPr>
          <p:cNvSpPr txBox="1"/>
          <p:nvPr/>
        </p:nvSpPr>
        <p:spPr>
          <a:xfrm>
            <a:off x="681256" y="5769831"/>
            <a:ext cx="9571163" cy="3785652"/>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Currently, Egypt is facing many challenges that are slowing down its progress and development. One of the most consequential and crucial of these problems is climate change, which is mainly caused by using environmentally polluting energy sources. Therefore, we tried to find a solution to these issues. Along the way, we faced other challenges facing Egypt, such as pollution and the lack of available job opportunities.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All these problems are interconnected, and the best solution to address them is to find a sustainable, non-polluting energy source. We found that the best solution is to design a wind turbine that combines two systems</a:t>
            </a:r>
            <a:r>
              <a:rPr lang="ar-EG"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Savonius</a:t>
            </a:r>
            <a:r>
              <a:rPr lang="en-US" sz="1600" dirty="0">
                <a:latin typeface="Times New Roman" panose="02020603050405020304" pitchFamily="18" charset="0"/>
                <a:cs typeface="Times New Roman" panose="02020603050405020304" pitchFamily="18" charset="0"/>
              </a:rPr>
              <a:t> and H-rotor (Savonius-H-rotor hybrid wind turbine), making it capable of operating efficiently in various environments. Efficiency tells us how good the turbine turns wind energy into electricity. We compare the real output with the total energy the wind could give. Perfect efficiency is impossible, but the closer we get to it, the better the design is, and total efficiency is 41.99%. The implementation of this project will be simple and fully based on recycled materials, which facilitates its realization. We used parts of previously recycled plastic pipes to build the Savonius turbine structure, and strong wooden panels to create the external structure of the H-rotor turbine. This type of project requires high precision in choosing the right materials and taking accurate measurements to ensure it is implemented correctly.</a:t>
            </a:r>
          </a:p>
          <a:p>
            <a:pPr algn="just"/>
            <a:endParaRPr lang="en-US" sz="1600" dirty="0"/>
          </a:p>
        </p:txBody>
      </p:sp>
      <p:sp>
        <p:nvSpPr>
          <p:cNvPr id="83" name="TextBox 82">
            <a:extLst>
              <a:ext uri="{FF2B5EF4-FFF2-40B4-BE49-F238E27FC236}">
                <a16:creationId xmlns:a16="http://schemas.microsoft.com/office/drawing/2014/main" id="{D158068F-6275-4D6A-87A7-BF27DB83D086}"/>
              </a:ext>
            </a:extLst>
          </p:cNvPr>
          <p:cNvSpPr txBox="1"/>
          <p:nvPr/>
        </p:nvSpPr>
        <p:spPr>
          <a:xfrm>
            <a:off x="683352" y="10258179"/>
            <a:ext cx="9387408" cy="1569660"/>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As of today, Egypt is facing quite a few challenges. The most prominent of these challenges are known as the Egyptian Grand Challenges, which represent pressing issues that require creative and sustainable solutions. One of the most consequential challenges is the reliance on non-renewable energy resources. This challenge has other consequences,</a:t>
            </a:r>
            <a:r>
              <a:rPr lang="ar-EG"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such as climate change and pollution.</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endParaRPr lang="en-US" sz="1600" dirty="0"/>
          </a:p>
        </p:txBody>
      </p:sp>
      <p:sp>
        <p:nvSpPr>
          <p:cNvPr id="84" name="TextBox 83">
            <a:extLst>
              <a:ext uri="{FF2B5EF4-FFF2-40B4-BE49-F238E27FC236}">
                <a16:creationId xmlns:a16="http://schemas.microsoft.com/office/drawing/2014/main" id="{DD34EEDC-D743-4937-AB86-C7376AD8DA5E}"/>
              </a:ext>
            </a:extLst>
          </p:cNvPr>
          <p:cNvSpPr txBox="1"/>
          <p:nvPr/>
        </p:nvSpPr>
        <p:spPr>
          <a:xfrm>
            <a:off x="673547" y="11252061"/>
            <a:ext cx="6972275" cy="1815882"/>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More reliance on non-renewable resources means a greater number of pollutants in the air. This is evident in crowded cities that consume large amounts of energy and have many sources of pollution, such as car exhaust (as shown in Graph 1,this graph represents the amount of PM10  and  PM2.5 in some areas in Cairo). It is known that if we rely on renewable and clean energy sources, this will greatly help in reducing air pollution rates and in confronting climate change. Moreover, implementing these projects will create new job opportunities.</a:t>
            </a:r>
          </a:p>
        </p:txBody>
      </p:sp>
      <p:sp>
        <p:nvSpPr>
          <p:cNvPr id="87" name="TextBox 86">
            <a:extLst>
              <a:ext uri="{FF2B5EF4-FFF2-40B4-BE49-F238E27FC236}">
                <a16:creationId xmlns:a16="http://schemas.microsoft.com/office/drawing/2014/main" id="{8BE83703-BB7C-4880-A6E9-E50737A9FD47}"/>
              </a:ext>
            </a:extLst>
          </p:cNvPr>
          <p:cNvSpPr txBox="1"/>
          <p:nvPr/>
        </p:nvSpPr>
        <p:spPr>
          <a:xfrm>
            <a:off x="690281" y="13173604"/>
            <a:ext cx="9540449" cy="9571851"/>
          </a:xfrm>
          <a:prstGeom prst="rect">
            <a:avLst/>
          </a:prstGeom>
          <a:noFill/>
        </p:spPr>
        <p:txBody>
          <a:bodyPr wrap="square" rtlCol="0">
            <a:spAutoFit/>
          </a:bodyPr>
          <a:lstStyle/>
          <a:p>
            <a:pPr algn="just"/>
            <a:r>
              <a:rPr lang="en-US" sz="18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Previously, many efforts have been made to solve the problems of dependence on polluting sources such as fossil fuels. However, the problem still exists and is facing Egypt. </a:t>
            </a:r>
          </a:p>
          <a:p>
            <a:pPr algn="just"/>
            <a:r>
              <a:rPr lang="en-US" sz="1600" dirty="0">
                <a:latin typeface="Times New Roman" panose="02020603050405020304" pitchFamily="18" charset="0"/>
                <a:cs typeface="Times New Roman" panose="02020603050405020304" pitchFamily="18" charset="0"/>
              </a:rPr>
              <a:t>Therefore, our capstone project focuses on studying and analyzing many of the previous methods and solutions to know the good and bad ones and innovating the best new methods to confront this problem soundly, applying the advantages of the previous projects and avoiding the disadvantages. </a:t>
            </a:r>
          </a:p>
          <a:p>
            <a:pPr algn="just"/>
            <a:r>
              <a:rPr lang="en-US" sz="1600" dirty="0">
                <a:latin typeface="Times New Roman" panose="02020603050405020304" pitchFamily="18" charset="0"/>
                <a:cs typeface="Times New Roman" panose="02020603050405020304" pitchFamily="18" charset="0"/>
              </a:rPr>
              <a:t>After evaluating many of the previous solutions, two solutions were agreed upon, which are the Sharm El-Sheikh Wind Energy Project in Egypt and the Norwegian Floating Vertical Wind Turbines.</a:t>
            </a:r>
          </a:p>
          <a:p>
            <a:pPr algn="just"/>
            <a:r>
              <a:rPr lang="en-US" sz="1600" dirty="0">
                <a:latin typeface="Times New Roman" panose="02020603050405020304" pitchFamily="18" charset="0"/>
                <a:cs typeface="Times New Roman" panose="02020603050405020304" pitchFamily="18" charset="0"/>
              </a:rPr>
              <a:t>The Sharm El-Sheikh Wind Energy Project in Egypt and Norwegian Floating Vertical Wind Turbines are two innovative concepts for generating clean, renewable electricity. </a:t>
            </a:r>
          </a:p>
          <a:p>
            <a:pPr algn="just"/>
            <a:r>
              <a:rPr lang="en-US" sz="1600" dirty="0">
                <a:latin typeface="Times New Roman" panose="02020603050405020304" pitchFamily="18" charset="0"/>
                <a:cs typeface="Times New Roman" panose="02020603050405020304" pitchFamily="18" charset="0"/>
              </a:rPr>
              <a:t>The Sharm el-Sheikh project harnesses wind power on land to reduce greenhouse gas emissions, generate jobs, and support Egypt's policy of diversifying energy supplies. </a:t>
            </a:r>
          </a:p>
          <a:p>
            <a:pPr algn="just"/>
            <a:r>
              <a:rPr lang="en-US" sz="1600" dirty="0">
                <a:latin typeface="Times New Roman" panose="02020603050405020304" pitchFamily="18" charset="0"/>
                <a:cs typeface="Times New Roman" panose="02020603050405020304" pitchFamily="18" charset="0"/>
              </a:rPr>
              <a:t>It adds energy security and improves the country's sustainable image, though at the cost of high initial investment, dependency on weather conditions, and potential impacts on nearby wildlife.</a:t>
            </a:r>
          </a:p>
          <a:p>
            <a:pPr algn="just"/>
            <a:r>
              <a:rPr lang="en-US" sz="1600" dirty="0">
                <a:latin typeface="Times New Roman" panose="02020603050405020304" pitchFamily="18" charset="0"/>
                <a:cs typeface="Times New Roman" panose="02020603050405020304" pitchFamily="18" charset="0"/>
              </a:rPr>
              <a:t>In the same way, Norway's floating vertical wind turbines are a major innovation in offshore wind, employing vertical-axis turbines on floating platforms to capture stronger, steadier offshore winds. These turbines come with advantages such as less disturbance to the environment, greater stability in deep waters, and reduced visual impacts from the shore. </a:t>
            </a:r>
          </a:p>
          <a:p>
            <a:pPr algn="just"/>
            <a:r>
              <a:rPr lang="en-US" sz="1600" dirty="0">
                <a:latin typeface="Times New Roman" panose="02020603050405020304" pitchFamily="18" charset="0"/>
                <a:cs typeface="Times New Roman" panose="02020603050405020304" pitchFamily="18" charset="0"/>
              </a:rPr>
              <a:t>They also come with challenges, however, including high construction and maintenance costs and technical challenges in balancing the floating structures. </a:t>
            </a:r>
          </a:p>
          <a:p>
            <a:pPr algn="just"/>
            <a:r>
              <a:rPr lang="en-US" sz="1600" dirty="0">
                <a:latin typeface="Times New Roman" panose="02020603050405020304" pitchFamily="18" charset="0"/>
                <a:cs typeface="Times New Roman" panose="02020603050405020304" pitchFamily="18" charset="0"/>
              </a:rPr>
              <a:t>And these don’t match our design requirements, our requirements are user-friendly. Environmentally friendly. Fast in producing energy.  </a:t>
            </a:r>
          </a:p>
          <a:p>
            <a:pPr algn="just"/>
            <a:r>
              <a:rPr lang="en-US" sz="1600" dirty="0">
                <a:latin typeface="Times New Roman" panose="02020603050405020304" pitchFamily="18" charset="0"/>
                <a:cs typeface="Times New Roman" panose="02020603050405020304" pitchFamily="18" charset="0"/>
              </a:rPr>
              <a:t>Non-impediment (your device will not negatively affect the students’ activities. </a:t>
            </a:r>
          </a:p>
          <a:p>
            <a:pPr algn="just"/>
            <a:r>
              <a:rPr lang="en-US" sz="1600" dirty="0">
                <a:latin typeface="Times New Roman" panose="02020603050405020304" pitchFamily="18" charset="0"/>
                <a:cs typeface="Times New Roman" panose="02020603050405020304" pitchFamily="18" charset="0"/>
              </a:rPr>
              <a:t>Both projects show the potential and complexity of boosting renewable energy across the world. </a:t>
            </a:r>
          </a:p>
          <a:p>
            <a:pPr algn="just"/>
            <a:r>
              <a:rPr lang="en-US" sz="1600" dirty="0">
                <a:latin typeface="Times New Roman" panose="02020603050405020304" pitchFamily="18" charset="0"/>
                <a:cs typeface="Times New Roman" panose="02020603050405020304" pitchFamily="18" charset="0"/>
              </a:rPr>
              <a:t>After much research, the result was that the common and easy-to-apply solution for the previous challenges is building the wind turbines, especially the vertical ones.  </a:t>
            </a:r>
          </a:p>
          <a:p>
            <a:pPr algn="just"/>
            <a:r>
              <a:rPr lang="en-US" sz="1600" dirty="0">
                <a:latin typeface="Times New Roman" panose="02020603050405020304" pitchFamily="18" charset="0"/>
                <a:cs typeface="Times New Roman" panose="02020603050405020304" pitchFamily="18" charset="0"/>
              </a:rPr>
              <a:t>This type of wind turbine is perfect for dealing with the air and spinning to generate electricity. </a:t>
            </a:r>
          </a:p>
          <a:p>
            <a:pPr algn="just"/>
            <a:r>
              <a:rPr lang="en-US" sz="1600" dirty="0">
                <a:latin typeface="Times New Roman" panose="02020603050405020304" pitchFamily="18" charset="0"/>
                <a:cs typeface="Times New Roman" panose="02020603050405020304" pitchFamily="18" charset="0"/>
              </a:rPr>
              <a:t>The proposed design of the prototype is a Savonius H-Rotor hybrid wind turbine with semi-covered sides to manage the interaction with air flow. </a:t>
            </a:r>
          </a:p>
          <a:p>
            <a:pPr algn="just"/>
            <a:r>
              <a:rPr lang="en-US" sz="1600" dirty="0">
                <a:latin typeface="Times New Roman" panose="02020603050405020304" pitchFamily="18" charset="0"/>
                <a:cs typeface="Times New Roman" panose="02020603050405020304" pitchFamily="18" charset="0"/>
              </a:rPr>
              <a:t>This hybrid can help in making the use of the H-rotor design easier because the H-tor requires a strong air flow to start moving. </a:t>
            </a:r>
          </a:p>
          <a:p>
            <a:pPr algn="just"/>
            <a:r>
              <a:rPr lang="en-US" sz="1600" dirty="0">
                <a:latin typeface="Times New Roman" panose="02020603050405020304" pitchFamily="18" charset="0"/>
                <a:cs typeface="Times New Roman" panose="02020603050405020304" pitchFamily="18" charset="0"/>
              </a:rPr>
              <a:t>The design of this hybrid makes it perfect to operate independently of wind direction, making it ideal for areas with unstable winds. Additionally, it fits into small spaces and urban environments, providing a perfect solution for urban areas or regions with limited space. </a:t>
            </a:r>
          </a:p>
          <a:p>
            <a:pPr algn="just"/>
            <a:r>
              <a:rPr lang="en-US" sz="1600" dirty="0">
                <a:latin typeface="Times New Roman" panose="02020603050405020304" pitchFamily="18" charset="0"/>
                <a:cs typeface="Times New Roman" panose="02020603050405020304" pitchFamily="18" charset="0"/>
              </a:rPr>
              <a:t>The hybrid turbine is easy to build and low-cost compared to large-scale projects like floating wind turbines or those with horizontal axes because it can be built with completely recycled materials.</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 </a:t>
            </a:r>
          </a:p>
          <a:p>
            <a:pPr algn="just"/>
            <a:endParaRPr lang="en-US" sz="1800" dirty="0"/>
          </a:p>
        </p:txBody>
      </p:sp>
      <p:pic>
        <p:nvPicPr>
          <p:cNvPr id="91" name="Picture 90">
            <a:extLst>
              <a:ext uri="{FF2B5EF4-FFF2-40B4-BE49-F238E27FC236}">
                <a16:creationId xmlns:a16="http://schemas.microsoft.com/office/drawing/2014/main" id="{A788E397-FCEA-4ADB-930F-72F440962FA3}"/>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17016213" y="7643087"/>
            <a:ext cx="1929533" cy="2569573"/>
          </a:xfrm>
          <a:prstGeom prst="rect">
            <a:avLst/>
          </a:prstGeom>
        </p:spPr>
      </p:pic>
      <p:sp>
        <p:nvSpPr>
          <p:cNvPr id="92" name="TextBox 91">
            <a:extLst>
              <a:ext uri="{FF2B5EF4-FFF2-40B4-BE49-F238E27FC236}">
                <a16:creationId xmlns:a16="http://schemas.microsoft.com/office/drawing/2014/main" id="{8B6DDBAC-5FF2-44F1-8AD0-8620EE50471D}"/>
              </a:ext>
            </a:extLst>
          </p:cNvPr>
          <p:cNvSpPr txBox="1"/>
          <p:nvPr/>
        </p:nvSpPr>
        <p:spPr>
          <a:xfrm>
            <a:off x="17129584" y="9763978"/>
            <a:ext cx="2214883" cy="600164"/>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            (figure 4)</a:t>
            </a:r>
          </a:p>
          <a:p>
            <a:r>
              <a:rPr lang="en-US" sz="1100" dirty="0">
                <a:latin typeface="Times New Roman" panose="02020603050405020304" pitchFamily="18" charset="0"/>
                <a:cs typeface="Times New Roman" panose="02020603050405020304" pitchFamily="18" charset="0"/>
              </a:rPr>
              <a:t>Multimeter the device that used to measure volts and ampere </a:t>
            </a:r>
          </a:p>
        </p:txBody>
      </p:sp>
      <p:graphicFrame>
        <p:nvGraphicFramePr>
          <p:cNvPr id="32" name="Chart 31">
            <a:extLst>
              <a:ext uri="{FF2B5EF4-FFF2-40B4-BE49-F238E27FC236}">
                <a16:creationId xmlns:a16="http://schemas.microsoft.com/office/drawing/2014/main" id="{2A04583D-68EC-6031-BE94-F62E3BC3D930}"/>
              </a:ext>
            </a:extLst>
          </p:cNvPr>
          <p:cNvGraphicFramePr/>
          <p:nvPr>
            <p:extLst>
              <p:ext uri="{D42A27DB-BD31-4B8C-83A1-F6EECF244321}">
                <p14:modId xmlns:p14="http://schemas.microsoft.com/office/powerpoint/2010/main" val="2003910550"/>
              </p:ext>
            </p:extLst>
          </p:nvPr>
        </p:nvGraphicFramePr>
        <p:xfrm>
          <a:off x="10419070" y="18910341"/>
          <a:ext cx="5958549" cy="2449168"/>
        </p:xfrm>
        <a:graphic>
          <a:graphicData uri="http://schemas.openxmlformats.org/drawingml/2006/chart">
            <c:chart xmlns:c="http://schemas.openxmlformats.org/drawingml/2006/chart" xmlns:r="http://schemas.openxmlformats.org/officeDocument/2006/relationships" r:id="rId33"/>
          </a:graphicData>
        </a:graphic>
      </p:graphicFrame>
      <p:sp>
        <p:nvSpPr>
          <p:cNvPr id="96" name="TextBox 95">
            <a:extLst>
              <a:ext uri="{FF2B5EF4-FFF2-40B4-BE49-F238E27FC236}">
                <a16:creationId xmlns:a16="http://schemas.microsoft.com/office/drawing/2014/main" id="{5C5BDFCA-2AAC-449F-9CE4-8A76A856D597}"/>
              </a:ext>
            </a:extLst>
          </p:cNvPr>
          <p:cNvSpPr txBox="1"/>
          <p:nvPr/>
        </p:nvSpPr>
        <p:spPr>
          <a:xfrm>
            <a:off x="10343067" y="11464039"/>
            <a:ext cx="9283590" cy="1323439"/>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Negative result:-</a:t>
            </a:r>
          </a:p>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The turbine showed unstable rotation in low wind speeds, which reduced energy output.</a:t>
            </a:r>
          </a:p>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 Blade alignment issues caused mechanical imbalance. The generator efficiency dropped due to friction in the shaft. </a:t>
            </a:r>
          </a:p>
          <a:p>
            <a:r>
              <a:rPr lang="en-US" sz="1600" b="1" dirty="0">
                <a:latin typeface="Times New Roman" panose="02020603050405020304" pitchFamily="18" charset="0"/>
                <a:cs typeface="Times New Roman" panose="02020603050405020304" pitchFamily="18" charset="0"/>
              </a:rPr>
              <a:t>Positive result:-</a:t>
            </a:r>
            <a:r>
              <a:rPr lang="en-US" sz="1600" dirty="0">
                <a:latin typeface="Times New Roman" panose="02020603050405020304" pitchFamily="18" charset="0"/>
                <a:cs typeface="Times New Roman" panose="02020603050405020304" pitchFamily="18" charset="0"/>
              </a:rPr>
              <a:t> The opposite graphs and tables represent the positive result</a:t>
            </a:r>
          </a:p>
        </p:txBody>
      </p:sp>
      <p:pic>
        <p:nvPicPr>
          <p:cNvPr id="12" name="Picture 11" descr="A blue and white spiraled object&#10;&#10;AI-generated content may be incorrect.">
            <a:extLst>
              <a:ext uri="{FF2B5EF4-FFF2-40B4-BE49-F238E27FC236}">
                <a16:creationId xmlns:a16="http://schemas.microsoft.com/office/drawing/2014/main" id="{C3272FDA-2ED2-0ABF-4DB9-860C17587DB3}"/>
              </a:ext>
            </a:extLst>
          </p:cNvPr>
          <p:cNvPicPr>
            <a:picLocks noChangeAspect="1"/>
          </p:cNvPicPr>
          <p:nvPr/>
        </p:nvPicPr>
        <p:blipFill>
          <a:blip r:embed="rId34">
            <a:alphaModFix amt="85000"/>
            <a:extLst>
              <a:ext uri="{BEBA8EAE-BF5A-486C-A8C5-ECC9F3942E4B}">
                <a14:imgProps xmlns:a14="http://schemas.microsoft.com/office/drawing/2010/main">
                  <a14:imgLayer r:embed="rId35">
                    <a14:imgEffect>
                      <a14:backgroundRemoval t="10000" b="90000" l="10000" r="90000">
                        <a14:backgroundMark x1="89205" y1="34364" x2="89205" y2="34364"/>
                        <a14:backgroundMark x1="89205" y1="34364" x2="89205" y2="34364"/>
                        <a14:backgroundMark x1="89205" y1="34364" x2="95170" y2="70000"/>
                        <a14:backgroundMark x1="95170" y1="70000" x2="93466" y2="48000"/>
                      </a14:backgroundRemoval>
                    </a14:imgEffect>
                    <a14:imgEffect>
                      <a14:artisticPaintStrokes/>
                    </a14:imgEffect>
                  </a14:imgLayer>
                </a14:imgProps>
              </a:ext>
              <a:ext uri="{28A0092B-C50C-407E-A947-70E740481C1C}">
                <a14:useLocalDpi xmlns:a14="http://schemas.microsoft.com/office/drawing/2010/main" val="0"/>
              </a:ext>
            </a:extLst>
          </a:blip>
          <a:stretch>
            <a:fillRect/>
          </a:stretch>
        </p:blipFill>
        <p:spPr>
          <a:xfrm>
            <a:off x="10337047" y="171113"/>
            <a:ext cx="1360023" cy="2125036"/>
          </a:xfrm>
          <a:prstGeom prst="rect">
            <a:avLst/>
          </a:prstGeom>
        </p:spPr>
      </p:pic>
      <p:pic>
        <p:nvPicPr>
          <p:cNvPr id="16" name="Picture 15" descr="A blue and white spiraled object&#10;&#10;AI-generated content may be incorrect.">
            <a:extLst>
              <a:ext uri="{FF2B5EF4-FFF2-40B4-BE49-F238E27FC236}">
                <a16:creationId xmlns:a16="http://schemas.microsoft.com/office/drawing/2014/main" id="{86B63CBE-DF01-7E9F-6091-648BC1D8C9A0}"/>
              </a:ext>
            </a:extLst>
          </p:cNvPr>
          <p:cNvPicPr>
            <a:picLocks noChangeAspect="1"/>
          </p:cNvPicPr>
          <p:nvPr/>
        </p:nvPicPr>
        <p:blipFill>
          <a:blip r:embed="rId34">
            <a:extLst>
              <a:ext uri="{BEBA8EAE-BF5A-486C-A8C5-ECC9F3942E4B}">
                <a14:imgProps xmlns:a14="http://schemas.microsoft.com/office/drawing/2010/main">
                  <a14:imgLayer r:embed="rId35">
                    <a14:imgEffect>
                      <a14:backgroundRemoval t="10000" b="90000" l="10000" r="90000">
                        <a14:backgroundMark x1="89205" y1="34364" x2="89205" y2="34364"/>
                        <a14:backgroundMark x1="89205" y1="34364" x2="89205" y2="34364"/>
                        <a14:backgroundMark x1="89205" y1="34364" x2="95170" y2="70000"/>
                        <a14:backgroundMark x1="95170" y1="70000" x2="93466" y2="48000"/>
                      </a14:backgroundRemoval>
                    </a14:imgEffect>
                    <a14:imgEffect>
                      <a14:artisticPaintStrokes/>
                    </a14:imgEffect>
                  </a14:imgLayer>
                </a14:imgProps>
              </a:ext>
              <a:ext uri="{28A0092B-C50C-407E-A947-70E740481C1C}">
                <a14:useLocalDpi xmlns:a14="http://schemas.microsoft.com/office/drawing/2010/main" val="0"/>
              </a:ext>
            </a:extLst>
          </a:blip>
          <a:stretch>
            <a:fillRect/>
          </a:stretch>
        </p:blipFill>
        <p:spPr>
          <a:xfrm>
            <a:off x="27682699" y="170672"/>
            <a:ext cx="1360023" cy="2125036"/>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DE451F0-EBFE-471C-971B-B103B2A61ACA}"/>
                  </a:ext>
                </a:extLst>
              </p:cNvPr>
              <p:cNvSpPr txBox="1"/>
              <p:nvPr/>
            </p:nvSpPr>
            <p:spPr>
              <a:xfrm>
                <a:off x="19500511" y="22208912"/>
                <a:ext cx="8424845" cy="6685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ar-EG" sz="2000" i="1" dirty="0" smtClean="0">
                              <a:latin typeface="Cambria Math" panose="02040503050406030204" pitchFamily="18" charset="0"/>
                            </a:rPr>
                          </m:ctrlPr>
                        </m:sSubPr>
                        <m:e>
                          <m:r>
                            <a:rPr lang="en-US" sz="2000" i="1" dirty="0">
                              <a:latin typeface="Cambria Math" panose="02040503050406030204" pitchFamily="18" charset="0"/>
                            </a:rPr>
                            <m:t>    </m:t>
                          </m:r>
                          <m:r>
                            <a:rPr lang="en-US" sz="2000" b="0" i="1" dirty="0" smtClean="0">
                              <a:latin typeface="Cambria Math" panose="02040503050406030204" pitchFamily="18" charset="0"/>
                            </a:rPr>
                            <m:t>𝐹</m:t>
                          </m:r>
                        </m:e>
                        <m:sub>
                          <m:acc>
                            <m:accPr>
                              <m:chr m:val="̅"/>
                              <m:ctrlPr>
                                <a:rPr lang="ar-EG" sz="2000" i="1" dirty="0">
                                  <a:latin typeface="Cambria Math" panose="02040503050406030204" pitchFamily="18" charset="0"/>
                                </a:rPr>
                              </m:ctrlPr>
                            </m:accPr>
                            <m:e>
                              <m:r>
                                <a:rPr lang="ar-EG" sz="2000" i="1" dirty="0" smtClean="0">
                                  <a:latin typeface="Cambria Math" panose="02040503050406030204" pitchFamily="18" charset="0"/>
                                </a:rPr>
                                <m:t>𝐿</m:t>
                              </m:r>
                            </m:e>
                          </m:acc>
                        </m:sub>
                      </m:sSub>
                      <m:r>
                        <a:rPr lang="ar-EG" sz="2000" dirty="0">
                          <a:latin typeface="Cambria Math" panose="02040503050406030204" pitchFamily="18" charset="0"/>
                        </a:rPr>
                        <m:t>=</m:t>
                      </m:r>
                      <m:f>
                        <m:fPr>
                          <m:ctrlPr>
                            <a:rPr lang="ar-EG" sz="2000" i="1" dirty="0">
                              <a:latin typeface="Cambria Math" panose="02040503050406030204" pitchFamily="18" charset="0"/>
                            </a:rPr>
                          </m:ctrlPr>
                        </m:fPr>
                        <m:num>
                          <m:r>
                            <a:rPr lang="ar-EG" sz="2000" dirty="0">
                              <a:latin typeface="Cambria Math" panose="02040503050406030204" pitchFamily="18" charset="0"/>
                            </a:rPr>
                            <m:t>1</m:t>
                          </m:r>
                        </m:num>
                        <m:den>
                          <m:r>
                            <a:rPr lang="ar-EG" sz="2000" dirty="0">
                              <a:latin typeface="Cambria Math" panose="02040503050406030204" pitchFamily="18" charset="0"/>
                            </a:rPr>
                            <m:t>2</m:t>
                          </m:r>
                        </m:den>
                      </m:f>
                      <m:r>
                        <a:rPr lang="ar-EG" sz="2000" dirty="0">
                          <a:latin typeface="Cambria Math" panose="02040503050406030204" pitchFamily="18" charset="0"/>
                        </a:rPr>
                        <m:t>×</m:t>
                      </m:r>
                      <m:r>
                        <a:rPr lang="ar-EG" sz="2000" dirty="0">
                          <a:latin typeface="Cambria Math" panose="02040503050406030204" pitchFamily="18" charset="0"/>
                        </a:rPr>
                        <m:t>1</m:t>
                      </m:r>
                      <m:r>
                        <a:rPr lang="ar-EG" sz="2000" dirty="0">
                          <a:latin typeface="Cambria Math" panose="02040503050406030204" pitchFamily="18" charset="0"/>
                        </a:rPr>
                        <m:t>.</m:t>
                      </m:r>
                      <m:r>
                        <a:rPr lang="ar-EG" sz="2000" dirty="0">
                          <a:latin typeface="Cambria Math" panose="02040503050406030204" pitchFamily="18" charset="0"/>
                        </a:rPr>
                        <m:t>225</m:t>
                      </m:r>
                      <m:r>
                        <a:rPr lang="ar-EG" sz="2000" dirty="0">
                          <a:latin typeface="Cambria Math" panose="02040503050406030204" pitchFamily="18" charset="0"/>
                        </a:rPr>
                        <m:t>×</m:t>
                      </m:r>
                      <m:sSup>
                        <m:sSupPr>
                          <m:ctrlPr>
                            <a:rPr lang="ar-EG" sz="2000" i="1" dirty="0">
                              <a:latin typeface="Cambria Math" panose="02040503050406030204" pitchFamily="18" charset="0"/>
                            </a:rPr>
                          </m:ctrlPr>
                        </m:sSupPr>
                        <m:e>
                          <m:r>
                            <a:rPr lang="en-US" sz="2000" b="0" i="0" dirty="0" smtClean="0">
                              <a:latin typeface="Cambria Math" panose="02040503050406030204" pitchFamily="18" charset="0"/>
                            </a:rPr>
                            <m:t>11</m:t>
                          </m:r>
                        </m:e>
                        <m:sup>
                          <m:r>
                            <a:rPr lang="ar-EG" sz="2000" dirty="0">
                              <a:latin typeface="Cambria Math" panose="02040503050406030204" pitchFamily="18" charset="0"/>
                            </a:rPr>
                            <m:t>2</m:t>
                          </m:r>
                        </m:sup>
                      </m:sSup>
                      <m:r>
                        <a:rPr lang="ar-EG" sz="2000" dirty="0">
                          <a:latin typeface="Cambria Math" panose="02040503050406030204" pitchFamily="18" charset="0"/>
                        </a:rPr>
                        <m:t>×</m:t>
                      </m:r>
                      <m:r>
                        <a:rPr lang="ar-EG" sz="2000" dirty="0">
                          <a:latin typeface="Cambria Math" panose="02040503050406030204" pitchFamily="18" charset="0"/>
                        </a:rPr>
                        <m:t>1</m:t>
                      </m:r>
                      <m:r>
                        <a:rPr lang="ar-EG" sz="2000" dirty="0">
                          <a:latin typeface="Cambria Math" panose="02040503050406030204" pitchFamily="18" charset="0"/>
                        </a:rPr>
                        <m:t>.</m:t>
                      </m:r>
                      <m:r>
                        <a:rPr lang="ar-EG" sz="2000" dirty="0">
                          <a:latin typeface="Cambria Math" panose="02040503050406030204" pitchFamily="18" charset="0"/>
                        </a:rPr>
                        <m:t>48</m:t>
                      </m:r>
                      <m:r>
                        <a:rPr lang="ar-EG" sz="2000" dirty="0">
                          <a:latin typeface="Cambria Math" panose="02040503050406030204" pitchFamily="18" charset="0"/>
                        </a:rPr>
                        <m:t>×</m:t>
                      </m:r>
                      <m:r>
                        <a:rPr lang="en-US" sz="2000" b="0" i="0" dirty="0" smtClean="0">
                          <a:latin typeface="Cambria Math" panose="02040503050406030204" pitchFamily="18" charset="0"/>
                        </a:rPr>
                        <m:t>1</m:t>
                      </m:r>
                      <m:r>
                        <a:rPr lang="en-US" sz="2000" b="0" i="0" dirty="0" smtClean="0">
                          <a:latin typeface="Cambria Math" panose="02040503050406030204" pitchFamily="18" charset="0"/>
                        </a:rPr>
                        <m:t>.</m:t>
                      </m:r>
                      <m:r>
                        <a:rPr lang="en-US" sz="2000" b="0" i="0" dirty="0" smtClean="0">
                          <a:latin typeface="Cambria Math" panose="02040503050406030204" pitchFamily="18" charset="0"/>
                        </a:rPr>
                        <m:t>5</m:t>
                      </m:r>
                      <m:r>
                        <a:rPr lang="en-US" sz="2000" b="0" i="0" dirty="0" smtClean="0">
                          <a:latin typeface="Cambria Math" panose="02040503050406030204" pitchFamily="18" charset="0"/>
                        </a:rPr>
                        <m:t>=</m:t>
                      </m:r>
                      <m:r>
                        <a:rPr lang="en-US" sz="2000" b="0" i="0" dirty="0" smtClean="0">
                          <a:latin typeface="Cambria Math" panose="02040503050406030204" pitchFamily="18" charset="0"/>
                        </a:rPr>
                        <m:t>53</m:t>
                      </m:r>
                      <m:r>
                        <a:rPr lang="en-US" sz="2000" b="0" i="0" dirty="0" smtClean="0">
                          <a:latin typeface="Cambria Math" panose="02040503050406030204" pitchFamily="18" charset="0"/>
                        </a:rPr>
                        <m:t>.</m:t>
                      </m:r>
                      <m:r>
                        <a:rPr lang="en-US" sz="2000" b="0" i="0" dirty="0" smtClean="0">
                          <a:latin typeface="Cambria Math" panose="02040503050406030204" pitchFamily="18" charset="0"/>
                        </a:rPr>
                        <m:t>4</m:t>
                      </m:r>
                      <m:r>
                        <a:rPr lang="en-US" sz="2000" b="0" i="0" dirty="0" smtClean="0">
                          <a:latin typeface="Cambria Math" panose="02040503050406030204" pitchFamily="18" charset="0"/>
                        </a:rPr>
                        <m:t> </m:t>
                      </m:r>
                      <m:r>
                        <m:rPr>
                          <m:sty m:val="p"/>
                        </m:rPr>
                        <a:rPr lang="en-US" sz="2000" b="0" i="0" dirty="0" smtClean="0">
                          <a:latin typeface="Cambria Math" panose="02040503050406030204" pitchFamily="18" charset="0"/>
                        </a:rPr>
                        <m:t>N</m:t>
                      </m:r>
                      <m:r>
                        <a:rPr lang="en-US" sz="2000" b="0" i="0" dirty="0" smtClean="0">
                          <a:latin typeface="Cambria Math" panose="02040503050406030204" pitchFamily="18" charset="0"/>
                        </a:rPr>
                        <m:t> (</m:t>
                      </m:r>
                      <m:r>
                        <m:rPr>
                          <m:sty m:val="p"/>
                        </m:rPr>
                        <a:rPr lang="en-US" sz="2000" b="0" i="0" dirty="0" smtClean="0">
                          <a:latin typeface="Cambria Math" panose="02040503050406030204" pitchFamily="18" charset="0"/>
                        </a:rPr>
                        <m:t>for</m:t>
                      </m:r>
                      <m:r>
                        <a:rPr lang="en-US" sz="2000" b="0" i="0" dirty="0" smtClean="0">
                          <a:latin typeface="Cambria Math" panose="02040503050406030204" pitchFamily="18" charset="0"/>
                        </a:rPr>
                        <m:t> </m:t>
                      </m:r>
                      <m:r>
                        <m:rPr>
                          <m:sty m:val="p"/>
                        </m:rPr>
                        <a:rPr lang="en-US" sz="2000" b="0" i="0" dirty="0" smtClean="0">
                          <a:latin typeface="Cambria Math" panose="02040503050406030204" pitchFamily="18" charset="0"/>
                        </a:rPr>
                        <m:t>H</m:t>
                      </m:r>
                      <m:r>
                        <a:rPr lang="en-US" sz="2000" b="0" i="0" dirty="0" smtClean="0">
                          <a:latin typeface="Cambria Math" panose="02040503050406030204" pitchFamily="18" charset="0"/>
                        </a:rPr>
                        <m:t>−</m:t>
                      </m:r>
                      <m:r>
                        <m:rPr>
                          <m:sty m:val="p"/>
                        </m:rPr>
                        <a:rPr lang="en-US" sz="2000" b="0" i="0" dirty="0" smtClean="0">
                          <a:latin typeface="Cambria Math" panose="02040503050406030204" pitchFamily="18" charset="0"/>
                        </a:rPr>
                        <m:t>rotor</m:t>
                      </m:r>
                      <m:r>
                        <a:rPr lang="en-US" sz="2000" b="0" i="0" dirty="0" smtClean="0">
                          <a:latin typeface="Cambria Math" panose="02040503050406030204" pitchFamily="18" charset="0"/>
                        </a:rPr>
                        <m:t> </m:t>
                      </m:r>
                      <m:r>
                        <m:rPr>
                          <m:sty m:val="p"/>
                        </m:rPr>
                        <a:rPr lang="en-US" sz="2000" b="0" i="0" dirty="0" smtClean="0">
                          <a:latin typeface="Cambria Math" panose="02040503050406030204" pitchFamily="18" charset="0"/>
                        </a:rPr>
                        <m:t>turbine</m:t>
                      </m:r>
                      <m:r>
                        <a:rPr lang="en-US" sz="2000" b="0" i="0" dirty="0" smtClean="0">
                          <a:latin typeface="Cambria Math" panose="02040503050406030204" pitchFamily="18" charset="0"/>
                        </a:rPr>
                        <m:t>)</m:t>
                      </m:r>
                    </m:oMath>
                  </m:oMathPara>
                </a14:m>
                <a:endParaRPr lang="en-US" sz="2400" dirty="0"/>
              </a:p>
            </p:txBody>
          </p:sp>
        </mc:Choice>
        <mc:Fallback xmlns="">
          <p:sp>
            <p:nvSpPr>
              <p:cNvPr id="20" name="TextBox 19">
                <a:extLst>
                  <a:ext uri="{FF2B5EF4-FFF2-40B4-BE49-F238E27FC236}">
                    <a16:creationId xmlns:a16="http://schemas.microsoft.com/office/drawing/2014/main" id="{0DE451F0-EBFE-471C-971B-B103B2A61ACA}"/>
                  </a:ext>
                </a:extLst>
              </p:cNvPr>
              <p:cNvSpPr txBox="1">
                <a:spLocks noRot="1" noChangeAspect="1" noMove="1" noResize="1" noEditPoints="1" noAdjustHandles="1" noChangeArrowheads="1" noChangeShapeType="1" noTextEdit="1"/>
              </p:cNvSpPr>
              <p:nvPr/>
            </p:nvSpPr>
            <p:spPr>
              <a:xfrm>
                <a:off x="19500511" y="22208912"/>
                <a:ext cx="8424845" cy="668516"/>
              </a:xfrm>
              <a:prstGeom prst="rect">
                <a:avLst/>
              </a:prstGeom>
              <a:blipFill>
                <a:blip r:embed="rId36"/>
                <a:stretch>
                  <a:fillRect/>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942AABA0-BA28-49A4-8608-A2C21DB79E7A}"/>
              </a:ext>
            </a:extLst>
          </p:cNvPr>
          <p:cNvSpPr txBox="1"/>
          <p:nvPr/>
        </p:nvSpPr>
        <p:spPr>
          <a:xfrm>
            <a:off x="19507200" y="14071600"/>
            <a:ext cx="65" cy="994568"/>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02A2396-FC07-45D4-AF0C-D1D287B626A3}"/>
                  </a:ext>
                </a:extLst>
              </p:cNvPr>
              <p:cNvSpPr txBox="1"/>
              <p:nvPr/>
            </p:nvSpPr>
            <p:spPr>
              <a:xfrm>
                <a:off x="23133891" y="22723068"/>
                <a:ext cx="6153865" cy="9167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900" i="1" smtClean="0">
                              <a:latin typeface="Cambria Math" panose="02040503050406030204" pitchFamily="18" charset="0"/>
                            </a:rPr>
                          </m:ctrlPr>
                        </m:sSubPr>
                        <m:e>
                          <m:r>
                            <a:rPr lang="en-US" sz="1900" i="1">
                              <a:latin typeface="Cambria Math" panose="02040503050406030204" pitchFamily="18" charset="0"/>
                            </a:rPr>
                            <m:t>𝐹</m:t>
                          </m:r>
                        </m:e>
                        <m:sub>
                          <m:r>
                            <a:rPr lang="en-US" sz="1900" i="1">
                              <a:latin typeface="Cambria Math" panose="02040503050406030204" pitchFamily="18" charset="0"/>
                            </a:rPr>
                            <m:t>𝐷</m:t>
                          </m:r>
                        </m:sub>
                      </m:sSub>
                      <m:r>
                        <a:rPr lang="en-US" sz="1900">
                          <a:latin typeface="Cambria Math" panose="02040503050406030204" pitchFamily="18" charset="0"/>
                        </a:rPr>
                        <m:t>=</m:t>
                      </m:r>
                      <m:f>
                        <m:fPr>
                          <m:ctrlPr>
                            <a:rPr lang="en-US" sz="1900" i="1">
                              <a:latin typeface="Cambria Math" panose="02040503050406030204" pitchFamily="18" charset="0"/>
                            </a:rPr>
                          </m:ctrlPr>
                        </m:fPr>
                        <m:num>
                          <m:r>
                            <a:rPr lang="en-US" sz="1900">
                              <a:latin typeface="Cambria Math" panose="02040503050406030204" pitchFamily="18" charset="0"/>
                            </a:rPr>
                            <m:t>1</m:t>
                          </m:r>
                        </m:num>
                        <m:den>
                          <m:r>
                            <a:rPr lang="en-US" sz="1900">
                              <a:latin typeface="Cambria Math" panose="02040503050406030204" pitchFamily="18" charset="0"/>
                            </a:rPr>
                            <m:t>2</m:t>
                          </m:r>
                        </m:den>
                      </m:f>
                      <m:r>
                        <a:rPr lang="en-US" sz="1900">
                          <a:latin typeface="Cambria Math" panose="02040503050406030204" pitchFamily="18" charset="0"/>
                        </a:rPr>
                        <m:t>×</m:t>
                      </m:r>
                      <m:r>
                        <a:rPr lang="en-US" sz="1900">
                          <a:latin typeface="Cambria Math" panose="02040503050406030204" pitchFamily="18" charset="0"/>
                        </a:rPr>
                        <m:t>1</m:t>
                      </m:r>
                      <m:r>
                        <a:rPr lang="en-US" sz="1900">
                          <a:latin typeface="Cambria Math" panose="02040503050406030204" pitchFamily="18" charset="0"/>
                        </a:rPr>
                        <m:t>.</m:t>
                      </m:r>
                      <m:r>
                        <a:rPr lang="en-US" sz="1900">
                          <a:latin typeface="Cambria Math" panose="02040503050406030204" pitchFamily="18" charset="0"/>
                        </a:rPr>
                        <m:t>225</m:t>
                      </m:r>
                      <m:r>
                        <a:rPr lang="en-US" sz="1900">
                          <a:latin typeface="Cambria Math" panose="02040503050406030204" pitchFamily="18" charset="0"/>
                        </a:rPr>
                        <m:t>×</m:t>
                      </m:r>
                      <m:sSup>
                        <m:sSupPr>
                          <m:ctrlPr>
                            <a:rPr lang="en-US" sz="1900" i="1" smtClean="0">
                              <a:latin typeface="Cambria Math" panose="02040503050406030204" pitchFamily="18" charset="0"/>
                            </a:rPr>
                          </m:ctrlPr>
                        </m:sSupPr>
                        <m:e>
                          <m:r>
                            <a:rPr lang="en-US" sz="1900" b="0" i="0" smtClean="0">
                              <a:latin typeface="Cambria Math" panose="02040503050406030204" pitchFamily="18" charset="0"/>
                            </a:rPr>
                            <m:t>11</m:t>
                          </m:r>
                        </m:e>
                        <m:sup>
                          <m:r>
                            <a:rPr lang="en-US" sz="1900">
                              <a:latin typeface="Cambria Math" panose="02040503050406030204" pitchFamily="18" charset="0"/>
                            </a:rPr>
                            <m:t>2</m:t>
                          </m:r>
                        </m:sup>
                      </m:sSup>
                      <m:r>
                        <a:rPr lang="en-US" sz="1900">
                          <a:latin typeface="Cambria Math" panose="02040503050406030204" pitchFamily="18" charset="0"/>
                        </a:rPr>
                        <m:t>×</m:t>
                      </m:r>
                      <m:r>
                        <a:rPr lang="en-US" sz="1900">
                          <a:latin typeface="Cambria Math" panose="02040503050406030204" pitchFamily="18" charset="0"/>
                        </a:rPr>
                        <m:t>1</m:t>
                      </m:r>
                      <m:r>
                        <a:rPr lang="en-US" sz="1900">
                          <a:latin typeface="Cambria Math" panose="02040503050406030204" pitchFamily="18" charset="0"/>
                        </a:rPr>
                        <m:t>.</m:t>
                      </m:r>
                      <m:r>
                        <a:rPr lang="en-US" sz="1900">
                          <a:latin typeface="Cambria Math" panose="02040503050406030204" pitchFamily="18" charset="0"/>
                        </a:rPr>
                        <m:t>48</m:t>
                      </m:r>
                      <m:r>
                        <a:rPr lang="en-US" sz="1900">
                          <a:latin typeface="Cambria Math" panose="02040503050406030204" pitchFamily="18" charset="0"/>
                        </a:rPr>
                        <m:t>×</m:t>
                      </m:r>
                      <m:r>
                        <a:rPr lang="en-US" sz="1900" b="0" i="0" smtClean="0">
                          <a:latin typeface="Cambria Math" panose="02040503050406030204" pitchFamily="18" charset="0"/>
                        </a:rPr>
                        <m:t>3</m:t>
                      </m:r>
                      <m:r>
                        <a:rPr lang="en-US" sz="1900" b="0" i="0" smtClean="0">
                          <a:latin typeface="Cambria Math" panose="02040503050406030204" pitchFamily="18" charset="0"/>
                        </a:rPr>
                        <m:t>=</m:t>
                      </m:r>
                      <m:r>
                        <a:rPr lang="en-US" sz="1900" b="0" i="0" smtClean="0">
                          <a:latin typeface="Cambria Math" panose="02040503050406030204" pitchFamily="18" charset="0"/>
                        </a:rPr>
                        <m:t>487</m:t>
                      </m:r>
                      <m:r>
                        <a:rPr lang="en-US" sz="1900" b="0" i="0" smtClean="0">
                          <a:latin typeface="Cambria Math" panose="02040503050406030204" pitchFamily="18" charset="0"/>
                        </a:rPr>
                        <m:t>.</m:t>
                      </m:r>
                      <m:r>
                        <a:rPr lang="en-US" sz="1900" b="0" i="0" smtClean="0">
                          <a:latin typeface="Cambria Math" panose="02040503050406030204" pitchFamily="18" charset="0"/>
                        </a:rPr>
                        <m:t>01</m:t>
                      </m:r>
                      <m:r>
                        <a:rPr lang="en-US" sz="1900" b="0" i="0" smtClean="0">
                          <a:latin typeface="Cambria Math" panose="02040503050406030204" pitchFamily="18" charset="0"/>
                        </a:rPr>
                        <m:t> </m:t>
                      </m:r>
                      <m:r>
                        <m:rPr>
                          <m:sty m:val="p"/>
                        </m:rPr>
                        <a:rPr lang="en-US" sz="1900" b="0" i="0" smtClean="0">
                          <a:latin typeface="Cambria Math" panose="02040503050406030204" pitchFamily="18" charset="0"/>
                        </a:rPr>
                        <m:t>N</m:t>
                      </m:r>
                      <m:r>
                        <a:rPr lang="en-US" sz="1900" b="0" i="0" smtClean="0">
                          <a:latin typeface="Cambria Math" panose="02040503050406030204" pitchFamily="18" charset="0"/>
                        </a:rPr>
                        <m:t>(</m:t>
                      </m:r>
                      <m:r>
                        <m:rPr>
                          <m:sty m:val="p"/>
                        </m:rPr>
                        <a:rPr lang="en-US" sz="1900" b="0" i="0" smtClean="0">
                          <a:latin typeface="Cambria Math" panose="02040503050406030204" pitchFamily="18" charset="0"/>
                        </a:rPr>
                        <m:t>savonius</m:t>
                      </m:r>
                      <m:r>
                        <a:rPr lang="en-US" sz="1900" b="0" i="0" smtClean="0">
                          <a:latin typeface="Cambria Math" panose="02040503050406030204" pitchFamily="18" charset="0"/>
                        </a:rPr>
                        <m:t>)</m:t>
                      </m:r>
                    </m:oMath>
                  </m:oMathPara>
                </a14:m>
                <a:endParaRPr lang="en-US" sz="1900" dirty="0"/>
              </a:p>
              <a:p>
                <a:endParaRPr lang="en-US" sz="1800" dirty="0"/>
              </a:p>
            </p:txBody>
          </p:sp>
        </mc:Choice>
        <mc:Fallback xmlns="">
          <p:sp>
            <p:nvSpPr>
              <p:cNvPr id="31" name="TextBox 30">
                <a:extLst>
                  <a:ext uri="{FF2B5EF4-FFF2-40B4-BE49-F238E27FC236}">
                    <a16:creationId xmlns:a16="http://schemas.microsoft.com/office/drawing/2014/main" id="{402A2396-FC07-45D4-AF0C-D1D287B626A3}"/>
                  </a:ext>
                </a:extLst>
              </p:cNvPr>
              <p:cNvSpPr txBox="1">
                <a:spLocks noRot="1" noChangeAspect="1" noMove="1" noResize="1" noEditPoints="1" noAdjustHandles="1" noChangeArrowheads="1" noChangeShapeType="1" noTextEdit="1"/>
              </p:cNvSpPr>
              <p:nvPr/>
            </p:nvSpPr>
            <p:spPr>
              <a:xfrm>
                <a:off x="23133891" y="22723068"/>
                <a:ext cx="6153865" cy="916726"/>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52194B9C-3BD3-4D96-A7D6-FD96F034AFED}"/>
                  </a:ext>
                </a:extLst>
              </p:cNvPr>
              <p:cNvSpPr txBox="1"/>
              <p:nvPr/>
            </p:nvSpPr>
            <p:spPr>
              <a:xfrm>
                <a:off x="20214194" y="19224770"/>
                <a:ext cx="7711162" cy="11294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600" i="1" dirty="0">
                              <a:latin typeface="Cambria Math" panose="02040503050406030204" pitchFamily="18" charset="0"/>
                            </a:rPr>
                          </m:ctrlPr>
                        </m:sSubPr>
                        <m:e>
                          <m:r>
                            <a:rPr lang="en-US" sz="3600" i="1" dirty="0">
                              <a:latin typeface="Cambria Math" panose="02040503050406030204" pitchFamily="18" charset="0"/>
                            </a:rPr>
                            <m:t>𝐹</m:t>
                          </m:r>
                        </m:e>
                        <m:sub>
                          <m:r>
                            <a:rPr lang="en-US" sz="3600" i="1" dirty="0">
                              <a:latin typeface="Cambria Math" panose="02040503050406030204" pitchFamily="18" charset="0"/>
                            </a:rPr>
                            <m:t>𝑙</m:t>
                          </m:r>
                          <m:r>
                            <a:rPr lang="en-US" sz="3600" i="1" dirty="0">
                              <a:latin typeface="Cambria Math" panose="02040503050406030204" pitchFamily="18" charset="0"/>
                            </a:rPr>
                            <m:t>/</m:t>
                          </m:r>
                          <m:r>
                            <a:rPr lang="en-US" sz="3600" i="1" dirty="0">
                              <a:latin typeface="Cambria Math" panose="02040503050406030204" pitchFamily="18" charset="0"/>
                            </a:rPr>
                            <m:t>𝐷</m:t>
                          </m:r>
                        </m:sub>
                      </m:sSub>
                      <m:r>
                        <a:rPr lang="en-US" sz="3600" dirty="0">
                          <a:latin typeface="Cambria Math" panose="02040503050406030204" pitchFamily="18" charset="0"/>
                        </a:rPr>
                        <m:t>=</m:t>
                      </m:r>
                      <m:f>
                        <m:fPr>
                          <m:ctrlPr>
                            <a:rPr lang="en-US" sz="3600" i="1" dirty="0">
                              <a:latin typeface="Cambria Math" panose="02040503050406030204" pitchFamily="18" charset="0"/>
                            </a:rPr>
                          </m:ctrlPr>
                        </m:fPr>
                        <m:num>
                          <m:r>
                            <a:rPr lang="en-US" sz="3600" i="1" dirty="0">
                              <a:latin typeface="Cambria Math" panose="02040503050406030204" pitchFamily="18" charset="0"/>
                            </a:rPr>
                            <m:t>1</m:t>
                          </m:r>
                        </m:num>
                        <m:den>
                          <m:r>
                            <a:rPr lang="en-US" sz="3600" i="1" dirty="0">
                              <a:latin typeface="Cambria Math" panose="02040503050406030204" pitchFamily="18" charset="0"/>
                            </a:rPr>
                            <m:t>2</m:t>
                          </m:r>
                        </m:den>
                      </m:f>
                      <m:r>
                        <a:rPr lang="en-US" sz="3600" i="1" dirty="0">
                          <a:latin typeface="Cambria Math" panose="02040503050406030204" pitchFamily="18" charset="0"/>
                        </a:rPr>
                        <m:t>𝜌</m:t>
                      </m:r>
                      <m:r>
                        <a:rPr lang="en-US" sz="3600" dirty="0">
                          <a:latin typeface="Cambria Math" panose="02040503050406030204" pitchFamily="18" charset="0"/>
                        </a:rPr>
                        <m:t>×</m:t>
                      </m:r>
                      <m:sSup>
                        <m:sSupPr>
                          <m:ctrlPr>
                            <a:rPr lang="en-US" sz="3600" i="1" dirty="0">
                              <a:latin typeface="Cambria Math" panose="02040503050406030204" pitchFamily="18" charset="0"/>
                            </a:rPr>
                          </m:ctrlPr>
                        </m:sSupPr>
                        <m:e>
                          <m:r>
                            <a:rPr lang="en-US" sz="3600" i="1" dirty="0">
                              <a:latin typeface="Cambria Math" panose="02040503050406030204" pitchFamily="18" charset="0"/>
                            </a:rPr>
                            <m:t>𝑣</m:t>
                          </m:r>
                        </m:e>
                        <m:sup>
                          <m:r>
                            <a:rPr lang="en-US" sz="3600" i="1" dirty="0">
                              <a:latin typeface="Cambria Math" panose="02040503050406030204" pitchFamily="18" charset="0"/>
                            </a:rPr>
                            <m:t>2</m:t>
                          </m:r>
                        </m:sup>
                      </m:sSup>
                      <m:r>
                        <a:rPr lang="en-US" sz="3600" dirty="0">
                          <a:latin typeface="Cambria Math" panose="02040503050406030204" pitchFamily="18" charset="0"/>
                        </a:rPr>
                        <m:t>×</m:t>
                      </m:r>
                      <m:r>
                        <a:rPr lang="en-US" sz="3600" i="1" dirty="0">
                          <a:latin typeface="Cambria Math" panose="02040503050406030204" pitchFamily="18" charset="0"/>
                        </a:rPr>
                        <m:t>𝐴</m:t>
                      </m:r>
                      <m:r>
                        <a:rPr lang="en-US" sz="3600" dirty="0">
                          <a:latin typeface="Cambria Math" panose="02040503050406030204" pitchFamily="18" charset="0"/>
                        </a:rPr>
                        <m:t>×</m:t>
                      </m:r>
                      <m:sSub>
                        <m:sSubPr>
                          <m:ctrlPr>
                            <a:rPr lang="en-US" sz="3600" i="1" dirty="0">
                              <a:latin typeface="Cambria Math" panose="02040503050406030204" pitchFamily="18" charset="0"/>
                            </a:rPr>
                          </m:ctrlPr>
                        </m:sSubPr>
                        <m:e>
                          <m:r>
                            <a:rPr lang="en-US" sz="3600" i="1" dirty="0">
                              <a:latin typeface="Cambria Math" panose="02040503050406030204" pitchFamily="18" charset="0"/>
                            </a:rPr>
                            <m:t>𝐶</m:t>
                          </m:r>
                        </m:e>
                        <m:sub>
                          <m:r>
                            <a:rPr lang="en-US" sz="3600" i="1" dirty="0">
                              <a:latin typeface="Cambria Math" panose="02040503050406030204" pitchFamily="18" charset="0"/>
                            </a:rPr>
                            <m:t>𝑙</m:t>
                          </m:r>
                        </m:sub>
                      </m:sSub>
                      <m:r>
                        <a:rPr lang="en-US" sz="3600" i="1" dirty="0">
                          <a:latin typeface="Cambria Math" panose="02040503050406030204" pitchFamily="18" charset="0"/>
                        </a:rPr>
                        <m:t>/</m:t>
                      </m:r>
                      <m:r>
                        <a:rPr lang="en-US" sz="3600" i="1" dirty="0">
                          <a:latin typeface="Cambria Math" panose="02040503050406030204" pitchFamily="18" charset="0"/>
                        </a:rPr>
                        <m:t>𝐷</m:t>
                      </m:r>
                    </m:oMath>
                  </m:oMathPara>
                </a14:m>
                <a:endParaRPr lang="en-US" sz="6000" dirty="0">
                  <a:latin typeface="Times New Roman" panose="02020603050405020304" pitchFamily="18" charset="0"/>
                </a:endParaRPr>
              </a:p>
            </p:txBody>
          </p:sp>
        </mc:Choice>
        <mc:Fallback xmlns="">
          <p:sp>
            <p:nvSpPr>
              <p:cNvPr id="88" name="TextBox 87">
                <a:extLst>
                  <a:ext uri="{FF2B5EF4-FFF2-40B4-BE49-F238E27FC236}">
                    <a16:creationId xmlns:a16="http://schemas.microsoft.com/office/drawing/2014/main" id="{52194B9C-3BD3-4D96-A7D6-FD96F034AFED}"/>
                  </a:ext>
                </a:extLst>
              </p:cNvPr>
              <p:cNvSpPr txBox="1">
                <a:spLocks noRot="1" noChangeAspect="1" noMove="1" noResize="1" noEditPoints="1" noAdjustHandles="1" noChangeArrowheads="1" noChangeShapeType="1" noTextEdit="1"/>
              </p:cNvSpPr>
              <p:nvPr/>
            </p:nvSpPr>
            <p:spPr>
              <a:xfrm>
                <a:off x="20214194" y="19224770"/>
                <a:ext cx="7711162" cy="1129476"/>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2A6AAD24-47C3-477A-BA67-B8B2B6E2306A}"/>
                  </a:ext>
                </a:extLst>
              </p:cNvPr>
              <p:cNvSpPr txBox="1"/>
              <p:nvPr/>
            </p:nvSpPr>
            <p:spPr>
              <a:xfrm>
                <a:off x="20721223" y="17142368"/>
                <a:ext cx="8422079" cy="874663"/>
              </a:xfrm>
              <a:prstGeom prst="rect">
                <a:avLst/>
              </a:prstGeom>
              <a:noFill/>
            </p:spPr>
            <p:txBody>
              <a:bodyPr wrap="square" rtlCol="0">
                <a:spAutoFit/>
              </a:bodyPr>
              <a:lstStyle/>
              <a:p>
                <a14:m>
                  <m:oMath xmlns:m="http://schemas.openxmlformats.org/officeDocument/2006/math">
                    <m:r>
                      <a:rPr lang="ar-EG" sz="3600" i="1" dirty="0" smtClean="0">
                        <a:latin typeface="Cambria Math" panose="02040503050406030204" pitchFamily="18" charset="0"/>
                      </a:rPr>
                      <m:t>𝑘𝐸</m:t>
                    </m:r>
                    <m:r>
                      <a:rPr lang="ar-EG" sz="3600" i="1" dirty="0" smtClean="0">
                        <a:latin typeface="Cambria Math" panose="02040503050406030204" pitchFamily="18" charset="0"/>
                      </a:rPr>
                      <m:t>=</m:t>
                    </m:r>
                    <m:f>
                      <m:fPr>
                        <m:ctrlPr>
                          <a:rPr lang="ar-EG" sz="3600" i="1" dirty="0">
                            <a:latin typeface="Cambria Math" panose="02040503050406030204" pitchFamily="18" charset="0"/>
                          </a:rPr>
                        </m:ctrlPr>
                      </m:fPr>
                      <m:num>
                        <m:r>
                          <a:rPr lang="ar-EG" sz="3600" i="1" dirty="0">
                            <a:latin typeface="Cambria Math" panose="02040503050406030204" pitchFamily="18" charset="0"/>
                          </a:rPr>
                          <m:t>1</m:t>
                        </m:r>
                      </m:num>
                      <m:den>
                        <m:r>
                          <a:rPr lang="ar-EG" sz="3600" i="1" dirty="0">
                            <a:latin typeface="Cambria Math" panose="02040503050406030204" pitchFamily="18" charset="0"/>
                          </a:rPr>
                          <m:t>2</m:t>
                        </m:r>
                      </m:den>
                    </m:f>
                    <m:r>
                      <a:rPr lang="ar-EG" sz="3600" i="1" dirty="0">
                        <a:latin typeface="Cambria Math" panose="02040503050406030204" pitchFamily="18" charset="0"/>
                      </a:rPr>
                      <m:t>𝑚</m:t>
                    </m:r>
                    <m:sSup>
                      <m:sSupPr>
                        <m:ctrlPr>
                          <a:rPr lang="ar-EG" sz="3600" i="1" dirty="0">
                            <a:latin typeface="Cambria Math" panose="02040503050406030204" pitchFamily="18" charset="0"/>
                          </a:rPr>
                        </m:ctrlPr>
                      </m:sSupPr>
                      <m:e>
                        <m:r>
                          <a:rPr lang="ar-EG" sz="3600" i="1" dirty="0">
                            <a:latin typeface="Cambria Math" panose="02040503050406030204" pitchFamily="18" charset="0"/>
                          </a:rPr>
                          <m:t>𝑣</m:t>
                        </m:r>
                      </m:e>
                      <m:sup>
                        <m:r>
                          <a:rPr lang="ar-EG" sz="3600" i="1" dirty="0">
                            <a:latin typeface="Cambria Math" panose="02040503050406030204" pitchFamily="18" charset="0"/>
                          </a:rPr>
                          <m:t>2</m:t>
                        </m:r>
                      </m:sup>
                    </m:sSup>
                    <m:r>
                      <a:rPr lang="en-US" sz="3600" b="0" i="1" dirty="0" smtClean="0">
                        <a:latin typeface="Cambria Math" panose="02040503050406030204" pitchFamily="18" charset="0"/>
                      </a:rPr>
                      <m:t>= </m:t>
                    </m:r>
                    <m:f>
                      <m:fPr>
                        <m:ctrlPr>
                          <a:rPr lang="en-US" altLang="en-US" sz="3200" i="1" dirty="0" smtClean="0">
                            <a:latin typeface="Cambria Math" panose="02040503050406030204" pitchFamily="18" charset="0"/>
                          </a:rPr>
                        </m:ctrlPr>
                      </m:fPr>
                      <m:num>
                        <m:r>
                          <a:rPr lang="en-US" altLang="en-US" sz="3200" dirty="0" smtClean="0">
                            <a:latin typeface="Cambria Math" panose="02040503050406030204" pitchFamily="18" charset="0"/>
                          </a:rPr>
                          <m:t>1</m:t>
                        </m:r>
                      </m:num>
                      <m:den>
                        <m:r>
                          <a:rPr lang="en-US" altLang="en-US" sz="3200" i="0" dirty="0" smtClean="0">
                            <a:latin typeface="Cambria Math" panose="02040503050406030204" pitchFamily="18" charset="0"/>
                          </a:rPr>
                          <m:t>2</m:t>
                        </m:r>
                      </m:den>
                    </m:f>
                    <m:r>
                      <a:rPr lang="en-US" altLang="en-US" sz="3200" i="0" dirty="0" smtClean="0">
                        <a:latin typeface="Cambria Math" panose="02040503050406030204" pitchFamily="18" charset="0"/>
                      </a:rPr>
                      <m:t>×</m:t>
                    </m:r>
                    <m:r>
                      <a:rPr lang="en-US" altLang="en-US" sz="3200" i="0" dirty="0" smtClean="0">
                        <a:latin typeface="Cambria Math" panose="02040503050406030204" pitchFamily="18" charset="0"/>
                      </a:rPr>
                      <m:t>1</m:t>
                    </m:r>
                    <m:r>
                      <a:rPr lang="en-US" altLang="en-US" sz="3200" i="0" dirty="0" smtClean="0">
                        <a:latin typeface="Cambria Math" panose="02040503050406030204" pitchFamily="18" charset="0"/>
                      </a:rPr>
                      <m:t>.</m:t>
                    </m:r>
                    <m:r>
                      <a:rPr lang="en-US" altLang="en-US" sz="3200" i="0" dirty="0" smtClean="0">
                        <a:latin typeface="Cambria Math" panose="02040503050406030204" pitchFamily="18" charset="0"/>
                      </a:rPr>
                      <m:t>81</m:t>
                    </m:r>
                    <m:r>
                      <a:rPr lang="en-US" altLang="en-US" sz="3200" i="0" dirty="0" smtClean="0">
                        <a:latin typeface="Cambria Math" panose="02040503050406030204" pitchFamily="18" charset="0"/>
                      </a:rPr>
                      <m:t>×</m:t>
                    </m:r>
                    <m:sSup>
                      <m:sSupPr>
                        <m:ctrlPr>
                          <a:rPr lang="en-US" altLang="en-US" sz="3200" i="1" dirty="0" smtClean="0">
                            <a:latin typeface="Cambria Math" panose="02040503050406030204" pitchFamily="18" charset="0"/>
                          </a:rPr>
                        </m:ctrlPr>
                      </m:sSupPr>
                      <m:e>
                        <m:r>
                          <a:rPr lang="en-US" altLang="en-US" sz="3200" b="0" i="0" dirty="0" smtClean="0">
                            <a:latin typeface="Cambria Math" panose="02040503050406030204" pitchFamily="18" charset="0"/>
                          </a:rPr>
                          <m:t>11</m:t>
                        </m:r>
                      </m:e>
                      <m:sup>
                        <m:r>
                          <a:rPr lang="en-US" altLang="en-US" sz="3200" i="0" dirty="0" smtClean="0">
                            <a:latin typeface="Cambria Math" panose="02040503050406030204" pitchFamily="18" charset="0"/>
                          </a:rPr>
                          <m:t>2</m:t>
                        </m:r>
                      </m:sup>
                    </m:sSup>
                  </m:oMath>
                </a14:m>
                <a:r>
                  <a:rPr lang="en-US" altLang="en-US" sz="2800" dirty="0">
                    <a:latin typeface="Times New Roman" panose="02020603050405020304" pitchFamily="18" charset="0"/>
                  </a:rPr>
                  <a:t>=109.5 joules</a:t>
                </a:r>
              </a:p>
            </p:txBody>
          </p:sp>
        </mc:Choice>
        <mc:Fallback xmlns="">
          <p:sp>
            <p:nvSpPr>
              <p:cNvPr id="94" name="TextBox 93">
                <a:extLst>
                  <a:ext uri="{FF2B5EF4-FFF2-40B4-BE49-F238E27FC236}">
                    <a16:creationId xmlns:a16="http://schemas.microsoft.com/office/drawing/2014/main" id="{2A6AAD24-47C3-477A-BA67-B8B2B6E2306A}"/>
                  </a:ext>
                </a:extLst>
              </p:cNvPr>
              <p:cNvSpPr txBox="1">
                <a:spLocks noRot="1" noChangeAspect="1" noMove="1" noResize="1" noEditPoints="1" noAdjustHandles="1" noChangeArrowheads="1" noChangeShapeType="1" noTextEdit="1"/>
              </p:cNvSpPr>
              <p:nvPr/>
            </p:nvSpPr>
            <p:spPr>
              <a:xfrm>
                <a:off x="20721223" y="17142368"/>
                <a:ext cx="8422079" cy="874663"/>
              </a:xfrm>
              <a:prstGeom prst="rect">
                <a:avLst/>
              </a:prstGeom>
              <a:blipFill>
                <a:blip r:embed="rId39"/>
                <a:stretch>
                  <a:fillRect b="-13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394C2BF-AD4E-401E-A7CD-9BF9F0B768D6}"/>
                  </a:ext>
                </a:extLst>
              </p:cNvPr>
              <p:cNvSpPr txBox="1"/>
              <p:nvPr/>
            </p:nvSpPr>
            <p:spPr>
              <a:xfrm flipH="1">
                <a:off x="17886793" y="14465534"/>
                <a:ext cx="5329537" cy="103137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dirty="0">
                          <a:latin typeface="Cambria Math" panose="02040503050406030204" pitchFamily="18" charset="0"/>
                        </a:rPr>
                        <m:t> </m:t>
                      </m:r>
                      <m:r>
                        <a:rPr lang="en-US" sz="2800" i="1" dirty="0">
                          <a:latin typeface="Cambria Math" panose="02040503050406030204" pitchFamily="18" charset="0"/>
                        </a:rPr>
                        <m:t>𝜂</m:t>
                      </m:r>
                      <m:f>
                        <m:fPr>
                          <m:ctrlPr>
                            <a:rPr lang="en-US" sz="2800" i="1" dirty="0">
                              <a:latin typeface="Cambria Math" panose="02040503050406030204" pitchFamily="18" charset="0"/>
                            </a:rPr>
                          </m:ctrlPr>
                        </m:fPr>
                        <m:num>
                          <m:sSub>
                            <m:sSubPr>
                              <m:ctrlPr>
                                <a:rPr lang="en-US" sz="2800" i="1" dirty="0">
                                  <a:latin typeface="Cambria Math" panose="02040503050406030204" pitchFamily="18" charset="0"/>
                                </a:rPr>
                              </m:ctrlPr>
                            </m:sSubPr>
                            <m:e>
                              <m:r>
                                <a:rPr lang="en-US" sz="2800" i="1" dirty="0">
                                  <a:latin typeface="Cambria Math" panose="02040503050406030204" pitchFamily="18" charset="0"/>
                                </a:rPr>
                                <m:t>𝑃</m:t>
                              </m:r>
                            </m:e>
                            <m:sub>
                              <m:r>
                                <a:rPr lang="en-US" sz="2800" i="1" dirty="0">
                                  <a:latin typeface="Cambria Math" panose="02040503050406030204" pitchFamily="18" charset="0"/>
                                </a:rPr>
                                <m:t>𝑂𝑢𝑡𝑝𝑢𝑡</m:t>
                              </m:r>
                            </m:sub>
                          </m:sSub>
                        </m:num>
                        <m:den>
                          <m:sSub>
                            <m:sSubPr>
                              <m:ctrlPr>
                                <a:rPr lang="en-US" sz="2800" i="1" dirty="0">
                                  <a:latin typeface="Cambria Math" panose="02040503050406030204" pitchFamily="18" charset="0"/>
                                </a:rPr>
                              </m:ctrlPr>
                            </m:sSubPr>
                            <m:e>
                              <m:r>
                                <a:rPr lang="en-US" sz="2800" i="1" dirty="0">
                                  <a:latin typeface="Cambria Math" panose="02040503050406030204" pitchFamily="18" charset="0"/>
                                </a:rPr>
                                <m:t>𝑃</m:t>
                              </m:r>
                            </m:e>
                            <m:sub>
                              <m:r>
                                <a:rPr lang="en-US" sz="2800" i="1" dirty="0">
                                  <a:latin typeface="Cambria Math" panose="02040503050406030204" pitchFamily="18" charset="0"/>
                                </a:rPr>
                                <m:t>𝑓𝑙𝑢𝑖𝑑</m:t>
                              </m:r>
                            </m:sub>
                          </m:sSub>
                        </m:den>
                      </m:f>
                      <m:r>
                        <a:rPr lang="en-US" sz="2800" i="1" dirty="0">
                          <a:latin typeface="Cambria Math" panose="02040503050406030204" pitchFamily="18" charset="0"/>
                        </a:rPr>
                        <m:t>=</m:t>
                      </m:r>
                    </m:oMath>
                  </m:oMathPara>
                </a14:m>
                <a:endParaRPr lang="en-US" sz="2800" dirty="0"/>
              </a:p>
            </p:txBody>
          </p:sp>
        </mc:Choice>
        <mc:Fallback xmlns="">
          <p:sp>
            <p:nvSpPr>
              <p:cNvPr id="19" name="TextBox 18">
                <a:extLst>
                  <a:ext uri="{FF2B5EF4-FFF2-40B4-BE49-F238E27FC236}">
                    <a16:creationId xmlns:a16="http://schemas.microsoft.com/office/drawing/2014/main" id="{3394C2BF-AD4E-401E-A7CD-9BF9F0B768D6}"/>
                  </a:ext>
                </a:extLst>
              </p:cNvPr>
              <p:cNvSpPr txBox="1">
                <a:spLocks noRot="1" noChangeAspect="1" noMove="1" noResize="1" noEditPoints="1" noAdjustHandles="1" noChangeArrowheads="1" noChangeShapeType="1" noTextEdit="1"/>
              </p:cNvSpPr>
              <p:nvPr/>
            </p:nvSpPr>
            <p:spPr>
              <a:xfrm flipH="1">
                <a:off x="17886793" y="14465534"/>
                <a:ext cx="5329537" cy="1031373"/>
              </a:xfrm>
              <a:prstGeom prst="rect">
                <a:avLst/>
              </a:prstGeom>
              <a:blipFill>
                <a:blip r:embed="rId4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740489EA-8930-4E0B-B9E9-DC00FC4E736C}"/>
                  </a:ext>
                </a:extLst>
              </p:cNvPr>
              <p:cNvSpPr txBox="1"/>
              <p:nvPr/>
            </p:nvSpPr>
            <p:spPr>
              <a:xfrm>
                <a:off x="20111009" y="14468106"/>
                <a:ext cx="6321316" cy="9017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800" i="1" dirty="0" smtClean="0">
                              <a:latin typeface="Cambria Math" panose="02040503050406030204" pitchFamily="18" charset="0"/>
                            </a:rPr>
                          </m:ctrlPr>
                        </m:fPr>
                        <m:num>
                          <m:r>
                            <a:rPr lang="en-US" sz="2800" b="0" i="0" dirty="0" smtClean="0">
                              <a:latin typeface="Cambria Math" panose="02040503050406030204" pitchFamily="18" charset="0"/>
                            </a:rPr>
                            <m:t>0</m:t>
                          </m:r>
                          <m:r>
                            <a:rPr lang="en-US" sz="2800" b="0" i="0" dirty="0" smtClean="0">
                              <a:latin typeface="Cambria Math" panose="02040503050406030204" pitchFamily="18" charset="0"/>
                            </a:rPr>
                            <m:t>.</m:t>
                          </m:r>
                          <m:r>
                            <a:rPr lang="en-US" sz="2800" b="0" i="0" dirty="0" smtClean="0">
                              <a:latin typeface="Cambria Math" panose="02040503050406030204" pitchFamily="18" charset="0"/>
                            </a:rPr>
                            <m:t>194</m:t>
                          </m:r>
                        </m:num>
                        <m:den>
                          <m:r>
                            <a:rPr lang="en-US" sz="2800" b="0" i="1" dirty="0" smtClean="0">
                              <a:latin typeface="Cambria Math" panose="02040503050406030204" pitchFamily="18" charset="0"/>
                            </a:rPr>
                            <m:t>0</m:t>
                          </m:r>
                          <m:r>
                            <a:rPr lang="en-US" sz="2800" b="0" i="1" dirty="0" smtClean="0">
                              <a:latin typeface="Cambria Math" panose="02040503050406030204" pitchFamily="18" charset="0"/>
                            </a:rPr>
                            <m:t>.</m:t>
                          </m:r>
                          <m:r>
                            <a:rPr lang="en-US" sz="2800" b="0" i="1" dirty="0" smtClean="0">
                              <a:latin typeface="Cambria Math" panose="02040503050406030204" pitchFamily="18" charset="0"/>
                            </a:rPr>
                            <m:t>462</m:t>
                          </m:r>
                        </m:den>
                      </m:f>
                      <m:r>
                        <a:rPr lang="en-US" sz="2800" b="0" i="1" dirty="0" smtClean="0">
                          <a:latin typeface="Cambria Math" panose="02040503050406030204" pitchFamily="18" charset="0"/>
                        </a:rPr>
                        <m:t>∗</m:t>
                      </m:r>
                      <m:r>
                        <a:rPr lang="en-US" sz="2800" b="0" i="1" dirty="0" smtClean="0">
                          <a:latin typeface="Cambria Math" panose="02040503050406030204" pitchFamily="18" charset="0"/>
                        </a:rPr>
                        <m:t>100</m:t>
                      </m:r>
                      <m:r>
                        <a:rPr lang="en-US" sz="2800" i="1" dirty="0">
                          <a:latin typeface="Cambria Math" panose="02040503050406030204" pitchFamily="18" charset="0"/>
                        </a:rPr>
                        <m:t>=</m:t>
                      </m:r>
                      <m:r>
                        <a:rPr lang="en-US" sz="2800" b="0" i="1" dirty="0" smtClean="0">
                          <a:latin typeface="Cambria Math" panose="02040503050406030204" pitchFamily="18" charset="0"/>
                        </a:rPr>
                        <m:t>41</m:t>
                      </m:r>
                      <m:r>
                        <a:rPr lang="en-US" sz="2800" b="0" i="1" dirty="0" smtClean="0">
                          <a:latin typeface="Cambria Math" panose="02040503050406030204" pitchFamily="18" charset="0"/>
                        </a:rPr>
                        <m:t>.</m:t>
                      </m:r>
                      <m:r>
                        <a:rPr lang="en-US" sz="2800" b="0" i="1" dirty="0" smtClean="0">
                          <a:latin typeface="Cambria Math" panose="02040503050406030204" pitchFamily="18" charset="0"/>
                        </a:rPr>
                        <m:t>99</m:t>
                      </m:r>
                      <m:r>
                        <a:rPr lang="en-US" sz="2800" i="1" dirty="0">
                          <a:latin typeface="Cambria Math" panose="02040503050406030204" pitchFamily="18" charset="0"/>
                        </a:rPr>
                        <m:t>%</m:t>
                      </m:r>
                    </m:oMath>
                  </m:oMathPara>
                </a14:m>
                <a:endParaRPr lang="en-US" sz="2800" dirty="0"/>
              </a:p>
            </p:txBody>
          </p:sp>
        </mc:Choice>
        <mc:Fallback xmlns="">
          <p:sp>
            <p:nvSpPr>
              <p:cNvPr id="81" name="TextBox 80">
                <a:extLst>
                  <a:ext uri="{FF2B5EF4-FFF2-40B4-BE49-F238E27FC236}">
                    <a16:creationId xmlns:a16="http://schemas.microsoft.com/office/drawing/2014/main" id="{740489EA-8930-4E0B-B9E9-DC00FC4E736C}"/>
                  </a:ext>
                </a:extLst>
              </p:cNvPr>
              <p:cNvSpPr txBox="1">
                <a:spLocks noRot="1" noChangeAspect="1" noMove="1" noResize="1" noEditPoints="1" noAdjustHandles="1" noChangeArrowheads="1" noChangeShapeType="1" noTextEdit="1"/>
              </p:cNvSpPr>
              <p:nvPr/>
            </p:nvSpPr>
            <p:spPr>
              <a:xfrm>
                <a:off x="20111009" y="14468106"/>
                <a:ext cx="6321316" cy="901785"/>
              </a:xfrm>
              <a:prstGeom prst="rect">
                <a:avLst/>
              </a:prstGeom>
              <a:blipFill>
                <a:blip r:embed="rId41"/>
                <a:stretch>
                  <a:fillRect/>
                </a:stretch>
              </a:blipFill>
            </p:spPr>
            <p:txBody>
              <a:bodyPr/>
              <a:lstStyle/>
              <a:p>
                <a:r>
                  <a:rPr lang="en-US">
                    <a:noFill/>
                  </a:rPr>
                  <a:t> </a:t>
                </a:r>
              </a:p>
            </p:txBody>
          </p:sp>
        </mc:Fallback>
      </mc:AlternateContent>
      <p:pic>
        <p:nvPicPr>
          <p:cNvPr id="93" name="Picture 92">
            <a:extLst>
              <a:ext uri="{FF2B5EF4-FFF2-40B4-BE49-F238E27FC236}">
                <a16:creationId xmlns:a16="http://schemas.microsoft.com/office/drawing/2014/main" id="{69AF7E13-A877-452C-A66D-0D78C3A1C646}"/>
              </a:ext>
            </a:extLst>
          </p:cNvPr>
          <p:cNvPicPr>
            <a:picLocks noChangeAspect="1"/>
          </p:cNvPicPr>
          <p:nvPr/>
        </p:nvPicPr>
        <p:blipFill>
          <a:blip r:embed="rId42">
            <a:extLst>
              <a:ext uri="{28A0092B-C50C-407E-A947-70E740481C1C}">
                <a14:useLocalDpi xmlns:a14="http://schemas.microsoft.com/office/drawing/2010/main" val="0"/>
              </a:ext>
            </a:extLst>
          </a:blip>
          <a:stretch>
            <a:fillRect/>
          </a:stretch>
        </p:blipFill>
        <p:spPr>
          <a:xfrm>
            <a:off x="30273704" y="4893771"/>
            <a:ext cx="840769" cy="840769"/>
          </a:xfrm>
          <a:prstGeom prst="rect">
            <a:avLst/>
          </a:prstGeom>
        </p:spPr>
      </p:pic>
      <p:sp>
        <p:nvSpPr>
          <p:cNvPr id="9" name="TextBox 8">
            <a:extLst>
              <a:ext uri="{FF2B5EF4-FFF2-40B4-BE49-F238E27FC236}">
                <a16:creationId xmlns:a16="http://schemas.microsoft.com/office/drawing/2014/main" id="{532CA5DA-BDDD-4286-ABBA-0EC81BE32593}"/>
              </a:ext>
            </a:extLst>
          </p:cNvPr>
          <p:cNvSpPr txBox="1"/>
          <p:nvPr/>
        </p:nvSpPr>
        <p:spPr>
          <a:xfrm>
            <a:off x="10522858" y="18522482"/>
            <a:ext cx="7596588" cy="338554"/>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Energy (Joules) = Electric current Intensity (Ampere) * Potential Difference (Volts) </a:t>
            </a:r>
          </a:p>
        </p:txBody>
      </p:sp>
    </p:spTree>
    <p:extLst>
      <p:ext uri="{BB962C8B-B14F-4D97-AF65-F5344CB8AC3E}">
        <p14:creationId xmlns:p14="http://schemas.microsoft.com/office/powerpoint/2010/main" val="3464369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F6E8C"/>
        </a:solidFill>
      </a:spPr>
      <a:bodyPr rtlCol="0" anchor="ctr"/>
      <a:lstStyle>
        <a:defPPr algn="ctr">
          <a:defRPr sz="20993" dirty="0"/>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2249</TotalTime>
  <Words>4128</Words>
  <Application>Microsoft Office PowerPoint</Application>
  <PresentationFormat>Custom</PresentationFormat>
  <Paragraphs>249</Paragraphs>
  <Slides>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[times new</vt:lpstr>
      <vt:lpstr>ADLaM Display</vt:lpstr>
      <vt:lpstr>Aptos</vt:lpstr>
      <vt:lpstr>Aptos Display</vt:lpstr>
      <vt:lpstr>Arial</vt:lpstr>
      <vt:lpstr>Cambria Math</vt:lpstr>
      <vt:lpstr>Times New Roman</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Ahmed Hassan Mahmoud Mohamed</dc:creator>
  <cp:lastModifiedBy>Emad</cp:lastModifiedBy>
  <cp:revision>94</cp:revision>
  <dcterms:created xsi:type="dcterms:W3CDTF">2025-04-17T14:44:29Z</dcterms:created>
  <dcterms:modified xsi:type="dcterms:W3CDTF">2025-04-26T23:01:50Z</dcterms:modified>
</cp:coreProperties>
</file>